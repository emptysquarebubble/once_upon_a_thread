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8" r:id="rId6"/>
    <p:sldId id="261" r:id="rId7"/>
    <p:sldId id="262" r:id="rId8"/>
    <p:sldId id="263" r:id="rId9"/>
    <p:sldId id="265" r:id="rId10"/>
    <p:sldId id="264" r:id="rId11"/>
    <p:sldId id="266" r:id="rId12"/>
    <p:sldId id="269" r:id="rId13"/>
    <p:sldId id="267" r:id="rId14"/>
    <p:sldId id="271" r:id="rId15"/>
    <p:sldId id="272" r:id="rId16"/>
    <p:sldId id="275" r:id="rId17"/>
    <p:sldId id="273" r:id="rId18"/>
    <p:sldId id="274" r:id="rId19"/>
    <p:sldId id="276" r:id="rId20"/>
    <p:sldId id="328" r:id="rId21"/>
    <p:sldId id="278" r:id="rId22"/>
    <p:sldId id="279" r:id="rId23"/>
    <p:sldId id="281" r:id="rId24"/>
    <p:sldId id="282" r:id="rId25"/>
    <p:sldId id="329" r:id="rId26"/>
    <p:sldId id="284" r:id="rId27"/>
    <p:sldId id="285" r:id="rId28"/>
    <p:sldId id="286" r:id="rId29"/>
    <p:sldId id="287" r:id="rId30"/>
    <p:sldId id="291" r:id="rId31"/>
    <p:sldId id="330" r:id="rId32"/>
    <p:sldId id="289" r:id="rId33"/>
    <p:sldId id="290" r:id="rId34"/>
    <p:sldId id="336" r:id="rId35"/>
    <p:sldId id="331" r:id="rId36"/>
    <p:sldId id="293" r:id="rId37"/>
    <p:sldId id="294" r:id="rId38"/>
    <p:sldId id="295" r:id="rId39"/>
    <p:sldId id="296" r:id="rId40"/>
    <p:sldId id="297" r:id="rId41"/>
    <p:sldId id="298" r:id="rId42"/>
    <p:sldId id="332" r:id="rId43"/>
    <p:sldId id="300" r:id="rId44"/>
    <p:sldId id="301" r:id="rId45"/>
    <p:sldId id="302" r:id="rId46"/>
    <p:sldId id="333" r:id="rId47"/>
    <p:sldId id="304" r:id="rId48"/>
    <p:sldId id="305" r:id="rId49"/>
    <p:sldId id="307" r:id="rId50"/>
    <p:sldId id="308" r:id="rId51"/>
    <p:sldId id="334" r:id="rId52"/>
    <p:sldId id="324" r:id="rId53"/>
    <p:sldId id="310" r:id="rId54"/>
    <p:sldId id="311" r:id="rId55"/>
    <p:sldId id="312" r:id="rId56"/>
    <p:sldId id="313" r:id="rId57"/>
    <p:sldId id="314" r:id="rId58"/>
    <p:sldId id="317" r:id="rId59"/>
    <p:sldId id="315" r:id="rId60"/>
    <p:sldId id="337" r:id="rId61"/>
    <p:sldId id="335" r:id="rId62"/>
    <p:sldId id="325" r:id="rId63"/>
    <p:sldId id="323" r:id="rId64"/>
    <p:sldId id="326" r:id="rId65"/>
    <p:sldId id="327" r:id="rId6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4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CF031-1E37-6975-DF96-8290ABB5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D904BF-9AE1-1EDC-1C4E-03570855F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D9A7-AC63-A229-FE98-0C6105F8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AB935-877E-5427-34F6-09134D1E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5D053-2367-A2B1-F306-1EA7E11F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02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0035B-1FC6-32F5-7384-4E2C399F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1CCB6-F533-31AC-3F10-FE0E20771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46A9-7695-3874-3091-F16E6046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41DBE-0C18-4974-5233-10519EA6D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A693A-0292-A588-D615-FCEF49D1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43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99A1-E78E-DCF4-C7B7-8ABE14415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39CF3-9919-68ED-623B-0FE22E575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CE1FC-0797-13B2-EFD9-B3AE0DA6E9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46932-BE65-3AAD-4F36-CE2CD710F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72AFE-6072-B1A5-76E3-68980EFD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4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1665-4F2C-A6C5-3CBD-F046A1D25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6DF0-94D0-2E35-3521-9E7C3621C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F8D90-950B-6A99-F90C-2B2C9959F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87C4F-C558-6A70-C887-F9494F08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14610-EE91-C0C8-1AEE-BF025B96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B29C6-BB3C-0C3C-08AA-02B96B8C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4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293B-970C-2445-8E82-9E6E19461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920B6-BAD9-C7AD-B2F1-F1CBD7C99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9AC24E-F691-CBC5-E276-24DC32504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8031E0-392E-5F4A-DB15-0DEDDCC2C9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C42D9-BFE4-28E9-73D1-52EF003D67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39060B-AC1B-04EC-D024-E1205889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1F40C2-FB40-9014-1080-5ECA66FE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F73BAA-E66F-8C09-E025-315E6637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470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402A0-94F7-F6BE-B9CD-6DE06DD03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2B1CC-2D10-1B35-CD66-2AA3A3142B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0BEF2-26BF-2E3C-28AF-74245EB4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D3DE8-BE8C-C32A-CC86-82D6C00C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2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941B0-0533-968A-63BE-79C65477B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887D3-C67A-D3F6-8EFC-493E5633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0D4F9-7ADF-6466-0B85-F920F69CB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80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45A0D-69E0-1CD7-9FFE-65AF6BB03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52A15-08C5-1F4A-D7D3-043DDD363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141B4-A9F1-659F-8B43-FEB5C4C47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DAFDA-168F-D90C-594C-5BAA0BFF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D7C33-FA79-377B-DBF8-86627EC6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447A7-F1F0-40B9-38A8-10DB41D6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620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2314-8204-641F-D956-1AC3EA60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C9B13-F58E-D4EE-863B-97052BD60F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1F48F7-6DBC-8AD8-2E30-E7E1A8AA6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C93DE-57BD-DE2E-D7E8-A53B2D8EE6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9D369-8B8F-9A06-1751-DBB2C580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B33E5-DBEA-B6A9-84C4-35E438BE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3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6FB07-3C2B-072C-94BC-1D82F402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02BBA-0F98-A1B4-3370-D7DF26268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FF96B-5FAE-ABC2-E41F-CD1659E5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1585-EBB9-7128-BC56-F970DBB5E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8DB62-99EF-FD63-293C-A82F73FE4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891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1FF74-8068-9827-3B65-C483B2530B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EE4560-7BEA-52A7-CA67-6708EEFAD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EC18A-BBFD-CE68-248B-42B09E0CBD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A61A7-E419-4887-AD5B-A24FA6A14029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7F31B-5E84-8D2C-B83A-4F1D5128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5B373-5C33-43BB-EC51-F14DDCE3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EC2011-CA03-8E91-723C-33D626C6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BDEDE-7E32-04C3-6E4C-8577620A5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ECB29-7D34-D21A-D866-5154C2C38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DCE5B-A751-3B17-9F17-5618EE0C8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D619E7-4118-4CE2-9D02-1AAE6DCE22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D7CFAF-CE0B-9E46-31F4-7AFC060D2DD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534150"/>
            <a:ext cx="121920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59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svg"/><Relationship Id="rId5" Type="http://schemas.openxmlformats.org/officeDocument/2006/relationships/image" Target="../media/image34.png"/><Relationship Id="rId4" Type="http://schemas.openxmlformats.org/officeDocument/2006/relationships/image" Target="../media/image32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svg"/><Relationship Id="rId5" Type="http://schemas.openxmlformats.org/officeDocument/2006/relationships/image" Target="../media/image33.svg"/><Relationship Id="rId4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svg"/><Relationship Id="rId5" Type="http://schemas.openxmlformats.org/officeDocument/2006/relationships/image" Target="../media/image30.svg"/><Relationship Id="rId4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55F95-922B-A0E1-0BB0-E1E9E97452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Once Upon a Thread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5F06B-8C22-B11F-3BE1-3D9906824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>
                <a:solidFill>
                  <a:srgbClr val="6A6A6A"/>
                </a:solidFill>
                <a:latin typeface="SourceSans3ExtraLight"/>
                <a:ea typeface="SourceSans3"/>
              </a:rPr>
              <a:t>A guided tour through the concurrency monster ZOO</a:t>
            </a:r>
            <a:endParaRPr lang="en-US" i="1" dirty="0">
              <a:solidFill>
                <a:srgbClr val="000000"/>
              </a:solidFill>
              <a:latin typeface="SourceSans3ExtraLight"/>
            </a:endParaRPr>
          </a:p>
          <a:p>
            <a:endParaRPr lang="en-US" b="1" dirty="0">
              <a:solidFill>
                <a:srgbClr val="1A1A1A"/>
              </a:solidFill>
              <a:latin typeface="SourceSans3ExtraLight"/>
              <a:ea typeface="SourceSans3ExtraLight"/>
            </a:endParaRPr>
          </a:p>
          <a:p>
            <a:endParaRPr lang="en-US" b="1" dirty="0">
              <a:solidFill>
                <a:srgbClr val="1A1A1A"/>
              </a:solidFill>
              <a:latin typeface="SourceSans3ExtraLight"/>
              <a:ea typeface="SourceSans3ExtraLight"/>
            </a:endParaRPr>
          </a:p>
          <a:p>
            <a:r>
              <a:rPr lang="en-US" b="1" dirty="0">
                <a:solidFill>
                  <a:srgbClr val="1A1A1A"/>
                </a:solidFill>
                <a:latin typeface="SourceSans3ExtraLight"/>
                <a:ea typeface="SourceSans3ExtraLight"/>
              </a:rPr>
              <a:t>Jana Machutová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9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57C63-9797-72E3-1E82-DD1DE3D70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2B104-2535-85BD-FF75-BAA2AA9D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Once upon a time…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B628C-758E-E8F5-A89C-65E953A4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SourceSans3"/>
                <a:ea typeface="SourceSans3"/>
              </a:rPr>
              <a:t>…a developer spawned a thread.</a:t>
            </a:r>
            <a:endParaRPr lang="en-US" sz="220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open_the_zoo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	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entrance([] {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admit_visitors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 });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	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exit_gate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([] {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dismiss_visitors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 });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</a:endParaRP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	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make_all_creatures_happy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}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400" b="1" u="none" strike="noStrike" dirty="0">
                <a:solidFill>
                  <a:srgbClr val="1A1A1A"/>
                </a:solidFill>
                <a:effectLst/>
                <a:uFillTx/>
                <a:latin typeface="SourceSans3ExtraLight"/>
                <a:ea typeface="SourceSans3ExtraLight"/>
              </a:rPr>
              <a:t>And everything seemed fine.</a:t>
            </a:r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59D1663-F24B-01D5-5841-0CD79C228B84}"/>
              </a:ext>
            </a:extLst>
          </p:cNvPr>
          <p:cNvSpPr/>
          <p:nvPr/>
        </p:nvSpPr>
        <p:spPr>
          <a:xfrm>
            <a:off x="7208831" y="2975072"/>
            <a:ext cx="3312572" cy="1218393"/>
          </a:xfrm>
          <a:custGeom>
            <a:avLst/>
            <a:gdLst/>
            <a:ahLst/>
            <a:cxnLst/>
            <a:rect l="0" t="0" r="r" b="b"/>
            <a:pathLst>
              <a:path w="7568" h="1191">
                <a:moveTo>
                  <a:pt x="0" y="100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4" y="45"/>
                  <a:pt x="73" y="38"/>
                  <a:pt x="83" y="31"/>
                </a:cubicBezTo>
                <a:cubicBezTo>
                  <a:pt x="94" y="24"/>
                  <a:pt x="104" y="19"/>
                  <a:pt x="115" y="14"/>
                </a:cubicBezTo>
                <a:cubicBezTo>
                  <a:pt x="127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383" y="0"/>
                </a:lnTo>
                <a:cubicBezTo>
                  <a:pt x="7395" y="0"/>
                  <a:pt x="7407" y="1"/>
                  <a:pt x="7419" y="3"/>
                </a:cubicBezTo>
                <a:cubicBezTo>
                  <a:pt x="7431" y="6"/>
                  <a:pt x="7443" y="9"/>
                  <a:pt x="7454" y="14"/>
                </a:cubicBezTo>
                <a:cubicBezTo>
                  <a:pt x="7465" y="19"/>
                  <a:pt x="7476" y="24"/>
                  <a:pt x="7486" y="31"/>
                </a:cubicBezTo>
                <a:cubicBezTo>
                  <a:pt x="7496" y="38"/>
                  <a:pt x="7505" y="45"/>
                  <a:pt x="7514" y="54"/>
                </a:cubicBezTo>
                <a:cubicBezTo>
                  <a:pt x="7523" y="63"/>
                  <a:pt x="7530" y="72"/>
                  <a:pt x="7537" y="82"/>
                </a:cubicBezTo>
                <a:cubicBezTo>
                  <a:pt x="7544" y="92"/>
                  <a:pt x="7549" y="103"/>
                  <a:pt x="7554" y="114"/>
                </a:cubicBezTo>
                <a:cubicBezTo>
                  <a:pt x="7559" y="125"/>
                  <a:pt x="7562" y="137"/>
                  <a:pt x="7565" y="149"/>
                </a:cubicBezTo>
                <a:cubicBezTo>
                  <a:pt x="7567" y="161"/>
                  <a:pt x="7568" y="173"/>
                  <a:pt x="7568" y="185"/>
                </a:cubicBezTo>
                <a:lnTo>
                  <a:pt x="7568" y="1006"/>
                </a:lnTo>
                <a:cubicBezTo>
                  <a:pt x="7568" y="1018"/>
                  <a:pt x="7567" y="1030"/>
                  <a:pt x="7565" y="1042"/>
                </a:cubicBezTo>
                <a:cubicBezTo>
                  <a:pt x="7562" y="1054"/>
                  <a:pt x="7559" y="1066"/>
                  <a:pt x="7554" y="1077"/>
                </a:cubicBezTo>
                <a:cubicBezTo>
                  <a:pt x="7549" y="1088"/>
                  <a:pt x="7544" y="1099"/>
                  <a:pt x="7537" y="1109"/>
                </a:cubicBezTo>
                <a:cubicBezTo>
                  <a:pt x="7530" y="1119"/>
                  <a:pt x="7523" y="1129"/>
                  <a:pt x="7514" y="1137"/>
                </a:cubicBezTo>
                <a:cubicBezTo>
                  <a:pt x="7505" y="1146"/>
                  <a:pt x="7496" y="1153"/>
                  <a:pt x="7486" y="1160"/>
                </a:cubicBezTo>
                <a:cubicBezTo>
                  <a:pt x="7476" y="1167"/>
                  <a:pt x="7465" y="1173"/>
                  <a:pt x="7454" y="1177"/>
                </a:cubicBezTo>
                <a:cubicBezTo>
                  <a:pt x="7443" y="1182"/>
                  <a:pt x="7431" y="1185"/>
                  <a:pt x="7419" y="1188"/>
                </a:cubicBezTo>
                <a:cubicBezTo>
                  <a:pt x="7407" y="1190"/>
                  <a:pt x="7395" y="1191"/>
                  <a:pt x="7383" y="1191"/>
                </a:cubicBezTo>
                <a:lnTo>
                  <a:pt x="186" y="1191"/>
                </a:lnTo>
                <a:cubicBezTo>
                  <a:pt x="174" y="1191"/>
                  <a:pt x="162" y="1190"/>
                  <a:pt x="150" y="1188"/>
                </a:cubicBezTo>
                <a:cubicBezTo>
                  <a:pt x="138" y="1185"/>
                  <a:pt x="127" y="1182"/>
                  <a:pt x="115" y="1177"/>
                </a:cubicBezTo>
                <a:cubicBezTo>
                  <a:pt x="104" y="1173"/>
                  <a:pt x="94" y="1167"/>
                  <a:pt x="83" y="1160"/>
                </a:cubicBezTo>
                <a:cubicBezTo>
                  <a:pt x="73" y="1153"/>
                  <a:pt x="64" y="1146"/>
                  <a:pt x="55" y="1137"/>
                </a:cubicBezTo>
                <a:cubicBezTo>
                  <a:pt x="46" y="1129"/>
                  <a:pt x="38" y="1119"/>
                  <a:pt x="31" y="1109"/>
                </a:cubicBezTo>
                <a:cubicBezTo>
                  <a:pt x="25" y="1099"/>
                  <a:pt x="19" y="1088"/>
                  <a:pt x="14" y="1077"/>
                </a:cubicBezTo>
                <a:cubicBezTo>
                  <a:pt x="10" y="1066"/>
                  <a:pt x="6" y="1054"/>
                  <a:pt x="4" y="1042"/>
                </a:cubicBezTo>
                <a:cubicBezTo>
                  <a:pt x="1" y="1030"/>
                  <a:pt x="0" y="1018"/>
                  <a:pt x="0" y="1006"/>
                </a:cubicBezTo>
                <a:close/>
              </a:path>
            </a:pathLst>
          </a:custGeom>
          <a:noFill/>
          <a:ln w="19050">
            <a:solidFill>
              <a:schemeClr val="accent6">
                <a:lumMod val="75000"/>
              </a:schemeClr>
            </a:solidFill>
            <a:miter/>
            <a:extLst>
              <a:ext uri="{C807C97D-BFC1-408E-A445-0C87EB9F89A2}">
                <ask:lineSketchStyleProps xmlns:ask="http://schemas.microsoft.com/office/drawing/2018/sketchyshapes" sd="3356984581">
                  <a:custGeom>
                    <a:avLst/>
                    <a:gdLst>
                      <a:gd name="csX0" fmla="*/ 0 w 2724480"/>
                      <a:gd name="csY0" fmla="*/ 362173 h 428760"/>
                      <a:gd name="csX1" fmla="*/ 0 w 2724480"/>
                      <a:gd name="csY1" fmla="*/ 66586 h 428760"/>
                      <a:gd name="csX2" fmla="*/ 1362 w 2724480"/>
                      <a:gd name="csY2" fmla="*/ 53637 h 428760"/>
                      <a:gd name="csX3" fmla="*/ 4904 w 2724480"/>
                      <a:gd name="csY3" fmla="*/ 41032 h 428760"/>
                      <a:gd name="csX4" fmla="*/ 11170 w 2724480"/>
                      <a:gd name="csY4" fmla="*/ 29498 h 428760"/>
                      <a:gd name="csX5" fmla="*/ 19888 w 2724480"/>
                      <a:gd name="csY5" fmla="*/ 19422 h 428760"/>
                      <a:gd name="csX6" fmla="*/ 29969 w 2724480"/>
                      <a:gd name="csY6" fmla="*/ 11147 h 428760"/>
                      <a:gd name="csX7" fmla="*/ 41412 w 2724480"/>
                      <a:gd name="csY7" fmla="*/ 5059 h 428760"/>
                      <a:gd name="csX8" fmla="*/ 53944 w 2724480"/>
                      <a:gd name="csY8" fmla="*/ 1071 h 428760"/>
                      <a:gd name="csX9" fmla="*/ 67022 w 2724480"/>
                      <a:gd name="csY9" fmla="*/ 0 h 428760"/>
                      <a:gd name="csX10" fmla="*/ 688857 w 2724480"/>
                      <a:gd name="csY10" fmla="*/ 0 h 428760"/>
                      <a:gd name="csX11" fmla="*/ 1284783 w 2724480"/>
                      <a:gd name="csY11" fmla="*/ 0 h 428760"/>
                      <a:gd name="csX12" fmla="*/ 1984347 w 2724480"/>
                      <a:gd name="csY12" fmla="*/ 0 h 428760"/>
                      <a:gd name="csX13" fmla="*/ 2658002 w 2724480"/>
                      <a:gd name="csY13" fmla="*/ 0 h 428760"/>
                      <a:gd name="csX14" fmla="*/ 2670807 w 2724480"/>
                      <a:gd name="csY14" fmla="*/ 1071 h 428760"/>
                      <a:gd name="csX15" fmla="*/ 2683340 w 2724480"/>
                      <a:gd name="csY15" fmla="*/ 5059 h 428760"/>
                      <a:gd name="csX16" fmla="*/ 2695055 w 2724480"/>
                      <a:gd name="csY16" fmla="*/ 11147 h 428760"/>
                      <a:gd name="csX17" fmla="*/ 2705136 w 2724480"/>
                      <a:gd name="csY17" fmla="*/ 19422 h 428760"/>
                      <a:gd name="csX18" fmla="*/ 2713309 w 2724480"/>
                      <a:gd name="csY18" fmla="*/ 29498 h 428760"/>
                      <a:gd name="csX19" fmla="*/ 2719575 w 2724480"/>
                      <a:gd name="csY19" fmla="*/ 41032 h 428760"/>
                      <a:gd name="csX20" fmla="*/ 2723390 w 2724480"/>
                      <a:gd name="csY20" fmla="*/ 53637 h 428760"/>
                      <a:gd name="csX21" fmla="*/ 2724480 w 2724480"/>
                      <a:gd name="csY21" fmla="*/ 66586 h 428760"/>
                      <a:gd name="csX22" fmla="*/ 2724480 w 2724480"/>
                      <a:gd name="csY22" fmla="*/ 362173 h 428760"/>
                      <a:gd name="csX23" fmla="*/ 2723390 w 2724480"/>
                      <a:gd name="csY23" fmla="*/ 375122 h 428760"/>
                      <a:gd name="csX24" fmla="*/ 2719575 w 2724480"/>
                      <a:gd name="csY24" fmla="*/ 387727 h 428760"/>
                      <a:gd name="csX25" fmla="*/ 2713309 w 2724480"/>
                      <a:gd name="csY25" fmla="*/ 399261 h 428760"/>
                      <a:gd name="csX26" fmla="*/ 2705136 w 2724480"/>
                      <a:gd name="csY26" fmla="*/ 409337 h 428760"/>
                      <a:gd name="csX27" fmla="*/ 2695055 w 2724480"/>
                      <a:gd name="csY27" fmla="*/ 417612 h 428760"/>
                      <a:gd name="csX28" fmla="*/ 2683340 w 2724480"/>
                      <a:gd name="csY28" fmla="*/ 423700 h 428760"/>
                      <a:gd name="csX29" fmla="*/ 2670807 w 2724480"/>
                      <a:gd name="csY29" fmla="*/ 427688 h 428760"/>
                      <a:gd name="csX30" fmla="*/ 2658002 w 2724480"/>
                      <a:gd name="csY30" fmla="*/ 428760 h 428760"/>
                      <a:gd name="csX31" fmla="*/ 2087986 w 2724480"/>
                      <a:gd name="csY31" fmla="*/ 428760 h 428760"/>
                      <a:gd name="csX32" fmla="*/ 1388422 w 2724480"/>
                      <a:gd name="csY32" fmla="*/ 428760 h 428760"/>
                      <a:gd name="csX33" fmla="*/ 766587 w 2724480"/>
                      <a:gd name="csY33" fmla="*/ 428760 h 428760"/>
                      <a:gd name="csX34" fmla="*/ 67022 w 2724480"/>
                      <a:gd name="csY34" fmla="*/ 428760 h 428760"/>
                      <a:gd name="csX35" fmla="*/ 53944 w 2724480"/>
                      <a:gd name="csY35" fmla="*/ 427688 h 428760"/>
                      <a:gd name="csX36" fmla="*/ 41412 w 2724480"/>
                      <a:gd name="csY36" fmla="*/ 423700 h 428760"/>
                      <a:gd name="csX37" fmla="*/ 29969 w 2724480"/>
                      <a:gd name="csY37" fmla="*/ 417612 h 428760"/>
                      <a:gd name="csX38" fmla="*/ 19888 w 2724480"/>
                      <a:gd name="csY38" fmla="*/ 409337 h 428760"/>
                      <a:gd name="csX39" fmla="*/ 11170 w 2724480"/>
                      <a:gd name="csY39" fmla="*/ 399261 h 428760"/>
                      <a:gd name="csX40" fmla="*/ 4904 w 2724480"/>
                      <a:gd name="csY40" fmla="*/ 387727 h 428760"/>
                      <a:gd name="csX41" fmla="*/ 1362 w 2724480"/>
                      <a:gd name="csY41" fmla="*/ 375122 h 428760"/>
                      <a:gd name="csX42" fmla="*/ 0 w 2724480"/>
                      <a:gd name="csY42" fmla="*/ 362173 h 4287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</a:cxnLst>
                    <a:rect l="l" t="t" r="r" b="b"/>
                    <a:pathLst>
                      <a:path w="2724480" h="428760" extrusionOk="0">
                        <a:moveTo>
                          <a:pt x="0" y="362173"/>
                        </a:moveTo>
                        <a:cubicBezTo>
                          <a:pt x="-6921" y="299755"/>
                          <a:pt x="13124" y="134475"/>
                          <a:pt x="0" y="66586"/>
                        </a:cubicBezTo>
                        <a:cubicBezTo>
                          <a:pt x="335" y="61645"/>
                          <a:pt x="532" y="58635"/>
                          <a:pt x="1362" y="53637"/>
                        </a:cubicBezTo>
                        <a:cubicBezTo>
                          <a:pt x="3181" y="49461"/>
                          <a:pt x="3342" y="44248"/>
                          <a:pt x="4904" y="41032"/>
                        </a:cubicBezTo>
                        <a:cubicBezTo>
                          <a:pt x="7115" y="37725"/>
                          <a:pt x="9327" y="33976"/>
                          <a:pt x="11170" y="29498"/>
                        </a:cubicBezTo>
                        <a:cubicBezTo>
                          <a:pt x="14250" y="25217"/>
                          <a:pt x="16265" y="22532"/>
                          <a:pt x="19888" y="19422"/>
                        </a:cubicBezTo>
                        <a:cubicBezTo>
                          <a:pt x="23190" y="15888"/>
                          <a:pt x="26415" y="13897"/>
                          <a:pt x="29969" y="11147"/>
                        </a:cubicBezTo>
                        <a:cubicBezTo>
                          <a:pt x="34535" y="8916"/>
                          <a:pt x="36954" y="6548"/>
                          <a:pt x="41412" y="5059"/>
                        </a:cubicBezTo>
                        <a:cubicBezTo>
                          <a:pt x="45844" y="3374"/>
                          <a:pt x="49185" y="1989"/>
                          <a:pt x="53944" y="1071"/>
                        </a:cubicBezTo>
                        <a:cubicBezTo>
                          <a:pt x="58319" y="672"/>
                          <a:pt x="62990" y="-1000"/>
                          <a:pt x="67022" y="0"/>
                        </a:cubicBezTo>
                        <a:cubicBezTo>
                          <a:pt x="290554" y="29510"/>
                          <a:pt x="503466" y="8545"/>
                          <a:pt x="688857" y="0"/>
                        </a:cubicBezTo>
                        <a:cubicBezTo>
                          <a:pt x="874248" y="-8545"/>
                          <a:pt x="991535" y="-29680"/>
                          <a:pt x="1284783" y="0"/>
                        </a:cubicBezTo>
                        <a:cubicBezTo>
                          <a:pt x="1578031" y="29680"/>
                          <a:pt x="1693430" y="-10147"/>
                          <a:pt x="1984347" y="0"/>
                        </a:cubicBezTo>
                        <a:cubicBezTo>
                          <a:pt x="2275264" y="10147"/>
                          <a:pt x="2428454" y="31273"/>
                          <a:pt x="2658002" y="0"/>
                        </a:cubicBezTo>
                        <a:cubicBezTo>
                          <a:pt x="2661795" y="239"/>
                          <a:pt x="2666447" y="-49"/>
                          <a:pt x="2670807" y="1071"/>
                        </a:cubicBezTo>
                        <a:cubicBezTo>
                          <a:pt x="2674973" y="1193"/>
                          <a:pt x="2680010" y="3710"/>
                          <a:pt x="2683340" y="5059"/>
                        </a:cubicBezTo>
                        <a:cubicBezTo>
                          <a:pt x="2687436" y="6633"/>
                          <a:pt x="2692156" y="8188"/>
                          <a:pt x="2695055" y="11147"/>
                        </a:cubicBezTo>
                        <a:cubicBezTo>
                          <a:pt x="2697953" y="14256"/>
                          <a:pt x="2701850" y="15454"/>
                          <a:pt x="2705136" y="19422"/>
                        </a:cubicBezTo>
                        <a:cubicBezTo>
                          <a:pt x="2708624" y="21757"/>
                          <a:pt x="2711007" y="26380"/>
                          <a:pt x="2713309" y="29498"/>
                        </a:cubicBezTo>
                        <a:cubicBezTo>
                          <a:pt x="2714960" y="33676"/>
                          <a:pt x="2717861" y="36421"/>
                          <a:pt x="2719575" y="41032"/>
                        </a:cubicBezTo>
                        <a:cubicBezTo>
                          <a:pt x="2720595" y="44947"/>
                          <a:pt x="2722863" y="48895"/>
                          <a:pt x="2723390" y="53637"/>
                        </a:cubicBezTo>
                        <a:cubicBezTo>
                          <a:pt x="2724950" y="58649"/>
                          <a:pt x="2724455" y="61864"/>
                          <a:pt x="2724480" y="66586"/>
                        </a:cubicBezTo>
                        <a:cubicBezTo>
                          <a:pt x="2720204" y="200879"/>
                          <a:pt x="2718596" y="218199"/>
                          <a:pt x="2724480" y="362173"/>
                        </a:cubicBezTo>
                        <a:cubicBezTo>
                          <a:pt x="2724439" y="366607"/>
                          <a:pt x="2725231" y="370900"/>
                          <a:pt x="2723390" y="375122"/>
                        </a:cubicBezTo>
                        <a:cubicBezTo>
                          <a:pt x="2721905" y="380132"/>
                          <a:pt x="2721231" y="384045"/>
                          <a:pt x="2719575" y="387727"/>
                        </a:cubicBezTo>
                        <a:cubicBezTo>
                          <a:pt x="2717727" y="391410"/>
                          <a:pt x="2715451" y="395584"/>
                          <a:pt x="2713309" y="399261"/>
                        </a:cubicBezTo>
                        <a:cubicBezTo>
                          <a:pt x="2711492" y="403139"/>
                          <a:pt x="2707634" y="406836"/>
                          <a:pt x="2705136" y="409337"/>
                        </a:cubicBezTo>
                        <a:cubicBezTo>
                          <a:pt x="2702374" y="412632"/>
                          <a:pt x="2698372" y="414116"/>
                          <a:pt x="2695055" y="417612"/>
                        </a:cubicBezTo>
                        <a:cubicBezTo>
                          <a:pt x="2690886" y="420615"/>
                          <a:pt x="2686971" y="423169"/>
                          <a:pt x="2683340" y="423700"/>
                        </a:cubicBezTo>
                        <a:cubicBezTo>
                          <a:pt x="2680044" y="425173"/>
                          <a:pt x="2675390" y="426568"/>
                          <a:pt x="2670807" y="427688"/>
                        </a:cubicBezTo>
                        <a:cubicBezTo>
                          <a:pt x="2665603" y="427969"/>
                          <a:pt x="2661796" y="428108"/>
                          <a:pt x="2658002" y="428760"/>
                        </a:cubicBezTo>
                        <a:cubicBezTo>
                          <a:pt x="2465615" y="401551"/>
                          <a:pt x="2355295" y="451241"/>
                          <a:pt x="2087986" y="428760"/>
                        </a:cubicBezTo>
                        <a:cubicBezTo>
                          <a:pt x="1820677" y="406279"/>
                          <a:pt x="1529660" y="450402"/>
                          <a:pt x="1388422" y="428760"/>
                        </a:cubicBezTo>
                        <a:cubicBezTo>
                          <a:pt x="1247184" y="407118"/>
                          <a:pt x="923477" y="455597"/>
                          <a:pt x="766587" y="428760"/>
                        </a:cubicBezTo>
                        <a:cubicBezTo>
                          <a:pt x="609697" y="401923"/>
                          <a:pt x="410877" y="420110"/>
                          <a:pt x="67022" y="428760"/>
                        </a:cubicBezTo>
                        <a:cubicBezTo>
                          <a:pt x="62355" y="428420"/>
                          <a:pt x="59005" y="427965"/>
                          <a:pt x="53944" y="427688"/>
                        </a:cubicBezTo>
                        <a:cubicBezTo>
                          <a:pt x="49782" y="425696"/>
                          <a:pt x="46050" y="425610"/>
                          <a:pt x="41412" y="423700"/>
                        </a:cubicBezTo>
                        <a:cubicBezTo>
                          <a:pt x="37519" y="422138"/>
                          <a:pt x="33575" y="420736"/>
                          <a:pt x="29969" y="417612"/>
                        </a:cubicBezTo>
                        <a:cubicBezTo>
                          <a:pt x="26740" y="414910"/>
                          <a:pt x="22882" y="412528"/>
                          <a:pt x="19888" y="409337"/>
                        </a:cubicBezTo>
                        <a:cubicBezTo>
                          <a:pt x="16712" y="406345"/>
                          <a:pt x="14172" y="402127"/>
                          <a:pt x="11170" y="399261"/>
                        </a:cubicBezTo>
                        <a:cubicBezTo>
                          <a:pt x="9344" y="395354"/>
                          <a:pt x="7383" y="391473"/>
                          <a:pt x="4904" y="387727"/>
                        </a:cubicBezTo>
                        <a:cubicBezTo>
                          <a:pt x="4167" y="384230"/>
                          <a:pt x="2793" y="379969"/>
                          <a:pt x="1362" y="375122"/>
                        </a:cubicBezTo>
                        <a:cubicBezTo>
                          <a:pt x="-404" y="370226"/>
                          <a:pt x="-156" y="366382"/>
                          <a:pt x="0" y="36217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chemeClr val="accent1">
                  <a:lumMod val="75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521F0-A5F2-8061-8601-E5BE134E15C5}"/>
              </a:ext>
            </a:extLst>
          </p:cNvPr>
          <p:cNvSpPr txBox="1"/>
          <p:nvPr/>
        </p:nvSpPr>
        <p:spPr>
          <a:xfrm>
            <a:off x="7777951" y="3132725"/>
            <a:ext cx="2756974" cy="67710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22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SourceCodePro"/>
                <a:ea typeface="SourceCodePro"/>
              </a:rPr>
              <a:t>entered:    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SourceCodePro"/>
                <a:ea typeface="SourceCodePro"/>
              </a:rPr>
              <a:t>2</a:t>
            </a:r>
            <a:r>
              <a:rPr lang="en-US" sz="22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SourceCodePro"/>
                <a:ea typeface="SourceCodePro"/>
              </a:rPr>
              <a:t>0 000</a:t>
            </a:r>
          </a:p>
          <a:p>
            <a:r>
              <a:rPr lang="en-US" sz="22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SourceCodePro"/>
                <a:ea typeface="SourceCodePro"/>
              </a:rPr>
              <a:t>left:             </a:t>
            </a:r>
            <a:r>
              <a:rPr lang="en-US" sz="2200" dirty="0">
                <a:solidFill>
                  <a:schemeClr val="accent6">
                    <a:lumMod val="75000"/>
                  </a:schemeClr>
                </a:solidFill>
                <a:latin typeface="SourceCodePro"/>
                <a:ea typeface="SourceCodePro"/>
              </a:rPr>
              <a:t>2</a:t>
            </a:r>
            <a:r>
              <a:rPr lang="en-US" sz="2200" b="0" u="none" strike="noStrike" dirty="0"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SourceCodePro"/>
                <a:ea typeface="SourceCodePro"/>
              </a:rPr>
              <a:t>0 000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0AEFB6-7F38-B4DC-37DE-115478E6F45A}"/>
              </a:ext>
            </a:extLst>
          </p:cNvPr>
          <p:cNvGrpSpPr/>
          <p:nvPr/>
        </p:nvGrpSpPr>
        <p:grpSpPr>
          <a:xfrm>
            <a:off x="764489" y="2088136"/>
            <a:ext cx="3312572" cy="1218393"/>
            <a:chOff x="1333655" y="1148960"/>
            <a:chExt cx="3312572" cy="1218393"/>
          </a:xfrm>
          <a:solidFill>
            <a:srgbClr val="FFFFFF">
              <a:alpha val="30196"/>
            </a:srgbClr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1B980BF-13DD-E161-74E8-62B7FF18274B}"/>
                </a:ext>
              </a:extLst>
            </p:cNvPr>
            <p:cNvSpPr/>
            <p:nvPr/>
          </p:nvSpPr>
          <p:spPr>
            <a:xfrm rot="1528226">
              <a:off x="1333655" y="1148960"/>
              <a:ext cx="3312572" cy="1218393"/>
            </a:xfrm>
            <a:custGeom>
              <a:avLst/>
              <a:gdLst/>
              <a:ahLst/>
              <a:cxnLst/>
              <a:rect l="0" t="0" r="r" b="b"/>
              <a:pathLst>
                <a:path w="7568" h="1191">
                  <a:moveTo>
                    <a:pt x="0" y="1006"/>
                  </a:moveTo>
                  <a:lnTo>
                    <a:pt x="0" y="185"/>
                  </a:lnTo>
                  <a:cubicBezTo>
                    <a:pt x="0" y="173"/>
                    <a:pt x="1" y="161"/>
                    <a:pt x="4" y="149"/>
                  </a:cubicBezTo>
                  <a:cubicBezTo>
                    <a:pt x="6" y="137"/>
                    <a:pt x="10" y="125"/>
                    <a:pt x="14" y="114"/>
                  </a:cubicBezTo>
                  <a:cubicBezTo>
                    <a:pt x="19" y="103"/>
                    <a:pt x="25" y="92"/>
                    <a:pt x="31" y="82"/>
                  </a:cubicBezTo>
                  <a:cubicBezTo>
                    <a:pt x="38" y="72"/>
                    <a:pt x="46" y="63"/>
                    <a:pt x="55" y="54"/>
                  </a:cubicBezTo>
                  <a:cubicBezTo>
                    <a:pt x="64" y="45"/>
                    <a:pt x="73" y="38"/>
                    <a:pt x="83" y="31"/>
                  </a:cubicBezTo>
                  <a:cubicBezTo>
                    <a:pt x="94" y="24"/>
                    <a:pt x="104" y="19"/>
                    <a:pt x="115" y="14"/>
                  </a:cubicBezTo>
                  <a:cubicBezTo>
                    <a:pt x="127" y="9"/>
                    <a:pt x="138" y="6"/>
                    <a:pt x="150" y="3"/>
                  </a:cubicBezTo>
                  <a:cubicBezTo>
                    <a:pt x="162" y="1"/>
                    <a:pt x="174" y="0"/>
                    <a:pt x="186" y="0"/>
                  </a:cubicBezTo>
                  <a:lnTo>
                    <a:pt x="7383" y="0"/>
                  </a:lnTo>
                  <a:cubicBezTo>
                    <a:pt x="7395" y="0"/>
                    <a:pt x="7407" y="1"/>
                    <a:pt x="7419" y="3"/>
                  </a:cubicBezTo>
                  <a:cubicBezTo>
                    <a:pt x="7431" y="6"/>
                    <a:pt x="7443" y="9"/>
                    <a:pt x="7454" y="14"/>
                  </a:cubicBezTo>
                  <a:cubicBezTo>
                    <a:pt x="7465" y="19"/>
                    <a:pt x="7476" y="24"/>
                    <a:pt x="7486" y="31"/>
                  </a:cubicBezTo>
                  <a:cubicBezTo>
                    <a:pt x="7496" y="38"/>
                    <a:pt x="7505" y="45"/>
                    <a:pt x="7514" y="54"/>
                  </a:cubicBezTo>
                  <a:cubicBezTo>
                    <a:pt x="7523" y="63"/>
                    <a:pt x="7530" y="72"/>
                    <a:pt x="7537" y="82"/>
                  </a:cubicBezTo>
                  <a:cubicBezTo>
                    <a:pt x="7544" y="92"/>
                    <a:pt x="7549" y="103"/>
                    <a:pt x="7554" y="114"/>
                  </a:cubicBezTo>
                  <a:cubicBezTo>
                    <a:pt x="7559" y="125"/>
                    <a:pt x="7562" y="137"/>
                    <a:pt x="7565" y="149"/>
                  </a:cubicBezTo>
                  <a:cubicBezTo>
                    <a:pt x="7567" y="161"/>
                    <a:pt x="7568" y="173"/>
                    <a:pt x="7568" y="185"/>
                  </a:cubicBezTo>
                  <a:lnTo>
                    <a:pt x="7568" y="1006"/>
                  </a:lnTo>
                  <a:cubicBezTo>
                    <a:pt x="7568" y="1018"/>
                    <a:pt x="7567" y="1030"/>
                    <a:pt x="7565" y="1042"/>
                  </a:cubicBezTo>
                  <a:cubicBezTo>
                    <a:pt x="7562" y="1054"/>
                    <a:pt x="7559" y="1066"/>
                    <a:pt x="7554" y="1077"/>
                  </a:cubicBezTo>
                  <a:cubicBezTo>
                    <a:pt x="7549" y="1088"/>
                    <a:pt x="7544" y="1099"/>
                    <a:pt x="7537" y="1109"/>
                  </a:cubicBezTo>
                  <a:cubicBezTo>
                    <a:pt x="7530" y="1119"/>
                    <a:pt x="7523" y="1129"/>
                    <a:pt x="7514" y="1137"/>
                  </a:cubicBezTo>
                  <a:cubicBezTo>
                    <a:pt x="7505" y="1146"/>
                    <a:pt x="7496" y="1153"/>
                    <a:pt x="7486" y="1160"/>
                  </a:cubicBezTo>
                  <a:cubicBezTo>
                    <a:pt x="7476" y="1167"/>
                    <a:pt x="7465" y="1173"/>
                    <a:pt x="7454" y="1177"/>
                  </a:cubicBezTo>
                  <a:cubicBezTo>
                    <a:pt x="7443" y="1182"/>
                    <a:pt x="7431" y="1185"/>
                    <a:pt x="7419" y="1188"/>
                  </a:cubicBezTo>
                  <a:cubicBezTo>
                    <a:pt x="7407" y="1190"/>
                    <a:pt x="7395" y="1191"/>
                    <a:pt x="7383" y="1191"/>
                  </a:cubicBezTo>
                  <a:lnTo>
                    <a:pt x="186" y="1191"/>
                  </a:lnTo>
                  <a:cubicBezTo>
                    <a:pt x="174" y="1191"/>
                    <a:pt x="162" y="1190"/>
                    <a:pt x="150" y="1188"/>
                  </a:cubicBezTo>
                  <a:cubicBezTo>
                    <a:pt x="138" y="1185"/>
                    <a:pt x="127" y="1182"/>
                    <a:pt x="115" y="1177"/>
                  </a:cubicBezTo>
                  <a:cubicBezTo>
                    <a:pt x="104" y="1173"/>
                    <a:pt x="94" y="1167"/>
                    <a:pt x="83" y="1160"/>
                  </a:cubicBezTo>
                  <a:cubicBezTo>
                    <a:pt x="73" y="1153"/>
                    <a:pt x="64" y="1146"/>
                    <a:pt x="55" y="1137"/>
                  </a:cubicBezTo>
                  <a:cubicBezTo>
                    <a:pt x="46" y="1129"/>
                    <a:pt x="38" y="1119"/>
                    <a:pt x="31" y="1109"/>
                  </a:cubicBezTo>
                  <a:cubicBezTo>
                    <a:pt x="25" y="1099"/>
                    <a:pt x="19" y="1088"/>
                    <a:pt x="14" y="1077"/>
                  </a:cubicBezTo>
                  <a:cubicBezTo>
                    <a:pt x="10" y="1066"/>
                    <a:pt x="6" y="1054"/>
                    <a:pt x="4" y="1042"/>
                  </a:cubicBezTo>
                  <a:cubicBezTo>
                    <a:pt x="1" y="1030"/>
                    <a:pt x="0" y="1018"/>
                    <a:pt x="0" y="1006"/>
                  </a:cubicBezTo>
                  <a:close/>
                </a:path>
              </a:pathLst>
            </a:custGeom>
            <a:grpFill/>
            <a:ln w="19050">
              <a:solidFill>
                <a:srgbClr val="C00000"/>
              </a:solidFill>
              <a:miter/>
              <a:extLst>
                <a:ext uri="{C807C97D-BFC1-408E-A445-0C87EB9F89A2}">
                  <ask:lineSketchStyleProps xmlns:ask="http://schemas.microsoft.com/office/drawing/2018/sketchyshapes" sd="3356984581">
                    <a:custGeom>
                      <a:avLst/>
                      <a:gdLst>
                        <a:gd name="csX0" fmla="*/ 0 w 2724480"/>
                        <a:gd name="csY0" fmla="*/ 362173 h 428760"/>
                        <a:gd name="csX1" fmla="*/ 0 w 2724480"/>
                        <a:gd name="csY1" fmla="*/ 66586 h 428760"/>
                        <a:gd name="csX2" fmla="*/ 1362 w 2724480"/>
                        <a:gd name="csY2" fmla="*/ 53637 h 428760"/>
                        <a:gd name="csX3" fmla="*/ 4904 w 2724480"/>
                        <a:gd name="csY3" fmla="*/ 41032 h 428760"/>
                        <a:gd name="csX4" fmla="*/ 11170 w 2724480"/>
                        <a:gd name="csY4" fmla="*/ 29498 h 428760"/>
                        <a:gd name="csX5" fmla="*/ 19888 w 2724480"/>
                        <a:gd name="csY5" fmla="*/ 19422 h 428760"/>
                        <a:gd name="csX6" fmla="*/ 29969 w 2724480"/>
                        <a:gd name="csY6" fmla="*/ 11147 h 428760"/>
                        <a:gd name="csX7" fmla="*/ 41412 w 2724480"/>
                        <a:gd name="csY7" fmla="*/ 5059 h 428760"/>
                        <a:gd name="csX8" fmla="*/ 53944 w 2724480"/>
                        <a:gd name="csY8" fmla="*/ 1071 h 428760"/>
                        <a:gd name="csX9" fmla="*/ 67022 w 2724480"/>
                        <a:gd name="csY9" fmla="*/ 0 h 428760"/>
                        <a:gd name="csX10" fmla="*/ 688857 w 2724480"/>
                        <a:gd name="csY10" fmla="*/ 0 h 428760"/>
                        <a:gd name="csX11" fmla="*/ 1284783 w 2724480"/>
                        <a:gd name="csY11" fmla="*/ 0 h 428760"/>
                        <a:gd name="csX12" fmla="*/ 1984347 w 2724480"/>
                        <a:gd name="csY12" fmla="*/ 0 h 428760"/>
                        <a:gd name="csX13" fmla="*/ 2658002 w 2724480"/>
                        <a:gd name="csY13" fmla="*/ 0 h 428760"/>
                        <a:gd name="csX14" fmla="*/ 2670807 w 2724480"/>
                        <a:gd name="csY14" fmla="*/ 1071 h 428760"/>
                        <a:gd name="csX15" fmla="*/ 2683340 w 2724480"/>
                        <a:gd name="csY15" fmla="*/ 5059 h 428760"/>
                        <a:gd name="csX16" fmla="*/ 2695055 w 2724480"/>
                        <a:gd name="csY16" fmla="*/ 11147 h 428760"/>
                        <a:gd name="csX17" fmla="*/ 2705136 w 2724480"/>
                        <a:gd name="csY17" fmla="*/ 19422 h 428760"/>
                        <a:gd name="csX18" fmla="*/ 2713309 w 2724480"/>
                        <a:gd name="csY18" fmla="*/ 29498 h 428760"/>
                        <a:gd name="csX19" fmla="*/ 2719575 w 2724480"/>
                        <a:gd name="csY19" fmla="*/ 41032 h 428760"/>
                        <a:gd name="csX20" fmla="*/ 2723390 w 2724480"/>
                        <a:gd name="csY20" fmla="*/ 53637 h 428760"/>
                        <a:gd name="csX21" fmla="*/ 2724480 w 2724480"/>
                        <a:gd name="csY21" fmla="*/ 66586 h 428760"/>
                        <a:gd name="csX22" fmla="*/ 2724480 w 2724480"/>
                        <a:gd name="csY22" fmla="*/ 362173 h 428760"/>
                        <a:gd name="csX23" fmla="*/ 2723390 w 2724480"/>
                        <a:gd name="csY23" fmla="*/ 375122 h 428760"/>
                        <a:gd name="csX24" fmla="*/ 2719575 w 2724480"/>
                        <a:gd name="csY24" fmla="*/ 387727 h 428760"/>
                        <a:gd name="csX25" fmla="*/ 2713309 w 2724480"/>
                        <a:gd name="csY25" fmla="*/ 399261 h 428760"/>
                        <a:gd name="csX26" fmla="*/ 2705136 w 2724480"/>
                        <a:gd name="csY26" fmla="*/ 409337 h 428760"/>
                        <a:gd name="csX27" fmla="*/ 2695055 w 2724480"/>
                        <a:gd name="csY27" fmla="*/ 417612 h 428760"/>
                        <a:gd name="csX28" fmla="*/ 2683340 w 2724480"/>
                        <a:gd name="csY28" fmla="*/ 423700 h 428760"/>
                        <a:gd name="csX29" fmla="*/ 2670807 w 2724480"/>
                        <a:gd name="csY29" fmla="*/ 427688 h 428760"/>
                        <a:gd name="csX30" fmla="*/ 2658002 w 2724480"/>
                        <a:gd name="csY30" fmla="*/ 428760 h 428760"/>
                        <a:gd name="csX31" fmla="*/ 2087986 w 2724480"/>
                        <a:gd name="csY31" fmla="*/ 428760 h 428760"/>
                        <a:gd name="csX32" fmla="*/ 1388422 w 2724480"/>
                        <a:gd name="csY32" fmla="*/ 428760 h 428760"/>
                        <a:gd name="csX33" fmla="*/ 766587 w 2724480"/>
                        <a:gd name="csY33" fmla="*/ 428760 h 428760"/>
                        <a:gd name="csX34" fmla="*/ 67022 w 2724480"/>
                        <a:gd name="csY34" fmla="*/ 428760 h 428760"/>
                        <a:gd name="csX35" fmla="*/ 53944 w 2724480"/>
                        <a:gd name="csY35" fmla="*/ 427688 h 428760"/>
                        <a:gd name="csX36" fmla="*/ 41412 w 2724480"/>
                        <a:gd name="csY36" fmla="*/ 423700 h 428760"/>
                        <a:gd name="csX37" fmla="*/ 29969 w 2724480"/>
                        <a:gd name="csY37" fmla="*/ 417612 h 428760"/>
                        <a:gd name="csX38" fmla="*/ 19888 w 2724480"/>
                        <a:gd name="csY38" fmla="*/ 409337 h 428760"/>
                        <a:gd name="csX39" fmla="*/ 11170 w 2724480"/>
                        <a:gd name="csY39" fmla="*/ 399261 h 428760"/>
                        <a:gd name="csX40" fmla="*/ 4904 w 2724480"/>
                        <a:gd name="csY40" fmla="*/ 387727 h 428760"/>
                        <a:gd name="csX41" fmla="*/ 1362 w 2724480"/>
                        <a:gd name="csY41" fmla="*/ 375122 h 428760"/>
                        <a:gd name="csX42" fmla="*/ 0 w 2724480"/>
                        <a:gd name="csY42" fmla="*/ 362173 h 42876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</a:cxnLst>
                      <a:rect l="l" t="t" r="r" b="b"/>
                      <a:pathLst>
                        <a:path w="2724480" h="428760" extrusionOk="0">
                          <a:moveTo>
                            <a:pt x="0" y="362173"/>
                          </a:moveTo>
                          <a:cubicBezTo>
                            <a:pt x="-6921" y="299755"/>
                            <a:pt x="13124" y="134475"/>
                            <a:pt x="0" y="66586"/>
                          </a:cubicBezTo>
                          <a:cubicBezTo>
                            <a:pt x="335" y="61645"/>
                            <a:pt x="532" y="58635"/>
                            <a:pt x="1362" y="53637"/>
                          </a:cubicBezTo>
                          <a:cubicBezTo>
                            <a:pt x="3181" y="49461"/>
                            <a:pt x="3342" y="44248"/>
                            <a:pt x="4904" y="41032"/>
                          </a:cubicBezTo>
                          <a:cubicBezTo>
                            <a:pt x="7115" y="37725"/>
                            <a:pt x="9327" y="33976"/>
                            <a:pt x="11170" y="29498"/>
                          </a:cubicBezTo>
                          <a:cubicBezTo>
                            <a:pt x="14250" y="25217"/>
                            <a:pt x="16265" y="22532"/>
                            <a:pt x="19888" y="19422"/>
                          </a:cubicBezTo>
                          <a:cubicBezTo>
                            <a:pt x="23190" y="15888"/>
                            <a:pt x="26415" y="13897"/>
                            <a:pt x="29969" y="11147"/>
                          </a:cubicBezTo>
                          <a:cubicBezTo>
                            <a:pt x="34535" y="8916"/>
                            <a:pt x="36954" y="6548"/>
                            <a:pt x="41412" y="5059"/>
                          </a:cubicBezTo>
                          <a:cubicBezTo>
                            <a:pt x="45844" y="3374"/>
                            <a:pt x="49185" y="1989"/>
                            <a:pt x="53944" y="1071"/>
                          </a:cubicBezTo>
                          <a:cubicBezTo>
                            <a:pt x="58319" y="672"/>
                            <a:pt x="62990" y="-1000"/>
                            <a:pt x="67022" y="0"/>
                          </a:cubicBezTo>
                          <a:cubicBezTo>
                            <a:pt x="290554" y="29510"/>
                            <a:pt x="503466" y="8545"/>
                            <a:pt x="688857" y="0"/>
                          </a:cubicBezTo>
                          <a:cubicBezTo>
                            <a:pt x="874248" y="-8545"/>
                            <a:pt x="991535" y="-29680"/>
                            <a:pt x="1284783" y="0"/>
                          </a:cubicBezTo>
                          <a:cubicBezTo>
                            <a:pt x="1578031" y="29680"/>
                            <a:pt x="1693430" y="-10147"/>
                            <a:pt x="1984347" y="0"/>
                          </a:cubicBezTo>
                          <a:cubicBezTo>
                            <a:pt x="2275264" y="10147"/>
                            <a:pt x="2428454" y="31273"/>
                            <a:pt x="2658002" y="0"/>
                          </a:cubicBezTo>
                          <a:cubicBezTo>
                            <a:pt x="2661795" y="239"/>
                            <a:pt x="2666447" y="-49"/>
                            <a:pt x="2670807" y="1071"/>
                          </a:cubicBezTo>
                          <a:cubicBezTo>
                            <a:pt x="2674973" y="1193"/>
                            <a:pt x="2680010" y="3710"/>
                            <a:pt x="2683340" y="5059"/>
                          </a:cubicBezTo>
                          <a:cubicBezTo>
                            <a:pt x="2687436" y="6633"/>
                            <a:pt x="2692156" y="8188"/>
                            <a:pt x="2695055" y="11147"/>
                          </a:cubicBezTo>
                          <a:cubicBezTo>
                            <a:pt x="2697953" y="14256"/>
                            <a:pt x="2701850" y="15454"/>
                            <a:pt x="2705136" y="19422"/>
                          </a:cubicBezTo>
                          <a:cubicBezTo>
                            <a:pt x="2708624" y="21757"/>
                            <a:pt x="2711007" y="26380"/>
                            <a:pt x="2713309" y="29498"/>
                          </a:cubicBezTo>
                          <a:cubicBezTo>
                            <a:pt x="2714960" y="33676"/>
                            <a:pt x="2717861" y="36421"/>
                            <a:pt x="2719575" y="41032"/>
                          </a:cubicBezTo>
                          <a:cubicBezTo>
                            <a:pt x="2720595" y="44947"/>
                            <a:pt x="2722863" y="48895"/>
                            <a:pt x="2723390" y="53637"/>
                          </a:cubicBezTo>
                          <a:cubicBezTo>
                            <a:pt x="2724950" y="58649"/>
                            <a:pt x="2724455" y="61864"/>
                            <a:pt x="2724480" y="66586"/>
                          </a:cubicBezTo>
                          <a:cubicBezTo>
                            <a:pt x="2720204" y="200879"/>
                            <a:pt x="2718596" y="218199"/>
                            <a:pt x="2724480" y="362173"/>
                          </a:cubicBezTo>
                          <a:cubicBezTo>
                            <a:pt x="2724439" y="366607"/>
                            <a:pt x="2725231" y="370900"/>
                            <a:pt x="2723390" y="375122"/>
                          </a:cubicBezTo>
                          <a:cubicBezTo>
                            <a:pt x="2721905" y="380132"/>
                            <a:pt x="2721231" y="384045"/>
                            <a:pt x="2719575" y="387727"/>
                          </a:cubicBezTo>
                          <a:cubicBezTo>
                            <a:pt x="2717727" y="391410"/>
                            <a:pt x="2715451" y="395584"/>
                            <a:pt x="2713309" y="399261"/>
                          </a:cubicBezTo>
                          <a:cubicBezTo>
                            <a:pt x="2711492" y="403139"/>
                            <a:pt x="2707634" y="406836"/>
                            <a:pt x="2705136" y="409337"/>
                          </a:cubicBezTo>
                          <a:cubicBezTo>
                            <a:pt x="2702374" y="412632"/>
                            <a:pt x="2698372" y="414116"/>
                            <a:pt x="2695055" y="417612"/>
                          </a:cubicBezTo>
                          <a:cubicBezTo>
                            <a:pt x="2690886" y="420615"/>
                            <a:pt x="2686971" y="423169"/>
                            <a:pt x="2683340" y="423700"/>
                          </a:cubicBezTo>
                          <a:cubicBezTo>
                            <a:pt x="2680044" y="425173"/>
                            <a:pt x="2675390" y="426568"/>
                            <a:pt x="2670807" y="427688"/>
                          </a:cubicBezTo>
                          <a:cubicBezTo>
                            <a:pt x="2665603" y="427969"/>
                            <a:pt x="2661796" y="428108"/>
                            <a:pt x="2658002" y="428760"/>
                          </a:cubicBezTo>
                          <a:cubicBezTo>
                            <a:pt x="2465615" y="401551"/>
                            <a:pt x="2355295" y="451241"/>
                            <a:pt x="2087986" y="428760"/>
                          </a:cubicBezTo>
                          <a:cubicBezTo>
                            <a:pt x="1820677" y="406279"/>
                            <a:pt x="1529660" y="450402"/>
                            <a:pt x="1388422" y="428760"/>
                          </a:cubicBezTo>
                          <a:cubicBezTo>
                            <a:pt x="1247184" y="407118"/>
                            <a:pt x="923477" y="455597"/>
                            <a:pt x="766587" y="428760"/>
                          </a:cubicBezTo>
                          <a:cubicBezTo>
                            <a:pt x="609697" y="401923"/>
                            <a:pt x="410877" y="420110"/>
                            <a:pt x="67022" y="428760"/>
                          </a:cubicBezTo>
                          <a:cubicBezTo>
                            <a:pt x="62355" y="428420"/>
                            <a:pt x="59005" y="427965"/>
                            <a:pt x="53944" y="427688"/>
                          </a:cubicBezTo>
                          <a:cubicBezTo>
                            <a:pt x="49782" y="425696"/>
                            <a:pt x="46050" y="425610"/>
                            <a:pt x="41412" y="423700"/>
                          </a:cubicBezTo>
                          <a:cubicBezTo>
                            <a:pt x="37519" y="422138"/>
                            <a:pt x="33575" y="420736"/>
                            <a:pt x="29969" y="417612"/>
                          </a:cubicBezTo>
                          <a:cubicBezTo>
                            <a:pt x="26740" y="414910"/>
                            <a:pt x="22882" y="412528"/>
                            <a:pt x="19888" y="409337"/>
                          </a:cubicBezTo>
                          <a:cubicBezTo>
                            <a:pt x="16712" y="406345"/>
                            <a:pt x="14172" y="402127"/>
                            <a:pt x="11170" y="399261"/>
                          </a:cubicBezTo>
                          <a:cubicBezTo>
                            <a:pt x="9344" y="395354"/>
                            <a:pt x="7383" y="391473"/>
                            <a:pt x="4904" y="387727"/>
                          </a:cubicBezTo>
                          <a:cubicBezTo>
                            <a:pt x="4167" y="384230"/>
                            <a:pt x="2793" y="379969"/>
                            <a:pt x="1362" y="375122"/>
                          </a:cubicBezTo>
                          <a:cubicBezTo>
                            <a:pt x="-404" y="370226"/>
                            <a:pt x="-156" y="366382"/>
                            <a:pt x="0" y="36217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lIns="9360" tIns="9360" rIns="9360" bIns="9360" anchor="t">
              <a:noAutofit/>
            </a:bodyPr>
            <a:lstStyle/>
            <a:p>
              <a:endParaRPr lang="en-US" sz="2400" b="0" u="none" strike="noStrike">
                <a:solidFill>
                  <a:srgbClr val="C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30EB90-7BB5-DC18-79AB-D0F9A3D1EE60}"/>
                </a:ext>
              </a:extLst>
            </p:cNvPr>
            <p:cNvSpPr txBox="1"/>
            <p:nvPr/>
          </p:nvSpPr>
          <p:spPr>
            <a:xfrm rot="1528226">
              <a:off x="1770080" y="1425008"/>
              <a:ext cx="2829376" cy="677108"/>
            </a:xfrm>
            <a:prstGeom prst="rect">
              <a:avLst/>
            </a:prstGeom>
            <a:grp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entered:     </a:t>
              </a:r>
              <a:r>
                <a:rPr lang="en-US" sz="2200" dirty="0">
                  <a:solidFill>
                    <a:srgbClr val="C00000"/>
                  </a:solidFill>
                  <a:latin typeface="SourceCodePro"/>
                  <a:ea typeface="SourceCodePro"/>
                </a:rPr>
                <a:t>2</a:t>
              </a:r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0 000</a:t>
              </a:r>
            </a:p>
            <a:p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left:             </a:t>
              </a:r>
              <a:r>
                <a:rPr lang="en-US" sz="2200" dirty="0">
                  <a:solidFill>
                    <a:srgbClr val="C00000"/>
                  </a:solidFill>
                  <a:latin typeface="SourceCodePro"/>
                  <a:ea typeface="SourceCodePro"/>
                </a:rPr>
                <a:t>19</a:t>
              </a:r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 801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D3E2520-B743-7D2E-BC72-B62CD1F33474}"/>
              </a:ext>
            </a:extLst>
          </p:cNvPr>
          <p:cNvGrpSpPr/>
          <p:nvPr/>
        </p:nvGrpSpPr>
        <p:grpSpPr>
          <a:xfrm rot="19157479">
            <a:off x="3425792" y="3876639"/>
            <a:ext cx="3312572" cy="1218393"/>
            <a:chOff x="1333655" y="1148960"/>
            <a:chExt cx="3312572" cy="1218393"/>
          </a:xfrm>
          <a:solidFill>
            <a:srgbClr val="FFFFFF">
              <a:alpha val="30196"/>
            </a:srgbClr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3A5F127-BDE1-A508-4AEF-1EC111741A81}"/>
                </a:ext>
              </a:extLst>
            </p:cNvPr>
            <p:cNvSpPr/>
            <p:nvPr/>
          </p:nvSpPr>
          <p:spPr>
            <a:xfrm rot="1528226">
              <a:off x="1333655" y="1148960"/>
              <a:ext cx="3312572" cy="1218393"/>
            </a:xfrm>
            <a:custGeom>
              <a:avLst/>
              <a:gdLst/>
              <a:ahLst/>
              <a:cxnLst/>
              <a:rect l="0" t="0" r="r" b="b"/>
              <a:pathLst>
                <a:path w="7568" h="1191">
                  <a:moveTo>
                    <a:pt x="0" y="1006"/>
                  </a:moveTo>
                  <a:lnTo>
                    <a:pt x="0" y="185"/>
                  </a:lnTo>
                  <a:cubicBezTo>
                    <a:pt x="0" y="173"/>
                    <a:pt x="1" y="161"/>
                    <a:pt x="4" y="149"/>
                  </a:cubicBezTo>
                  <a:cubicBezTo>
                    <a:pt x="6" y="137"/>
                    <a:pt x="10" y="125"/>
                    <a:pt x="14" y="114"/>
                  </a:cubicBezTo>
                  <a:cubicBezTo>
                    <a:pt x="19" y="103"/>
                    <a:pt x="25" y="92"/>
                    <a:pt x="31" y="82"/>
                  </a:cubicBezTo>
                  <a:cubicBezTo>
                    <a:pt x="38" y="72"/>
                    <a:pt x="46" y="63"/>
                    <a:pt x="55" y="54"/>
                  </a:cubicBezTo>
                  <a:cubicBezTo>
                    <a:pt x="64" y="45"/>
                    <a:pt x="73" y="38"/>
                    <a:pt x="83" y="31"/>
                  </a:cubicBezTo>
                  <a:cubicBezTo>
                    <a:pt x="94" y="24"/>
                    <a:pt x="104" y="19"/>
                    <a:pt x="115" y="14"/>
                  </a:cubicBezTo>
                  <a:cubicBezTo>
                    <a:pt x="127" y="9"/>
                    <a:pt x="138" y="6"/>
                    <a:pt x="150" y="3"/>
                  </a:cubicBezTo>
                  <a:cubicBezTo>
                    <a:pt x="162" y="1"/>
                    <a:pt x="174" y="0"/>
                    <a:pt x="186" y="0"/>
                  </a:cubicBezTo>
                  <a:lnTo>
                    <a:pt x="7383" y="0"/>
                  </a:lnTo>
                  <a:cubicBezTo>
                    <a:pt x="7395" y="0"/>
                    <a:pt x="7407" y="1"/>
                    <a:pt x="7419" y="3"/>
                  </a:cubicBezTo>
                  <a:cubicBezTo>
                    <a:pt x="7431" y="6"/>
                    <a:pt x="7443" y="9"/>
                    <a:pt x="7454" y="14"/>
                  </a:cubicBezTo>
                  <a:cubicBezTo>
                    <a:pt x="7465" y="19"/>
                    <a:pt x="7476" y="24"/>
                    <a:pt x="7486" y="31"/>
                  </a:cubicBezTo>
                  <a:cubicBezTo>
                    <a:pt x="7496" y="38"/>
                    <a:pt x="7505" y="45"/>
                    <a:pt x="7514" y="54"/>
                  </a:cubicBezTo>
                  <a:cubicBezTo>
                    <a:pt x="7523" y="63"/>
                    <a:pt x="7530" y="72"/>
                    <a:pt x="7537" y="82"/>
                  </a:cubicBezTo>
                  <a:cubicBezTo>
                    <a:pt x="7544" y="92"/>
                    <a:pt x="7549" y="103"/>
                    <a:pt x="7554" y="114"/>
                  </a:cubicBezTo>
                  <a:cubicBezTo>
                    <a:pt x="7559" y="125"/>
                    <a:pt x="7562" y="137"/>
                    <a:pt x="7565" y="149"/>
                  </a:cubicBezTo>
                  <a:cubicBezTo>
                    <a:pt x="7567" y="161"/>
                    <a:pt x="7568" y="173"/>
                    <a:pt x="7568" y="185"/>
                  </a:cubicBezTo>
                  <a:lnTo>
                    <a:pt x="7568" y="1006"/>
                  </a:lnTo>
                  <a:cubicBezTo>
                    <a:pt x="7568" y="1018"/>
                    <a:pt x="7567" y="1030"/>
                    <a:pt x="7565" y="1042"/>
                  </a:cubicBezTo>
                  <a:cubicBezTo>
                    <a:pt x="7562" y="1054"/>
                    <a:pt x="7559" y="1066"/>
                    <a:pt x="7554" y="1077"/>
                  </a:cubicBezTo>
                  <a:cubicBezTo>
                    <a:pt x="7549" y="1088"/>
                    <a:pt x="7544" y="1099"/>
                    <a:pt x="7537" y="1109"/>
                  </a:cubicBezTo>
                  <a:cubicBezTo>
                    <a:pt x="7530" y="1119"/>
                    <a:pt x="7523" y="1129"/>
                    <a:pt x="7514" y="1137"/>
                  </a:cubicBezTo>
                  <a:cubicBezTo>
                    <a:pt x="7505" y="1146"/>
                    <a:pt x="7496" y="1153"/>
                    <a:pt x="7486" y="1160"/>
                  </a:cubicBezTo>
                  <a:cubicBezTo>
                    <a:pt x="7476" y="1167"/>
                    <a:pt x="7465" y="1173"/>
                    <a:pt x="7454" y="1177"/>
                  </a:cubicBezTo>
                  <a:cubicBezTo>
                    <a:pt x="7443" y="1182"/>
                    <a:pt x="7431" y="1185"/>
                    <a:pt x="7419" y="1188"/>
                  </a:cubicBezTo>
                  <a:cubicBezTo>
                    <a:pt x="7407" y="1190"/>
                    <a:pt x="7395" y="1191"/>
                    <a:pt x="7383" y="1191"/>
                  </a:cubicBezTo>
                  <a:lnTo>
                    <a:pt x="186" y="1191"/>
                  </a:lnTo>
                  <a:cubicBezTo>
                    <a:pt x="174" y="1191"/>
                    <a:pt x="162" y="1190"/>
                    <a:pt x="150" y="1188"/>
                  </a:cubicBezTo>
                  <a:cubicBezTo>
                    <a:pt x="138" y="1185"/>
                    <a:pt x="127" y="1182"/>
                    <a:pt x="115" y="1177"/>
                  </a:cubicBezTo>
                  <a:cubicBezTo>
                    <a:pt x="104" y="1173"/>
                    <a:pt x="94" y="1167"/>
                    <a:pt x="83" y="1160"/>
                  </a:cubicBezTo>
                  <a:cubicBezTo>
                    <a:pt x="73" y="1153"/>
                    <a:pt x="64" y="1146"/>
                    <a:pt x="55" y="1137"/>
                  </a:cubicBezTo>
                  <a:cubicBezTo>
                    <a:pt x="46" y="1129"/>
                    <a:pt x="38" y="1119"/>
                    <a:pt x="31" y="1109"/>
                  </a:cubicBezTo>
                  <a:cubicBezTo>
                    <a:pt x="25" y="1099"/>
                    <a:pt x="19" y="1088"/>
                    <a:pt x="14" y="1077"/>
                  </a:cubicBezTo>
                  <a:cubicBezTo>
                    <a:pt x="10" y="1066"/>
                    <a:pt x="6" y="1054"/>
                    <a:pt x="4" y="1042"/>
                  </a:cubicBezTo>
                  <a:cubicBezTo>
                    <a:pt x="1" y="1030"/>
                    <a:pt x="0" y="1018"/>
                    <a:pt x="0" y="1006"/>
                  </a:cubicBezTo>
                  <a:close/>
                </a:path>
              </a:pathLst>
            </a:custGeom>
            <a:grpFill/>
            <a:ln w="19050">
              <a:solidFill>
                <a:srgbClr val="C00000"/>
              </a:solidFill>
              <a:miter/>
              <a:extLst>
                <a:ext uri="{C807C97D-BFC1-408E-A445-0C87EB9F89A2}">
                  <ask:lineSketchStyleProps xmlns:ask="http://schemas.microsoft.com/office/drawing/2018/sketchyshapes" sd="3356984581">
                    <a:custGeom>
                      <a:avLst/>
                      <a:gdLst>
                        <a:gd name="csX0" fmla="*/ 0 w 2724480"/>
                        <a:gd name="csY0" fmla="*/ 362173 h 428760"/>
                        <a:gd name="csX1" fmla="*/ 0 w 2724480"/>
                        <a:gd name="csY1" fmla="*/ 66586 h 428760"/>
                        <a:gd name="csX2" fmla="*/ 1362 w 2724480"/>
                        <a:gd name="csY2" fmla="*/ 53637 h 428760"/>
                        <a:gd name="csX3" fmla="*/ 4904 w 2724480"/>
                        <a:gd name="csY3" fmla="*/ 41032 h 428760"/>
                        <a:gd name="csX4" fmla="*/ 11170 w 2724480"/>
                        <a:gd name="csY4" fmla="*/ 29498 h 428760"/>
                        <a:gd name="csX5" fmla="*/ 19888 w 2724480"/>
                        <a:gd name="csY5" fmla="*/ 19422 h 428760"/>
                        <a:gd name="csX6" fmla="*/ 29969 w 2724480"/>
                        <a:gd name="csY6" fmla="*/ 11147 h 428760"/>
                        <a:gd name="csX7" fmla="*/ 41412 w 2724480"/>
                        <a:gd name="csY7" fmla="*/ 5059 h 428760"/>
                        <a:gd name="csX8" fmla="*/ 53944 w 2724480"/>
                        <a:gd name="csY8" fmla="*/ 1071 h 428760"/>
                        <a:gd name="csX9" fmla="*/ 67022 w 2724480"/>
                        <a:gd name="csY9" fmla="*/ 0 h 428760"/>
                        <a:gd name="csX10" fmla="*/ 688857 w 2724480"/>
                        <a:gd name="csY10" fmla="*/ 0 h 428760"/>
                        <a:gd name="csX11" fmla="*/ 1284783 w 2724480"/>
                        <a:gd name="csY11" fmla="*/ 0 h 428760"/>
                        <a:gd name="csX12" fmla="*/ 1984347 w 2724480"/>
                        <a:gd name="csY12" fmla="*/ 0 h 428760"/>
                        <a:gd name="csX13" fmla="*/ 2658002 w 2724480"/>
                        <a:gd name="csY13" fmla="*/ 0 h 428760"/>
                        <a:gd name="csX14" fmla="*/ 2670807 w 2724480"/>
                        <a:gd name="csY14" fmla="*/ 1071 h 428760"/>
                        <a:gd name="csX15" fmla="*/ 2683340 w 2724480"/>
                        <a:gd name="csY15" fmla="*/ 5059 h 428760"/>
                        <a:gd name="csX16" fmla="*/ 2695055 w 2724480"/>
                        <a:gd name="csY16" fmla="*/ 11147 h 428760"/>
                        <a:gd name="csX17" fmla="*/ 2705136 w 2724480"/>
                        <a:gd name="csY17" fmla="*/ 19422 h 428760"/>
                        <a:gd name="csX18" fmla="*/ 2713309 w 2724480"/>
                        <a:gd name="csY18" fmla="*/ 29498 h 428760"/>
                        <a:gd name="csX19" fmla="*/ 2719575 w 2724480"/>
                        <a:gd name="csY19" fmla="*/ 41032 h 428760"/>
                        <a:gd name="csX20" fmla="*/ 2723390 w 2724480"/>
                        <a:gd name="csY20" fmla="*/ 53637 h 428760"/>
                        <a:gd name="csX21" fmla="*/ 2724480 w 2724480"/>
                        <a:gd name="csY21" fmla="*/ 66586 h 428760"/>
                        <a:gd name="csX22" fmla="*/ 2724480 w 2724480"/>
                        <a:gd name="csY22" fmla="*/ 362173 h 428760"/>
                        <a:gd name="csX23" fmla="*/ 2723390 w 2724480"/>
                        <a:gd name="csY23" fmla="*/ 375122 h 428760"/>
                        <a:gd name="csX24" fmla="*/ 2719575 w 2724480"/>
                        <a:gd name="csY24" fmla="*/ 387727 h 428760"/>
                        <a:gd name="csX25" fmla="*/ 2713309 w 2724480"/>
                        <a:gd name="csY25" fmla="*/ 399261 h 428760"/>
                        <a:gd name="csX26" fmla="*/ 2705136 w 2724480"/>
                        <a:gd name="csY26" fmla="*/ 409337 h 428760"/>
                        <a:gd name="csX27" fmla="*/ 2695055 w 2724480"/>
                        <a:gd name="csY27" fmla="*/ 417612 h 428760"/>
                        <a:gd name="csX28" fmla="*/ 2683340 w 2724480"/>
                        <a:gd name="csY28" fmla="*/ 423700 h 428760"/>
                        <a:gd name="csX29" fmla="*/ 2670807 w 2724480"/>
                        <a:gd name="csY29" fmla="*/ 427688 h 428760"/>
                        <a:gd name="csX30" fmla="*/ 2658002 w 2724480"/>
                        <a:gd name="csY30" fmla="*/ 428760 h 428760"/>
                        <a:gd name="csX31" fmla="*/ 2087986 w 2724480"/>
                        <a:gd name="csY31" fmla="*/ 428760 h 428760"/>
                        <a:gd name="csX32" fmla="*/ 1388422 w 2724480"/>
                        <a:gd name="csY32" fmla="*/ 428760 h 428760"/>
                        <a:gd name="csX33" fmla="*/ 766587 w 2724480"/>
                        <a:gd name="csY33" fmla="*/ 428760 h 428760"/>
                        <a:gd name="csX34" fmla="*/ 67022 w 2724480"/>
                        <a:gd name="csY34" fmla="*/ 428760 h 428760"/>
                        <a:gd name="csX35" fmla="*/ 53944 w 2724480"/>
                        <a:gd name="csY35" fmla="*/ 427688 h 428760"/>
                        <a:gd name="csX36" fmla="*/ 41412 w 2724480"/>
                        <a:gd name="csY36" fmla="*/ 423700 h 428760"/>
                        <a:gd name="csX37" fmla="*/ 29969 w 2724480"/>
                        <a:gd name="csY37" fmla="*/ 417612 h 428760"/>
                        <a:gd name="csX38" fmla="*/ 19888 w 2724480"/>
                        <a:gd name="csY38" fmla="*/ 409337 h 428760"/>
                        <a:gd name="csX39" fmla="*/ 11170 w 2724480"/>
                        <a:gd name="csY39" fmla="*/ 399261 h 428760"/>
                        <a:gd name="csX40" fmla="*/ 4904 w 2724480"/>
                        <a:gd name="csY40" fmla="*/ 387727 h 428760"/>
                        <a:gd name="csX41" fmla="*/ 1362 w 2724480"/>
                        <a:gd name="csY41" fmla="*/ 375122 h 428760"/>
                        <a:gd name="csX42" fmla="*/ 0 w 2724480"/>
                        <a:gd name="csY42" fmla="*/ 362173 h 42876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</a:cxnLst>
                      <a:rect l="l" t="t" r="r" b="b"/>
                      <a:pathLst>
                        <a:path w="2724480" h="428760" extrusionOk="0">
                          <a:moveTo>
                            <a:pt x="0" y="362173"/>
                          </a:moveTo>
                          <a:cubicBezTo>
                            <a:pt x="-6921" y="299755"/>
                            <a:pt x="13124" y="134475"/>
                            <a:pt x="0" y="66586"/>
                          </a:cubicBezTo>
                          <a:cubicBezTo>
                            <a:pt x="335" y="61645"/>
                            <a:pt x="532" y="58635"/>
                            <a:pt x="1362" y="53637"/>
                          </a:cubicBezTo>
                          <a:cubicBezTo>
                            <a:pt x="3181" y="49461"/>
                            <a:pt x="3342" y="44248"/>
                            <a:pt x="4904" y="41032"/>
                          </a:cubicBezTo>
                          <a:cubicBezTo>
                            <a:pt x="7115" y="37725"/>
                            <a:pt x="9327" y="33976"/>
                            <a:pt x="11170" y="29498"/>
                          </a:cubicBezTo>
                          <a:cubicBezTo>
                            <a:pt x="14250" y="25217"/>
                            <a:pt x="16265" y="22532"/>
                            <a:pt x="19888" y="19422"/>
                          </a:cubicBezTo>
                          <a:cubicBezTo>
                            <a:pt x="23190" y="15888"/>
                            <a:pt x="26415" y="13897"/>
                            <a:pt x="29969" y="11147"/>
                          </a:cubicBezTo>
                          <a:cubicBezTo>
                            <a:pt x="34535" y="8916"/>
                            <a:pt x="36954" y="6548"/>
                            <a:pt x="41412" y="5059"/>
                          </a:cubicBezTo>
                          <a:cubicBezTo>
                            <a:pt x="45844" y="3374"/>
                            <a:pt x="49185" y="1989"/>
                            <a:pt x="53944" y="1071"/>
                          </a:cubicBezTo>
                          <a:cubicBezTo>
                            <a:pt x="58319" y="672"/>
                            <a:pt x="62990" y="-1000"/>
                            <a:pt x="67022" y="0"/>
                          </a:cubicBezTo>
                          <a:cubicBezTo>
                            <a:pt x="290554" y="29510"/>
                            <a:pt x="503466" y="8545"/>
                            <a:pt x="688857" y="0"/>
                          </a:cubicBezTo>
                          <a:cubicBezTo>
                            <a:pt x="874248" y="-8545"/>
                            <a:pt x="991535" y="-29680"/>
                            <a:pt x="1284783" y="0"/>
                          </a:cubicBezTo>
                          <a:cubicBezTo>
                            <a:pt x="1578031" y="29680"/>
                            <a:pt x="1693430" y="-10147"/>
                            <a:pt x="1984347" y="0"/>
                          </a:cubicBezTo>
                          <a:cubicBezTo>
                            <a:pt x="2275264" y="10147"/>
                            <a:pt x="2428454" y="31273"/>
                            <a:pt x="2658002" y="0"/>
                          </a:cubicBezTo>
                          <a:cubicBezTo>
                            <a:pt x="2661795" y="239"/>
                            <a:pt x="2666447" y="-49"/>
                            <a:pt x="2670807" y="1071"/>
                          </a:cubicBezTo>
                          <a:cubicBezTo>
                            <a:pt x="2674973" y="1193"/>
                            <a:pt x="2680010" y="3710"/>
                            <a:pt x="2683340" y="5059"/>
                          </a:cubicBezTo>
                          <a:cubicBezTo>
                            <a:pt x="2687436" y="6633"/>
                            <a:pt x="2692156" y="8188"/>
                            <a:pt x="2695055" y="11147"/>
                          </a:cubicBezTo>
                          <a:cubicBezTo>
                            <a:pt x="2697953" y="14256"/>
                            <a:pt x="2701850" y="15454"/>
                            <a:pt x="2705136" y="19422"/>
                          </a:cubicBezTo>
                          <a:cubicBezTo>
                            <a:pt x="2708624" y="21757"/>
                            <a:pt x="2711007" y="26380"/>
                            <a:pt x="2713309" y="29498"/>
                          </a:cubicBezTo>
                          <a:cubicBezTo>
                            <a:pt x="2714960" y="33676"/>
                            <a:pt x="2717861" y="36421"/>
                            <a:pt x="2719575" y="41032"/>
                          </a:cubicBezTo>
                          <a:cubicBezTo>
                            <a:pt x="2720595" y="44947"/>
                            <a:pt x="2722863" y="48895"/>
                            <a:pt x="2723390" y="53637"/>
                          </a:cubicBezTo>
                          <a:cubicBezTo>
                            <a:pt x="2724950" y="58649"/>
                            <a:pt x="2724455" y="61864"/>
                            <a:pt x="2724480" y="66586"/>
                          </a:cubicBezTo>
                          <a:cubicBezTo>
                            <a:pt x="2720204" y="200879"/>
                            <a:pt x="2718596" y="218199"/>
                            <a:pt x="2724480" y="362173"/>
                          </a:cubicBezTo>
                          <a:cubicBezTo>
                            <a:pt x="2724439" y="366607"/>
                            <a:pt x="2725231" y="370900"/>
                            <a:pt x="2723390" y="375122"/>
                          </a:cubicBezTo>
                          <a:cubicBezTo>
                            <a:pt x="2721905" y="380132"/>
                            <a:pt x="2721231" y="384045"/>
                            <a:pt x="2719575" y="387727"/>
                          </a:cubicBezTo>
                          <a:cubicBezTo>
                            <a:pt x="2717727" y="391410"/>
                            <a:pt x="2715451" y="395584"/>
                            <a:pt x="2713309" y="399261"/>
                          </a:cubicBezTo>
                          <a:cubicBezTo>
                            <a:pt x="2711492" y="403139"/>
                            <a:pt x="2707634" y="406836"/>
                            <a:pt x="2705136" y="409337"/>
                          </a:cubicBezTo>
                          <a:cubicBezTo>
                            <a:pt x="2702374" y="412632"/>
                            <a:pt x="2698372" y="414116"/>
                            <a:pt x="2695055" y="417612"/>
                          </a:cubicBezTo>
                          <a:cubicBezTo>
                            <a:pt x="2690886" y="420615"/>
                            <a:pt x="2686971" y="423169"/>
                            <a:pt x="2683340" y="423700"/>
                          </a:cubicBezTo>
                          <a:cubicBezTo>
                            <a:pt x="2680044" y="425173"/>
                            <a:pt x="2675390" y="426568"/>
                            <a:pt x="2670807" y="427688"/>
                          </a:cubicBezTo>
                          <a:cubicBezTo>
                            <a:pt x="2665603" y="427969"/>
                            <a:pt x="2661796" y="428108"/>
                            <a:pt x="2658002" y="428760"/>
                          </a:cubicBezTo>
                          <a:cubicBezTo>
                            <a:pt x="2465615" y="401551"/>
                            <a:pt x="2355295" y="451241"/>
                            <a:pt x="2087986" y="428760"/>
                          </a:cubicBezTo>
                          <a:cubicBezTo>
                            <a:pt x="1820677" y="406279"/>
                            <a:pt x="1529660" y="450402"/>
                            <a:pt x="1388422" y="428760"/>
                          </a:cubicBezTo>
                          <a:cubicBezTo>
                            <a:pt x="1247184" y="407118"/>
                            <a:pt x="923477" y="455597"/>
                            <a:pt x="766587" y="428760"/>
                          </a:cubicBezTo>
                          <a:cubicBezTo>
                            <a:pt x="609697" y="401923"/>
                            <a:pt x="410877" y="420110"/>
                            <a:pt x="67022" y="428760"/>
                          </a:cubicBezTo>
                          <a:cubicBezTo>
                            <a:pt x="62355" y="428420"/>
                            <a:pt x="59005" y="427965"/>
                            <a:pt x="53944" y="427688"/>
                          </a:cubicBezTo>
                          <a:cubicBezTo>
                            <a:pt x="49782" y="425696"/>
                            <a:pt x="46050" y="425610"/>
                            <a:pt x="41412" y="423700"/>
                          </a:cubicBezTo>
                          <a:cubicBezTo>
                            <a:pt x="37519" y="422138"/>
                            <a:pt x="33575" y="420736"/>
                            <a:pt x="29969" y="417612"/>
                          </a:cubicBezTo>
                          <a:cubicBezTo>
                            <a:pt x="26740" y="414910"/>
                            <a:pt x="22882" y="412528"/>
                            <a:pt x="19888" y="409337"/>
                          </a:cubicBezTo>
                          <a:cubicBezTo>
                            <a:pt x="16712" y="406345"/>
                            <a:pt x="14172" y="402127"/>
                            <a:pt x="11170" y="399261"/>
                          </a:cubicBezTo>
                          <a:cubicBezTo>
                            <a:pt x="9344" y="395354"/>
                            <a:pt x="7383" y="391473"/>
                            <a:pt x="4904" y="387727"/>
                          </a:cubicBezTo>
                          <a:cubicBezTo>
                            <a:pt x="4167" y="384230"/>
                            <a:pt x="2793" y="379969"/>
                            <a:pt x="1362" y="375122"/>
                          </a:cubicBezTo>
                          <a:cubicBezTo>
                            <a:pt x="-404" y="370226"/>
                            <a:pt x="-156" y="366382"/>
                            <a:pt x="0" y="36217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lIns="9360" tIns="9360" rIns="9360" bIns="9360" anchor="t">
              <a:noAutofit/>
            </a:bodyPr>
            <a:lstStyle/>
            <a:p>
              <a:endParaRPr lang="en-US" sz="2400" b="0" u="none" strike="noStrike">
                <a:solidFill>
                  <a:srgbClr val="C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9DD51E-C0B6-75D2-F8CF-66E6D5A8F930}"/>
                </a:ext>
              </a:extLst>
            </p:cNvPr>
            <p:cNvSpPr txBox="1"/>
            <p:nvPr/>
          </p:nvSpPr>
          <p:spPr>
            <a:xfrm rot="1528226">
              <a:off x="1770080" y="1425008"/>
              <a:ext cx="2829376" cy="677108"/>
            </a:xfrm>
            <a:prstGeom prst="rect">
              <a:avLst/>
            </a:prstGeom>
            <a:grp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entered:     19 942</a:t>
              </a:r>
            </a:p>
            <a:p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left:             20 000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150BF9-3BDF-9A2D-4873-CB411DA1307B}"/>
              </a:ext>
            </a:extLst>
          </p:cNvPr>
          <p:cNvGrpSpPr/>
          <p:nvPr/>
        </p:nvGrpSpPr>
        <p:grpSpPr>
          <a:xfrm rot="20673857">
            <a:off x="7943352" y="730924"/>
            <a:ext cx="3312572" cy="1218393"/>
            <a:chOff x="1333655" y="1148960"/>
            <a:chExt cx="3312572" cy="1218393"/>
          </a:xfrm>
          <a:solidFill>
            <a:srgbClr val="FFFFFF">
              <a:alpha val="30196"/>
            </a:srgb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030D78-E8D5-CBF6-E469-B5C05B1D8D03}"/>
                </a:ext>
              </a:extLst>
            </p:cNvPr>
            <p:cNvSpPr/>
            <p:nvPr/>
          </p:nvSpPr>
          <p:spPr>
            <a:xfrm rot="1528226">
              <a:off x="1333655" y="1148960"/>
              <a:ext cx="3312572" cy="1218393"/>
            </a:xfrm>
            <a:custGeom>
              <a:avLst/>
              <a:gdLst/>
              <a:ahLst/>
              <a:cxnLst/>
              <a:rect l="0" t="0" r="r" b="b"/>
              <a:pathLst>
                <a:path w="7568" h="1191">
                  <a:moveTo>
                    <a:pt x="0" y="1006"/>
                  </a:moveTo>
                  <a:lnTo>
                    <a:pt x="0" y="185"/>
                  </a:lnTo>
                  <a:cubicBezTo>
                    <a:pt x="0" y="173"/>
                    <a:pt x="1" y="161"/>
                    <a:pt x="4" y="149"/>
                  </a:cubicBezTo>
                  <a:cubicBezTo>
                    <a:pt x="6" y="137"/>
                    <a:pt x="10" y="125"/>
                    <a:pt x="14" y="114"/>
                  </a:cubicBezTo>
                  <a:cubicBezTo>
                    <a:pt x="19" y="103"/>
                    <a:pt x="25" y="92"/>
                    <a:pt x="31" y="82"/>
                  </a:cubicBezTo>
                  <a:cubicBezTo>
                    <a:pt x="38" y="72"/>
                    <a:pt x="46" y="63"/>
                    <a:pt x="55" y="54"/>
                  </a:cubicBezTo>
                  <a:cubicBezTo>
                    <a:pt x="64" y="45"/>
                    <a:pt x="73" y="38"/>
                    <a:pt x="83" y="31"/>
                  </a:cubicBezTo>
                  <a:cubicBezTo>
                    <a:pt x="94" y="24"/>
                    <a:pt x="104" y="19"/>
                    <a:pt x="115" y="14"/>
                  </a:cubicBezTo>
                  <a:cubicBezTo>
                    <a:pt x="127" y="9"/>
                    <a:pt x="138" y="6"/>
                    <a:pt x="150" y="3"/>
                  </a:cubicBezTo>
                  <a:cubicBezTo>
                    <a:pt x="162" y="1"/>
                    <a:pt x="174" y="0"/>
                    <a:pt x="186" y="0"/>
                  </a:cubicBezTo>
                  <a:lnTo>
                    <a:pt x="7383" y="0"/>
                  </a:lnTo>
                  <a:cubicBezTo>
                    <a:pt x="7395" y="0"/>
                    <a:pt x="7407" y="1"/>
                    <a:pt x="7419" y="3"/>
                  </a:cubicBezTo>
                  <a:cubicBezTo>
                    <a:pt x="7431" y="6"/>
                    <a:pt x="7443" y="9"/>
                    <a:pt x="7454" y="14"/>
                  </a:cubicBezTo>
                  <a:cubicBezTo>
                    <a:pt x="7465" y="19"/>
                    <a:pt x="7476" y="24"/>
                    <a:pt x="7486" y="31"/>
                  </a:cubicBezTo>
                  <a:cubicBezTo>
                    <a:pt x="7496" y="38"/>
                    <a:pt x="7505" y="45"/>
                    <a:pt x="7514" y="54"/>
                  </a:cubicBezTo>
                  <a:cubicBezTo>
                    <a:pt x="7523" y="63"/>
                    <a:pt x="7530" y="72"/>
                    <a:pt x="7537" y="82"/>
                  </a:cubicBezTo>
                  <a:cubicBezTo>
                    <a:pt x="7544" y="92"/>
                    <a:pt x="7549" y="103"/>
                    <a:pt x="7554" y="114"/>
                  </a:cubicBezTo>
                  <a:cubicBezTo>
                    <a:pt x="7559" y="125"/>
                    <a:pt x="7562" y="137"/>
                    <a:pt x="7565" y="149"/>
                  </a:cubicBezTo>
                  <a:cubicBezTo>
                    <a:pt x="7567" y="161"/>
                    <a:pt x="7568" y="173"/>
                    <a:pt x="7568" y="185"/>
                  </a:cubicBezTo>
                  <a:lnTo>
                    <a:pt x="7568" y="1006"/>
                  </a:lnTo>
                  <a:cubicBezTo>
                    <a:pt x="7568" y="1018"/>
                    <a:pt x="7567" y="1030"/>
                    <a:pt x="7565" y="1042"/>
                  </a:cubicBezTo>
                  <a:cubicBezTo>
                    <a:pt x="7562" y="1054"/>
                    <a:pt x="7559" y="1066"/>
                    <a:pt x="7554" y="1077"/>
                  </a:cubicBezTo>
                  <a:cubicBezTo>
                    <a:pt x="7549" y="1088"/>
                    <a:pt x="7544" y="1099"/>
                    <a:pt x="7537" y="1109"/>
                  </a:cubicBezTo>
                  <a:cubicBezTo>
                    <a:pt x="7530" y="1119"/>
                    <a:pt x="7523" y="1129"/>
                    <a:pt x="7514" y="1137"/>
                  </a:cubicBezTo>
                  <a:cubicBezTo>
                    <a:pt x="7505" y="1146"/>
                    <a:pt x="7496" y="1153"/>
                    <a:pt x="7486" y="1160"/>
                  </a:cubicBezTo>
                  <a:cubicBezTo>
                    <a:pt x="7476" y="1167"/>
                    <a:pt x="7465" y="1173"/>
                    <a:pt x="7454" y="1177"/>
                  </a:cubicBezTo>
                  <a:cubicBezTo>
                    <a:pt x="7443" y="1182"/>
                    <a:pt x="7431" y="1185"/>
                    <a:pt x="7419" y="1188"/>
                  </a:cubicBezTo>
                  <a:cubicBezTo>
                    <a:pt x="7407" y="1190"/>
                    <a:pt x="7395" y="1191"/>
                    <a:pt x="7383" y="1191"/>
                  </a:cubicBezTo>
                  <a:lnTo>
                    <a:pt x="186" y="1191"/>
                  </a:lnTo>
                  <a:cubicBezTo>
                    <a:pt x="174" y="1191"/>
                    <a:pt x="162" y="1190"/>
                    <a:pt x="150" y="1188"/>
                  </a:cubicBezTo>
                  <a:cubicBezTo>
                    <a:pt x="138" y="1185"/>
                    <a:pt x="127" y="1182"/>
                    <a:pt x="115" y="1177"/>
                  </a:cubicBezTo>
                  <a:cubicBezTo>
                    <a:pt x="104" y="1173"/>
                    <a:pt x="94" y="1167"/>
                    <a:pt x="83" y="1160"/>
                  </a:cubicBezTo>
                  <a:cubicBezTo>
                    <a:pt x="73" y="1153"/>
                    <a:pt x="64" y="1146"/>
                    <a:pt x="55" y="1137"/>
                  </a:cubicBezTo>
                  <a:cubicBezTo>
                    <a:pt x="46" y="1129"/>
                    <a:pt x="38" y="1119"/>
                    <a:pt x="31" y="1109"/>
                  </a:cubicBezTo>
                  <a:cubicBezTo>
                    <a:pt x="25" y="1099"/>
                    <a:pt x="19" y="1088"/>
                    <a:pt x="14" y="1077"/>
                  </a:cubicBezTo>
                  <a:cubicBezTo>
                    <a:pt x="10" y="1066"/>
                    <a:pt x="6" y="1054"/>
                    <a:pt x="4" y="1042"/>
                  </a:cubicBezTo>
                  <a:cubicBezTo>
                    <a:pt x="1" y="1030"/>
                    <a:pt x="0" y="1018"/>
                    <a:pt x="0" y="1006"/>
                  </a:cubicBezTo>
                  <a:close/>
                </a:path>
              </a:pathLst>
            </a:custGeom>
            <a:grpFill/>
            <a:ln w="19050">
              <a:solidFill>
                <a:srgbClr val="C00000"/>
              </a:solidFill>
              <a:miter/>
              <a:extLst>
                <a:ext uri="{C807C97D-BFC1-408E-A445-0C87EB9F89A2}">
                  <ask:lineSketchStyleProps xmlns:ask="http://schemas.microsoft.com/office/drawing/2018/sketchyshapes" sd="3356984581">
                    <a:custGeom>
                      <a:avLst/>
                      <a:gdLst>
                        <a:gd name="csX0" fmla="*/ 0 w 2724480"/>
                        <a:gd name="csY0" fmla="*/ 362173 h 428760"/>
                        <a:gd name="csX1" fmla="*/ 0 w 2724480"/>
                        <a:gd name="csY1" fmla="*/ 66586 h 428760"/>
                        <a:gd name="csX2" fmla="*/ 1362 w 2724480"/>
                        <a:gd name="csY2" fmla="*/ 53637 h 428760"/>
                        <a:gd name="csX3" fmla="*/ 4904 w 2724480"/>
                        <a:gd name="csY3" fmla="*/ 41032 h 428760"/>
                        <a:gd name="csX4" fmla="*/ 11170 w 2724480"/>
                        <a:gd name="csY4" fmla="*/ 29498 h 428760"/>
                        <a:gd name="csX5" fmla="*/ 19888 w 2724480"/>
                        <a:gd name="csY5" fmla="*/ 19422 h 428760"/>
                        <a:gd name="csX6" fmla="*/ 29969 w 2724480"/>
                        <a:gd name="csY6" fmla="*/ 11147 h 428760"/>
                        <a:gd name="csX7" fmla="*/ 41412 w 2724480"/>
                        <a:gd name="csY7" fmla="*/ 5059 h 428760"/>
                        <a:gd name="csX8" fmla="*/ 53944 w 2724480"/>
                        <a:gd name="csY8" fmla="*/ 1071 h 428760"/>
                        <a:gd name="csX9" fmla="*/ 67022 w 2724480"/>
                        <a:gd name="csY9" fmla="*/ 0 h 428760"/>
                        <a:gd name="csX10" fmla="*/ 688857 w 2724480"/>
                        <a:gd name="csY10" fmla="*/ 0 h 428760"/>
                        <a:gd name="csX11" fmla="*/ 1284783 w 2724480"/>
                        <a:gd name="csY11" fmla="*/ 0 h 428760"/>
                        <a:gd name="csX12" fmla="*/ 1984347 w 2724480"/>
                        <a:gd name="csY12" fmla="*/ 0 h 428760"/>
                        <a:gd name="csX13" fmla="*/ 2658002 w 2724480"/>
                        <a:gd name="csY13" fmla="*/ 0 h 428760"/>
                        <a:gd name="csX14" fmla="*/ 2670807 w 2724480"/>
                        <a:gd name="csY14" fmla="*/ 1071 h 428760"/>
                        <a:gd name="csX15" fmla="*/ 2683340 w 2724480"/>
                        <a:gd name="csY15" fmla="*/ 5059 h 428760"/>
                        <a:gd name="csX16" fmla="*/ 2695055 w 2724480"/>
                        <a:gd name="csY16" fmla="*/ 11147 h 428760"/>
                        <a:gd name="csX17" fmla="*/ 2705136 w 2724480"/>
                        <a:gd name="csY17" fmla="*/ 19422 h 428760"/>
                        <a:gd name="csX18" fmla="*/ 2713309 w 2724480"/>
                        <a:gd name="csY18" fmla="*/ 29498 h 428760"/>
                        <a:gd name="csX19" fmla="*/ 2719575 w 2724480"/>
                        <a:gd name="csY19" fmla="*/ 41032 h 428760"/>
                        <a:gd name="csX20" fmla="*/ 2723390 w 2724480"/>
                        <a:gd name="csY20" fmla="*/ 53637 h 428760"/>
                        <a:gd name="csX21" fmla="*/ 2724480 w 2724480"/>
                        <a:gd name="csY21" fmla="*/ 66586 h 428760"/>
                        <a:gd name="csX22" fmla="*/ 2724480 w 2724480"/>
                        <a:gd name="csY22" fmla="*/ 362173 h 428760"/>
                        <a:gd name="csX23" fmla="*/ 2723390 w 2724480"/>
                        <a:gd name="csY23" fmla="*/ 375122 h 428760"/>
                        <a:gd name="csX24" fmla="*/ 2719575 w 2724480"/>
                        <a:gd name="csY24" fmla="*/ 387727 h 428760"/>
                        <a:gd name="csX25" fmla="*/ 2713309 w 2724480"/>
                        <a:gd name="csY25" fmla="*/ 399261 h 428760"/>
                        <a:gd name="csX26" fmla="*/ 2705136 w 2724480"/>
                        <a:gd name="csY26" fmla="*/ 409337 h 428760"/>
                        <a:gd name="csX27" fmla="*/ 2695055 w 2724480"/>
                        <a:gd name="csY27" fmla="*/ 417612 h 428760"/>
                        <a:gd name="csX28" fmla="*/ 2683340 w 2724480"/>
                        <a:gd name="csY28" fmla="*/ 423700 h 428760"/>
                        <a:gd name="csX29" fmla="*/ 2670807 w 2724480"/>
                        <a:gd name="csY29" fmla="*/ 427688 h 428760"/>
                        <a:gd name="csX30" fmla="*/ 2658002 w 2724480"/>
                        <a:gd name="csY30" fmla="*/ 428760 h 428760"/>
                        <a:gd name="csX31" fmla="*/ 2087986 w 2724480"/>
                        <a:gd name="csY31" fmla="*/ 428760 h 428760"/>
                        <a:gd name="csX32" fmla="*/ 1388422 w 2724480"/>
                        <a:gd name="csY32" fmla="*/ 428760 h 428760"/>
                        <a:gd name="csX33" fmla="*/ 766587 w 2724480"/>
                        <a:gd name="csY33" fmla="*/ 428760 h 428760"/>
                        <a:gd name="csX34" fmla="*/ 67022 w 2724480"/>
                        <a:gd name="csY34" fmla="*/ 428760 h 428760"/>
                        <a:gd name="csX35" fmla="*/ 53944 w 2724480"/>
                        <a:gd name="csY35" fmla="*/ 427688 h 428760"/>
                        <a:gd name="csX36" fmla="*/ 41412 w 2724480"/>
                        <a:gd name="csY36" fmla="*/ 423700 h 428760"/>
                        <a:gd name="csX37" fmla="*/ 29969 w 2724480"/>
                        <a:gd name="csY37" fmla="*/ 417612 h 428760"/>
                        <a:gd name="csX38" fmla="*/ 19888 w 2724480"/>
                        <a:gd name="csY38" fmla="*/ 409337 h 428760"/>
                        <a:gd name="csX39" fmla="*/ 11170 w 2724480"/>
                        <a:gd name="csY39" fmla="*/ 399261 h 428760"/>
                        <a:gd name="csX40" fmla="*/ 4904 w 2724480"/>
                        <a:gd name="csY40" fmla="*/ 387727 h 428760"/>
                        <a:gd name="csX41" fmla="*/ 1362 w 2724480"/>
                        <a:gd name="csY41" fmla="*/ 375122 h 428760"/>
                        <a:gd name="csX42" fmla="*/ 0 w 2724480"/>
                        <a:gd name="csY42" fmla="*/ 362173 h 42876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</a:cxnLst>
                      <a:rect l="l" t="t" r="r" b="b"/>
                      <a:pathLst>
                        <a:path w="2724480" h="428760" extrusionOk="0">
                          <a:moveTo>
                            <a:pt x="0" y="362173"/>
                          </a:moveTo>
                          <a:cubicBezTo>
                            <a:pt x="-6921" y="299755"/>
                            <a:pt x="13124" y="134475"/>
                            <a:pt x="0" y="66586"/>
                          </a:cubicBezTo>
                          <a:cubicBezTo>
                            <a:pt x="335" y="61645"/>
                            <a:pt x="532" y="58635"/>
                            <a:pt x="1362" y="53637"/>
                          </a:cubicBezTo>
                          <a:cubicBezTo>
                            <a:pt x="3181" y="49461"/>
                            <a:pt x="3342" y="44248"/>
                            <a:pt x="4904" y="41032"/>
                          </a:cubicBezTo>
                          <a:cubicBezTo>
                            <a:pt x="7115" y="37725"/>
                            <a:pt x="9327" y="33976"/>
                            <a:pt x="11170" y="29498"/>
                          </a:cubicBezTo>
                          <a:cubicBezTo>
                            <a:pt x="14250" y="25217"/>
                            <a:pt x="16265" y="22532"/>
                            <a:pt x="19888" y="19422"/>
                          </a:cubicBezTo>
                          <a:cubicBezTo>
                            <a:pt x="23190" y="15888"/>
                            <a:pt x="26415" y="13897"/>
                            <a:pt x="29969" y="11147"/>
                          </a:cubicBezTo>
                          <a:cubicBezTo>
                            <a:pt x="34535" y="8916"/>
                            <a:pt x="36954" y="6548"/>
                            <a:pt x="41412" y="5059"/>
                          </a:cubicBezTo>
                          <a:cubicBezTo>
                            <a:pt x="45844" y="3374"/>
                            <a:pt x="49185" y="1989"/>
                            <a:pt x="53944" y="1071"/>
                          </a:cubicBezTo>
                          <a:cubicBezTo>
                            <a:pt x="58319" y="672"/>
                            <a:pt x="62990" y="-1000"/>
                            <a:pt x="67022" y="0"/>
                          </a:cubicBezTo>
                          <a:cubicBezTo>
                            <a:pt x="290554" y="29510"/>
                            <a:pt x="503466" y="8545"/>
                            <a:pt x="688857" y="0"/>
                          </a:cubicBezTo>
                          <a:cubicBezTo>
                            <a:pt x="874248" y="-8545"/>
                            <a:pt x="991535" y="-29680"/>
                            <a:pt x="1284783" y="0"/>
                          </a:cubicBezTo>
                          <a:cubicBezTo>
                            <a:pt x="1578031" y="29680"/>
                            <a:pt x="1693430" y="-10147"/>
                            <a:pt x="1984347" y="0"/>
                          </a:cubicBezTo>
                          <a:cubicBezTo>
                            <a:pt x="2275264" y="10147"/>
                            <a:pt x="2428454" y="31273"/>
                            <a:pt x="2658002" y="0"/>
                          </a:cubicBezTo>
                          <a:cubicBezTo>
                            <a:pt x="2661795" y="239"/>
                            <a:pt x="2666447" y="-49"/>
                            <a:pt x="2670807" y="1071"/>
                          </a:cubicBezTo>
                          <a:cubicBezTo>
                            <a:pt x="2674973" y="1193"/>
                            <a:pt x="2680010" y="3710"/>
                            <a:pt x="2683340" y="5059"/>
                          </a:cubicBezTo>
                          <a:cubicBezTo>
                            <a:pt x="2687436" y="6633"/>
                            <a:pt x="2692156" y="8188"/>
                            <a:pt x="2695055" y="11147"/>
                          </a:cubicBezTo>
                          <a:cubicBezTo>
                            <a:pt x="2697953" y="14256"/>
                            <a:pt x="2701850" y="15454"/>
                            <a:pt x="2705136" y="19422"/>
                          </a:cubicBezTo>
                          <a:cubicBezTo>
                            <a:pt x="2708624" y="21757"/>
                            <a:pt x="2711007" y="26380"/>
                            <a:pt x="2713309" y="29498"/>
                          </a:cubicBezTo>
                          <a:cubicBezTo>
                            <a:pt x="2714960" y="33676"/>
                            <a:pt x="2717861" y="36421"/>
                            <a:pt x="2719575" y="41032"/>
                          </a:cubicBezTo>
                          <a:cubicBezTo>
                            <a:pt x="2720595" y="44947"/>
                            <a:pt x="2722863" y="48895"/>
                            <a:pt x="2723390" y="53637"/>
                          </a:cubicBezTo>
                          <a:cubicBezTo>
                            <a:pt x="2724950" y="58649"/>
                            <a:pt x="2724455" y="61864"/>
                            <a:pt x="2724480" y="66586"/>
                          </a:cubicBezTo>
                          <a:cubicBezTo>
                            <a:pt x="2720204" y="200879"/>
                            <a:pt x="2718596" y="218199"/>
                            <a:pt x="2724480" y="362173"/>
                          </a:cubicBezTo>
                          <a:cubicBezTo>
                            <a:pt x="2724439" y="366607"/>
                            <a:pt x="2725231" y="370900"/>
                            <a:pt x="2723390" y="375122"/>
                          </a:cubicBezTo>
                          <a:cubicBezTo>
                            <a:pt x="2721905" y="380132"/>
                            <a:pt x="2721231" y="384045"/>
                            <a:pt x="2719575" y="387727"/>
                          </a:cubicBezTo>
                          <a:cubicBezTo>
                            <a:pt x="2717727" y="391410"/>
                            <a:pt x="2715451" y="395584"/>
                            <a:pt x="2713309" y="399261"/>
                          </a:cubicBezTo>
                          <a:cubicBezTo>
                            <a:pt x="2711492" y="403139"/>
                            <a:pt x="2707634" y="406836"/>
                            <a:pt x="2705136" y="409337"/>
                          </a:cubicBezTo>
                          <a:cubicBezTo>
                            <a:pt x="2702374" y="412632"/>
                            <a:pt x="2698372" y="414116"/>
                            <a:pt x="2695055" y="417612"/>
                          </a:cubicBezTo>
                          <a:cubicBezTo>
                            <a:pt x="2690886" y="420615"/>
                            <a:pt x="2686971" y="423169"/>
                            <a:pt x="2683340" y="423700"/>
                          </a:cubicBezTo>
                          <a:cubicBezTo>
                            <a:pt x="2680044" y="425173"/>
                            <a:pt x="2675390" y="426568"/>
                            <a:pt x="2670807" y="427688"/>
                          </a:cubicBezTo>
                          <a:cubicBezTo>
                            <a:pt x="2665603" y="427969"/>
                            <a:pt x="2661796" y="428108"/>
                            <a:pt x="2658002" y="428760"/>
                          </a:cubicBezTo>
                          <a:cubicBezTo>
                            <a:pt x="2465615" y="401551"/>
                            <a:pt x="2355295" y="451241"/>
                            <a:pt x="2087986" y="428760"/>
                          </a:cubicBezTo>
                          <a:cubicBezTo>
                            <a:pt x="1820677" y="406279"/>
                            <a:pt x="1529660" y="450402"/>
                            <a:pt x="1388422" y="428760"/>
                          </a:cubicBezTo>
                          <a:cubicBezTo>
                            <a:pt x="1247184" y="407118"/>
                            <a:pt x="923477" y="455597"/>
                            <a:pt x="766587" y="428760"/>
                          </a:cubicBezTo>
                          <a:cubicBezTo>
                            <a:pt x="609697" y="401923"/>
                            <a:pt x="410877" y="420110"/>
                            <a:pt x="67022" y="428760"/>
                          </a:cubicBezTo>
                          <a:cubicBezTo>
                            <a:pt x="62355" y="428420"/>
                            <a:pt x="59005" y="427965"/>
                            <a:pt x="53944" y="427688"/>
                          </a:cubicBezTo>
                          <a:cubicBezTo>
                            <a:pt x="49782" y="425696"/>
                            <a:pt x="46050" y="425610"/>
                            <a:pt x="41412" y="423700"/>
                          </a:cubicBezTo>
                          <a:cubicBezTo>
                            <a:pt x="37519" y="422138"/>
                            <a:pt x="33575" y="420736"/>
                            <a:pt x="29969" y="417612"/>
                          </a:cubicBezTo>
                          <a:cubicBezTo>
                            <a:pt x="26740" y="414910"/>
                            <a:pt x="22882" y="412528"/>
                            <a:pt x="19888" y="409337"/>
                          </a:cubicBezTo>
                          <a:cubicBezTo>
                            <a:pt x="16712" y="406345"/>
                            <a:pt x="14172" y="402127"/>
                            <a:pt x="11170" y="399261"/>
                          </a:cubicBezTo>
                          <a:cubicBezTo>
                            <a:pt x="9344" y="395354"/>
                            <a:pt x="7383" y="391473"/>
                            <a:pt x="4904" y="387727"/>
                          </a:cubicBezTo>
                          <a:cubicBezTo>
                            <a:pt x="4167" y="384230"/>
                            <a:pt x="2793" y="379969"/>
                            <a:pt x="1362" y="375122"/>
                          </a:cubicBezTo>
                          <a:cubicBezTo>
                            <a:pt x="-404" y="370226"/>
                            <a:pt x="-156" y="366382"/>
                            <a:pt x="0" y="36217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lIns="9360" tIns="9360" rIns="9360" bIns="9360" anchor="t">
              <a:noAutofit/>
            </a:bodyPr>
            <a:lstStyle/>
            <a:p>
              <a:endParaRPr lang="en-US" sz="2400" b="0" u="none" strike="noStrike">
                <a:solidFill>
                  <a:srgbClr val="C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FCBA090-E5CA-8A15-7690-3457352C1F3D}"/>
                </a:ext>
              </a:extLst>
            </p:cNvPr>
            <p:cNvSpPr txBox="1"/>
            <p:nvPr/>
          </p:nvSpPr>
          <p:spPr>
            <a:xfrm rot="1528226">
              <a:off x="1770080" y="1425008"/>
              <a:ext cx="2829376" cy="677108"/>
            </a:xfrm>
            <a:prstGeom prst="rect">
              <a:avLst/>
            </a:prstGeom>
            <a:grp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entered:     </a:t>
              </a:r>
            </a:p>
            <a:p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left:             </a:t>
              </a:r>
            </a:p>
          </p:txBody>
        </p:sp>
      </p:grp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D55425AB-0BAE-7463-AF16-46AC7FACC2D8}"/>
              </a:ext>
            </a:extLst>
          </p:cNvPr>
          <p:cNvSpPr/>
          <p:nvPr/>
        </p:nvSpPr>
        <p:spPr>
          <a:xfrm>
            <a:off x="9664953" y="1114211"/>
            <a:ext cx="442175" cy="421725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518535"/>
              <a:gd name="adj5" fmla="val 12500"/>
            </a:avLst>
          </a:prstGeom>
          <a:solidFill>
            <a:srgbClr val="C00000">
              <a:alpha val="30196"/>
            </a:srgbClr>
          </a:solidFill>
          <a:ln>
            <a:solidFill>
              <a:srgbClr val="C00000">
                <a:alpha val="2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B610C24-727B-320A-5400-16F831CBC763}"/>
              </a:ext>
            </a:extLst>
          </p:cNvPr>
          <p:cNvGrpSpPr/>
          <p:nvPr/>
        </p:nvGrpSpPr>
        <p:grpSpPr>
          <a:xfrm rot="19361991">
            <a:off x="3326709" y="814975"/>
            <a:ext cx="3343325" cy="1218393"/>
            <a:chOff x="1302902" y="1148960"/>
            <a:chExt cx="3343325" cy="1218393"/>
          </a:xfrm>
          <a:solidFill>
            <a:srgbClr val="FFFFFF">
              <a:alpha val="30196"/>
            </a:srgb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81C19C-4C5B-9F22-4E5D-230E2E49F79D}"/>
                </a:ext>
              </a:extLst>
            </p:cNvPr>
            <p:cNvSpPr/>
            <p:nvPr/>
          </p:nvSpPr>
          <p:spPr>
            <a:xfrm rot="1528226">
              <a:off x="1333655" y="1148960"/>
              <a:ext cx="3312572" cy="1218393"/>
            </a:xfrm>
            <a:custGeom>
              <a:avLst/>
              <a:gdLst/>
              <a:ahLst/>
              <a:cxnLst/>
              <a:rect l="0" t="0" r="r" b="b"/>
              <a:pathLst>
                <a:path w="7568" h="1191">
                  <a:moveTo>
                    <a:pt x="0" y="1006"/>
                  </a:moveTo>
                  <a:lnTo>
                    <a:pt x="0" y="185"/>
                  </a:lnTo>
                  <a:cubicBezTo>
                    <a:pt x="0" y="173"/>
                    <a:pt x="1" y="161"/>
                    <a:pt x="4" y="149"/>
                  </a:cubicBezTo>
                  <a:cubicBezTo>
                    <a:pt x="6" y="137"/>
                    <a:pt x="10" y="125"/>
                    <a:pt x="14" y="114"/>
                  </a:cubicBezTo>
                  <a:cubicBezTo>
                    <a:pt x="19" y="103"/>
                    <a:pt x="25" y="92"/>
                    <a:pt x="31" y="82"/>
                  </a:cubicBezTo>
                  <a:cubicBezTo>
                    <a:pt x="38" y="72"/>
                    <a:pt x="46" y="63"/>
                    <a:pt x="55" y="54"/>
                  </a:cubicBezTo>
                  <a:cubicBezTo>
                    <a:pt x="64" y="45"/>
                    <a:pt x="73" y="38"/>
                    <a:pt x="83" y="31"/>
                  </a:cubicBezTo>
                  <a:cubicBezTo>
                    <a:pt x="94" y="24"/>
                    <a:pt x="104" y="19"/>
                    <a:pt x="115" y="14"/>
                  </a:cubicBezTo>
                  <a:cubicBezTo>
                    <a:pt x="127" y="9"/>
                    <a:pt x="138" y="6"/>
                    <a:pt x="150" y="3"/>
                  </a:cubicBezTo>
                  <a:cubicBezTo>
                    <a:pt x="162" y="1"/>
                    <a:pt x="174" y="0"/>
                    <a:pt x="186" y="0"/>
                  </a:cubicBezTo>
                  <a:lnTo>
                    <a:pt x="7383" y="0"/>
                  </a:lnTo>
                  <a:cubicBezTo>
                    <a:pt x="7395" y="0"/>
                    <a:pt x="7407" y="1"/>
                    <a:pt x="7419" y="3"/>
                  </a:cubicBezTo>
                  <a:cubicBezTo>
                    <a:pt x="7431" y="6"/>
                    <a:pt x="7443" y="9"/>
                    <a:pt x="7454" y="14"/>
                  </a:cubicBezTo>
                  <a:cubicBezTo>
                    <a:pt x="7465" y="19"/>
                    <a:pt x="7476" y="24"/>
                    <a:pt x="7486" y="31"/>
                  </a:cubicBezTo>
                  <a:cubicBezTo>
                    <a:pt x="7496" y="38"/>
                    <a:pt x="7505" y="45"/>
                    <a:pt x="7514" y="54"/>
                  </a:cubicBezTo>
                  <a:cubicBezTo>
                    <a:pt x="7523" y="63"/>
                    <a:pt x="7530" y="72"/>
                    <a:pt x="7537" y="82"/>
                  </a:cubicBezTo>
                  <a:cubicBezTo>
                    <a:pt x="7544" y="92"/>
                    <a:pt x="7549" y="103"/>
                    <a:pt x="7554" y="114"/>
                  </a:cubicBezTo>
                  <a:cubicBezTo>
                    <a:pt x="7559" y="125"/>
                    <a:pt x="7562" y="137"/>
                    <a:pt x="7565" y="149"/>
                  </a:cubicBezTo>
                  <a:cubicBezTo>
                    <a:pt x="7567" y="161"/>
                    <a:pt x="7568" y="173"/>
                    <a:pt x="7568" y="185"/>
                  </a:cubicBezTo>
                  <a:lnTo>
                    <a:pt x="7568" y="1006"/>
                  </a:lnTo>
                  <a:cubicBezTo>
                    <a:pt x="7568" y="1018"/>
                    <a:pt x="7567" y="1030"/>
                    <a:pt x="7565" y="1042"/>
                  </a:cubicBezTo>
                  <a:cubicBezTo>
                    <a:pt x="7562" y="1054"/>
                    <a:pt x="7559" y="1066"/>
                    <a:pt x="7554" y="1077"/>
                  </a:cubicBezTo>
                  <a:cubicBezTo>
                    <a:pt x="7549" y="1088"/>
                    <a:pt x="7544" y="1099"/>
                    <a:pt x="7537" y="1109"/>
                  </a:cubicBezTo>
                  <a:cubicBezTo>
                    <a:pt x="7530" y="1119"/>
                    <a:pt x="7523" y="1129"/>
                    <a:pt x="7514" y="1137"/>
                  </a:cubicBezTo>
                  <a:cubicBezTo>
                    <a:pt x="7505" y="1146"/>
                    <a:pt x="7496" y="1153"/>
                    <a:pt x="7486" y="1160"/>
                  </a:cubicBezTo>
                  <a:cubicBezTo>
                    <a:pt x="7476" y="1167"/>
                    <a:pt x="7465" y="1173"/>
                    <a:pt x="7454" y="1177"/>
                  </a:cubicBezTo>
                  <a:cubicBezTo>
                    <a:pt x="7443" y="1182"/>
                    <a:pt x="7431" y="1185"/>
                    <a:pt x="7419" y="1188"/>
                  </a:cubicBezTo>
                  <a:cubicBezTo>
                    <a:pt x="7407" y="1190"/>
                    <a:pt x="7395" y="1191"/>
                    <a:pt x="7383" y="1191"/>
                  </a:cubicBezTo>
                  <a:lnTo>
                    <a:pt x="186" y="1191"/>
                  </a:lnTo>
                  <a:cubicBezTo>
                    <a:pt x="174" y="1191"/>
                    <a:pt x="162" y="1190"/>
                    <a:pt x="150" y="1188"/>
                  </a:cubicBezTo>
                  <a:cubicBezTo>
                    <a:pt x="138" y="1185"/>
                    <a:pt x="127" y="1182"/>
                    <a:pt x="115" y="1177"/>
                  </a:cubicBezTo>
                  <a:cubicBezTo>
                    <a:pt x="104" y="1173"/>
                    <a:pt x="94" y="1167"/>
                    <a:pt x="83" y="1160"/>
                  </a:cubicBezTo>
                  <a:cubicBezTo>
                    <a:pt x="73" y="1153"/>
                    <a:pt x="64" y="1146"/>
                    <a:pt x="55" y="1137"/>
                  </a:cubicBezTo>
                  <a:cubicBezTo>
                    <a:pt x="46" y="1129"/>
                    <a:pt x="38" y="1119"/>
                    <a:pt x="31" y="1109"/>
                  </a:cubicBezTo>
                  <a:cubicBezTo>
                    <a:pt x="25" y="1099"/>
                    <a:pt x="19" y="1088"/>
                    <a:pt x="14" y="1077"/>
                  </a:cubicBezTo>
                  <a:cubicBezTo>
                    <a:pt x="10" y="1066"/>
                    <a:pt x="6" y="1054"/>
                    <a:pt x="4" y="1042"/>
                  </a:cubicBezTo>
                  <a:cubicBezTo>
                    <a:pt x="1" y="1030"/>
                    <a:pt x="0" y="1018"/>
                    <a:pt x="0" y="1006"/>
                  </a:cubicBezTo>
                  <a:close/>
                </a:path>
              </a:pathLst>
            </a:custGeom>
            <a:grpFill/>
            <a:ln w="19050">
              <a:solidFill>
                <a:srgbClr val="C00000"/>
              </a:solidFill>
              <a:miter/>
              <a:extLst>
                <a:ext uri="{C807C97D-BFC1-408E-A445-0C87EB9F89A2}">
                  <ask:lineSketchStyleProps xmlns:ask="http://schemas.microsoft.com/office/drawing/2018/sketchyshapes" sd="3356984581">
                    <a:custGeom>
                      <a:avLst/>
                      <a:gdLst>
                        <a:gd name="csX0" fmla="*/ 0 w 2724480"/>
                        <a:gd name="csY0" fmla="*/ 362173 h 428760"/>
                        <a:gd name="csX1" fmla="*/ 0 w 2724480"/>
                        <a:gd name="csY1" fmla="*/ 66586 h 428760"/>
                        <a:gd name="csX2" fmla="*/ 1362 w 2724480"/>
                        <a:gd name="csY2" fmla="*/ 53637 h 428760"/>
                        <a:gd name="csX3" fmla="*/ 4904 w 2724480"/>
                        <a:gd name="csY3" fmla="*/ 41032 h 428760"/>
                        <a:gd name="csX4" fmla="*/ 11170 w 2724480"/>
                        <a:gd name="csY4" fmla="*/ 29498 h 428760"/>
                        <a:gd name="csX5" fmla="*/ 19888 w 2724480"/>
                        <a:gd name="csY5" fmla="*/ 19422 h 428760"/>
                        <a:gd name="csX6" fmla="*/ 29969 w 2724480"/>
                        <a:gd name="csY6" fmla="*/ 11147 h 428760"/>
                        <a:gd name="csX7" fmla="*/ 41412 w 2724480"/>
                        <a:gd name="csY7" fmla="*/ 5059 h 428760"/>
                        <a:gd name="csX8" fmla="*/ 53944 w 2724480"/>
                        <a:gd name="csY8" fmla="*/ 1071 h 428760"/>
                        <a:gd name="csX9" fmla="*/ 67022 w 2724480"/>
                        <a:gd name="csY9" fmla="*/ 0 h 428760"/>
                        <a:gd name="csX10" fmla="*/ 688857 w 2724480"/>
                        <a:gd name="csY10" fmla="*/ 0 h 428760"/>
                        <a:gd name="csX11" fmla="*/ 1284783 w 2724480"/>
                        <a:gd name="csY11" fmla="*/ 0 h 428760"/>
                        <a:gd name="csX12" fmla="*/ 1984347 w 2724480"/>
                        <a:gd name="csY12" fmla="*/ 0 h 428760"/>
                        <a:gd name="csX13" fmla="*/ 2658002 w 2724480"/>
                        <a:gd name="csY13" fmla="*/ 0 h 428760"/>
                        <a:gd name="csX14" fmla="*/ 2670807 w 2724480"/>
                        <a:gd name="csY14" fmla="*/ 1071 h 428760"/>
                        <a:gd name="csX15" fmla="*/ 2683340 w 2724480"/>
                        <a:gd name="csY15" fmla="*/ 5059 h 428760"/>
                        <a:gd name="csX16" fmla="*/ 2695055 w 2724480"/>
                        <a:gd name="csY16" fmla="*/ 11147 h 428760"/>
                        <a:gd name="csX17" fmla="*/ 2705136 w 2724480"/>
                        <a:gd name="csY17" fmla="*/ 19422 h 428760"/>
                        <a:gd name="csX18" fmla="*/ 2713309 w 2724480"/>
                        <a:gd name="csY18" fmla="*/ 29498 h 428760"/>
                        <a:gd name="csX19" fmla="*/ 2719575 w 2724480"/>
                        <a:gd name="csY19" fmla="*/ 41032 h 428760"/>
                        <a:gd name="csX20" fmla="*/ 2723390 w 2724480"/>
                        <a:gd name="csY20" fmla="*/ 53637 h 428760"/>
                        <a:gd name="csX21" fmla="*/ 2724480 w 2724480"/>
                        <a:gd name="csY21" fmla="*/ 66586 h 428760"/>
                        <a:gd name="csX22" fmla="*/ 2724480 w 2724480"/>
                        <a:gd name="csY22" fmla="*/ 362173 h 428760"/>
                        <a:gd name="csX23" fmla="*/ 2723390 w 2724480"/>
                        <a:gd name="csY23" fmla="*/ 375122 h 428760"/>
                        <a:gd name="csX24" fmla="*/ 2719575 w 2724480"/>
                        <a:gd name="csY24" fmla="*/ 387727 h 428760"/>
                        <a:gd name="csX25" fmla="*/ 2713309 w 2724480"/>
                        <a:gd name="csY25" fmla="*/ 399261 h 428760"/>
                        <a:gd name="csX26" fmla="*/ 2705136 w 2724480"/>
                        <a:gd name="csY26" fmla="*/ 409337 h 428760"/>
                        <a:gd name="csX27" fmla="*/ 2695055 w 2724480"/>
                        <a:gd name="csY27" fmla="*/ 417612 h 428760"/>
                        <a:gd name="csX28" fmla="*/ 2683340 w 2724480"/>
                        <a:gd name="csY28" fmla="*/ 423700 h 428760"/>
                        <a:gd name="csX29" fmla="*/ 2670807 w 2724480"/>
                        <a:gd name="csY29" fmla="*/ 427688 h 428760"/>
                        <a:gd name="csX30" fmla="*/ 2658002 w 2724480"/>
                        <a:gd name="csY30" fmla="*/ 428760 h 428760"/>
                        <a:gd name="csX31" fmla="*/ 2087986 w 2724480"/>
                        <a:gd name="csY31" fmla="*/ 428760 h 428760"/>
                        <a:gd name="csX32" fmla="*/ 1388422 w 2724480"/>
                        <a:gd name="csY32" fmla="*/ 428760 h 428760"/>
                        <a:gd name="csX33" fmla="*/ 766587 w 2724480"/>
                        <a:gd name="csY33" fmla="*/ 428760 h 428760"/>
                        <a:gd name="csX34" fmla="*/ 67022 w 2724480"/>
                        <a:gd name="csY34" fmla="*/ 428760 h 428760"/>
                        <a:gd name="csX35" fmla="*/ 53944 w 2724480"/>
                        <a:gd name="csY35" fmla="*/ 427688 h 428760"/>
                        <a:gd name="csX36" fmla="*/ 41412 w 2724480"/>
                        <a:gd name="csY36" fmla="*/ 423700 h 428760"/>
                        <a:gd name="csX37" fmla="*/ 29969 w 2724480"/>
                        <a:gd name="csY37" fmla="*/ 417612 h 428760"/>
                        <a:gd name="csX38" fmla="*/ 19888 w 2724480"/>
                        <a:gd name="csY38" fmla="*/ 409337 h 428760"/>
                        <a:gd name="csX39" fmla="*/ 11170 w 2724480"/>
                        <a:gd name="csY39" fmla="*/ 399261 h 428760"/>
                        <a:gd name="csX40" fmla="*/ 4904 w 2724480"/>
                        <a:gd name="csY40" fmla="*/ 387727 h 428760"/>
                        <a:gd name="csX41" fmla="*/ 1362 w 2724480"/>
                        <a:gd name="csY41" fmla="*/ 375122 h 428760"/>
                        <a:gd name="csX42" fmla="*/ 0 w 2724480"/>
                        <a:gd name="csY42" fmla="*/ 362173 h 42876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</a:cxnLst>
                      <a:rect l="l" t="t" r="r" b="b"/>
                      <a:pathLst>
                        <a:path w="2724480" h="428760" extrusionOk="0">
                          <a:moveTo>
                            <a:pt x="0" y="362173"/>
                          </a:moveTo>
                          <a:cubicBezTo>
                            <a:pt x="-6921" y="299755"/>
                            <a:pt x="13124" y="134475"/>
                            <a:pt x="0" y="66586"/>
                          </a:cubicBezTo>
                          <a:cubicBezTo>
                            <a:pt x="335" y="61645"/>
                            <a:pt x="532" y="58635"/>
                            <a:pt x="1362" y="53637"/>
                          </a:cubicBezTo>
                          <a:cubicBezTo>
                            <a:pt x="3181" y="49461"/>
                            <a:pt x="3342" y="44248"/>
                            <a:pt x="4904" y="41032"/>
                          </a:cubicBezTo>
                          <a:cubicBezTo>
                            <a:pt x="7115" y="37725"/>
                            <a:pt x="9327" y="33976"/>
                            <a:pt x="11170" y="29498"/>
                          </a:cubicBezTo>
                          <a:cubicBezTo>
                            <a:pt x="14250" y="25217"/>
                            <a:pt x="16265" y="22532"/>
                            <a:pt x="19888" y="19422"/>
                          </a:cubicBezTo>
                          <a:cubicBezTo>
                            <a:pt x="23190" y="15888"/>
                            <a:pt x="26415" y="13897"/>
                            <a:pt x="29969" y="11147"/>
                          </a:cubicBezTo>
                          <a:cubicBezTo>
                            <a:pt x="34535" y="8916"/>
                            <a:pt x="36954" y="6548"/>
                            <a:pt x="41412" y="5059"/>
                          </a:cubicBezTo>
                          <a:cubicBezTo>
                            <a:pt x="45844" y="3374"/>
                            <a:pt x="49185" y="1989"/>
                            <a:pt x="53944" y="1071"/>
                          </a:cubicBezTo>
                          <a:cubicBezTo>
                            <a:pt x="58319" y="672"/>
                            <a:pt x="62990" y="-1000"/>
                            <a:pt x="67022" y="0"/>
                          </a:cubicBezTo>
                          <a:cubicBezTo>
                            <a:pt x="290554" y="29510"/>
                            <a:pt x="503466" y="8545"/>
                            <a:pt x="688857" y="0"/>
                          </a:cubicBezTo>
                          <a:cubicBezTo>
                            <a:pt x="874248" y="-8545"/>
                            <a:pt x="991535" y="-29680"/>
                            <a:pt x="1284783" y="0"/>
                          </a:cubicBezTo>
                          <a:cubicBezTo>
                            <a:pt x="1578031" y="29680"/>
                            <a:pt x="1693430" y="-10147"/>
                            <a:pt x="1984347" y="0"/>
                          </a:cubicBezTo>
                          <a:cubicBezTo>
                            <a:pt x="2275264" y="10147"/>
                            <a:pt x="2428454" y="31273"/>
                            <a:pt x="2658002" y="0"/>
                          </a:cubicBezTo>
                          <a:cubicBezTo>
                            <a:pt x="2661795" y="239"/>
                            <a:pt x="2666447" y="-49"/>
                            <a:pt x="2670807" y="1071"/>
                          </a:cubicBezTo>
                          <a:cubicBezTo>
                            <a:pt x="2674973" y="1193"/>
                            <a:pt x="2680010" y="3710"/>
                            <a:pt x="2683340" y="5059"/>
                          </a:cubicBezTo>
                          <a:cubicBezTo>
                            <a:pt x="2687436" y="6633"/>
                            <a:pt x="2692156" y="8188"/>
                            <a:pt x="2695055" y="11147"/>
                          </a:cubicBezTo>
                          <a:cubicBezTo>
                            <a:pt x="2697953" y="14256"/>
                            <a:pt x="2701850" y="15454"/>
                            <a:pt x="2705136" y="19422"/>
                          </a:cubicBezTo>
                          <a:cubicBezTo>
                            <a:pt x="2708624" y="21757"/>
                            <a:pt x="2711007" y="26380"/>
                            <a:pt x="2713309" y="29498"/>
                          </a:cubicBezTo>
                          <a:cubicBezTo>
                            <a:pt x="2714960" y="33676"/>
                            <a:pt x="2717861" y="36421"/>
                            <a:pt x="2719575" y="41032"/>
                          </a:cubicBezTo>
                          <a:cubicBezTo>
                            <a:pt x="2720595" y="44947"/>
                            <a:pt x="2722863" y="48895"/>
                            <a:pt x="2723390" y="53637"/>
                          </a:cubicBezTo>
                          <a:cubicBezTo>
                            <a:pt x="2724950" y="58649"/>
                            <a:pt x="2724455" y="61864"/>
                            <a:pt x="2724480" y="66586"/>
                          </a:cubicBezTo>
                          <a:cubicBezTo>
                            <a:pt x="2720204" y="200879"/>
                            <a:pt x="2718596" y="218199"/>
                            <a:pt x="2724480" y="362173"/>
                          </a:cubicBezTo>
                          <a:cubicBezTo>
                            <a:pt x="2724439" y="366607"/>
                            <a:pt x="2725231" y="370900"/>
                            <a:pt x="2723390" y="375122"/>
                          </a:cubicBezTo>
                          <a:cubicBezTo>
                            <a:pt x="2721905" y="380132"/>
                            <a:pt x="2721231" y="384045"/>
                            <a:pt x="2719575" y="387727"/>
                          </a:cubicBezTo>
                          <a:cubicBezTo>
                            <a:pt x="2717727" y="391410"/>
                            <a:pt x="2715451" y="395584"/>
                            <a:pt x="2713309" y="399261"/>
                          </a:cubicBezTo>
                          <a:cubicBezTo>
                            <a:pt x="2711492" y="403139"/>
                            <a:pt x="2707634" y="406836"/>
                            <a:pt x="2705136" y="409337"/>
                          </a:cubicBezTo>
                          <a:cubicBezTo>
                            <a:pt x="2702374" y="412632"/>
                            <a:pt x="2698372" y="414116"/>
                            <a:pt x="2695055" y="417612"/>
                          </a:cubicBezTo>
                          <a:cubicBezTo>
                            <a:pt x="2690886" y="420615"/>
                            <a:pt x="2686971" y="423169"/>
                            <a:pt x="2683340" y="423700"/>
                          </a:cubicBezTo>
                          <a:cubicBezTo>
                            <a:pt x="2680044" y="425173"/>
                            <a:pt x="2675390" y="426568"/>
                            <a:pt x="2670807" y="427688"/>
                          </a:cubicBezTo>
                          <a:cubicBezTo>
                            <a:pt x="2665603" y="427969"/>
                            <a:pt x="2661796" y="428108"/>
                            <a:pt x="2658002" y="428760"/>
                          </a:cubicBezTo>
                          <a:cubicBezTo>
                            <a:pt x="2465615" y="401551"/>
                            <a:pt x="2355295" y="451241"/>
                            <a:pt x="2087986" y="428760"/>
                          </a:cubicBezTo>
                          <a:cubicBezTo>
                            <a:pt x="1820677" y="406279"/>
                            <a:pt x="1529660" y="450402"/>
                            <a:pt x="1388422" y="428760"/>
                          </a:cubicBezTo>
                          <a:cubicBezTo>
                            <a:pt x="1247184" y="407118"/>
                            <a:pt x="923477" y="455597"/>
                            <a:pt x="766587" y="428760"/>
                          </a:cubicBezTo>
                          <a:cubicBezTo>
                            <a:pt x="609697" y="401923"/>
                            <a:pt x="410877" y="420110"/>
                            <a:pt x="67022" y="428760"/>
                          </a:cubicBezTo>
                          <a:cubicBezTo>
                            <a:pt x="62355" y="428420"/>
                            <a:pt x="59005" y="427965"/>
                            <a:pt x="53944" y="427688"/>
                          </a:cubicBezTo>
                          <a:cubicBezTo>
                            <a:pt x="49782" y="425696"/>
                            <a:pt x="46050" y="425610"/>
                            <a:pt x="41412" y="423700"/>
                          </a:cubicBezTo>
                          <a:cubicBezTo>
                            <a:pt x="37519" y="422138"/>
                            <a:pt x="33575" y="420736"/>
                            <a:pt x="29969" y="417612"/>
                          </a:cubicBezTo>
                          <a:cubicBezTo>
                            <a:pt x="26740" y="414910"/>
                            <a:pt x="22882" y="412528"/>
                            <a:pt x="19888" y="409337"/>
                          </a:cubicBezTo>
                          <a:cubicBezTo>
                            <a:pt x="16712" y="406345"/>
                            <a:pt x="14172" y="402127"/>
                            <a:pt x="11170" y="399261"/>
                          </a:cubicBezTo>
                          <a:cubicBezTo>
                            <a:pt x="9344" y="395354"/>
                            <a:pt x="7383" y="391473"/>
                            <a:pt x="4904" y="387727"/>
                          </a:cubicBezTo>
                          <a:cubicBezTo>
                            <a:pt x="4167" y="384230"/>
                            <a:pt x="2793" y="379969"/>
                            <a:pt x="1362" y="375122"/>
                          </a:cubicBezTo>
                          <a:cubicBezTo>
                            <a:pt x="-404" y="370226"/>
                            <a:pt x="-156" y="366382"/>
                            <a:pt x="0" y="36217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lIns="9360" tIns="9360" rIns="9360" bIns="9360" anchor="t">
              <a:noAutofit/>
            </a:bodyPr>
            <a:lstStyle/>
            <a:p>
              <a:endParaRPr lang="en-US" sz="2400" b="0" u="none" strike="noStrike">
                <a:solidFill>
                  <a:srgbClr val="C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FC539F3-B6B3-0FE0-B445-903EB38206AA}"/>
                </a:ext>
              </a:extLst>
            </p:cNvPr>
            <p:cNvSpPr txBox="1"/>
            <p:nvPr/>
          </p:nvSpPr>
          <p:spPr>
            <a:xfrm rot="1528226">
              <a:off x="1302902" y="1319422"/>
              <a:ext cx="3320418" cy="677108"/>
            </a:xfrm>
            <a:prstGeom prst="rect">
              <a:avLst/>
            </a:prstGeom>
            <a:grp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Do not enter</a:t>
              </a:r>
            </a:p>
            <a:p>
              <a:pPr algn="ctr"/>
              <a:r>
                <a:rPr lang="en-US" sz="2200" b="0" u="none" strike="noStrike" dirty="0">
                  <a:solidFill>
                    <a:srgbClr val="C00000"/>
                  </a:solidFill>
                  <a:effectLst/>
                  <a:uFillTx/>
                  <a:latin typeface="SourceCodePro"/>
                  <a:ea typeface="SourceCodePro"/>
                </a:rPr>
                <a:t>EARTHQUAKE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375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5209-0A49-C25D-9BF7-BC6B4738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raunces-72pt-SemiBold-NonWonky"/>
              </a:rPr>
              <a:t>What happened?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6EAB93-139B-2831-A7E3-B1F34DDB6311}"/>
              </a:ext>
            </a:extLst>
          </p:cNvPr>
          <p:cNvSpPr txBox="1"/>
          <p:nvPr/>
        </p:nvSpPr>
        <p:spPr>
          <a:xfrm>
            <a:off x="838200" y="1690688"/>
            <a:ext cx="9549440" cy="46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Wrong count</a:t>
            </a:r>
            <a:r>
              <a:rPr lang="en-US" sz="2200" dirty="0"/>
              <a:t> 			Who wrote the same state at the same time?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Crash</a:t>
            </a:r>
            <a:r>
              <a:rPr lang="en-US" sz="2200" dirty="0"/>
              <a:t> 				What outlived the object it touched?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Silence			</a:t>
            </a:r>
            <a:r>
              <a:rPr lang="en-US" sz="2200" dirty="0"/>
              <a:t>Why can nobody make progress?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Slow but correct</a:t>
            </a:r>
            <a:r>
              <a:rPr lang="en-US" sz="2200" dirty="0"/>
              <a:t> 		Where did parallelism go?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Déjà vu</a:t>
            </a:r>
            <a:r>
              <a:rPr lang="en-US" sz="2200" dirty="0"/>
              <a:t> 			What changed while we looked away?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endParaRPr lang="en-US" sz="2200" dirty="0"/>
          </a:p>
          <a:p>
            <a:pPr algn="ctr">
              <a:lnSpc>
                <a:spcPct val="150000"/>
              </a:lnSpc>
            </a:pPr>
            <a:r>
              <a:rPr lang="en-US" sz="2200" dirty="0"/>
              <a:t>The rest of the talk is the detective story</a:t>
            </a:r>
            <a:endParaRPr lang="en-US" sz="2200" b="1" dirty="0"/>
          </a:p>
          <a:p>
            <a:pPr algn="ctr">
              <a:lnSpc>
                <a:spcPct val="150000"/>
              </a:lnSpc>
            </a:pPr>
            <a:r>
              <a:rPr lang="en-US" sz="2200" b="1" dirty="0"/>
              <a:t>Which monster caused each symptom?</a:t>
            </a:r>
          </a:p>
        </p:txBody>
      </p:sp>
    </p:spTree>
    <p:extLst>
      <p:ext uri="{BB962C8B-B14F-4D97-AF65-F5344CB8AC3E}">
        <p14:creationId xmlns:p14="http://schemas.microsoft.com/office/powerpoint/2010/main" val="408313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7FA37D-0073-7AD8-40A5-75AAB88265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9384" y="1439417"/>
            <a:ext cx="7035800" cy="50511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4DC7E0-4549-D192-261E-DB55AC81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Welcome to the monster ZOO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C0AB9-585D-D366-9813-6D9BAB99F5BF}"/>
              </a:ext>
            </a:extLst>
          </p:cNvPr>
          <p:cNvSpPr txBox="1"/>
          <p:nvPr/>
        </p:nvSpPr>
        <p:spPr>
          <a:xfrm rot="19449913">
            <a:off x="1043612" y="3302761"/>
            <a:ext cx="9557443" cy="430887"/>
          </a:xfrm>
          <a:prstGeom prst="rect">
            <a:avLst/>
          </a:prstGeom>
          <a:solidFill>
            <a:srgbClr val="FFFFFF">
              <a:alpha val="69804"/>
            </a:srgbClr>
          </a:solidFill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2800" b="0" u="none" strike="noStrike" dirty="0">
                <a:solidFill>
                  <a:srgbClr val="C00000"/>
                </a:solidFill>
                <a:effectLst/>
                <a:uFillTx/>
                <a:latin typeface="SourceCodePro"/>
                <a:ea typeface="SourceCodePro"/>
              </a:rPr>
              <a:t>Please keep your hands inside the critical section at all times</a:t>
            </a:r>
          </a:p>
        </p:txBody>
      </p:sp>
    </p:spTree>
    <p:extLst>
      <p:ext uri="{BB962C8B-B14F-4D97-AF65-F5344CB8AC3E}">
        <p14:creationId xmlns:p14="http://schemas.microsoft.com/office/powerpoint/2010/main" val="230323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2221-DB45-5083-DBB4-E23450C46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920F-8277-33DA-3FAC-D701FEA4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raunces-72pt-SemiBold-NonWonky"/>
              </a:rPr>
              <a:t>Zookeeper rule #1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68231-337C-444E-5AB7-0663C00B839F}"/>
              </a:ext>
            </a:extLst>
          </p:cNvPr>
          <p:cNvSpPr txBox="1"/>
          <p:nvPr/>
        </p:nvSpPr>
        <p:spPr>
          <a:xfrm>
            <a:off x="838200" y="1614196"/>
            <a:ext cx="57296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Monsters don’t attack every visit. </a:t>
            </a:r>
          </a:p>
          <a:p>
            <a:r>
              <a:rPr lang="en-US" sz="2200" i="1" dirty="0">
                <a:latin typeface="SourceSans3ExtraLight"/>
              </a:rPr>
              <a:t>That’s exactly why they are so good at hiding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BE98B3-C669-59F7-D8E3-6B40A9080A63}"/>
              </a:ext>
            </a:extLst>
          </p:cNvPr>
          <p:cNvSpPr txBox="1"/>
          <p:nvPr/>
        </p:nvSpPr>
        <p:spPr>
          <a:xfrm>
            <a:off x="838199" y="2846697"/>
            <a:ext cx="9973733" cy="309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concurrency bug is a </a:t>
            </a:r>
            <a:r>
              <a:rPr lang="en-US" sz="2200" b="1" dirty="0"/>
              <a:t>possible</a:t>
            </a:r>
            <a:r>
              <a:rPr lang="en-US" sz="2200" dirty="0"/>
              <a:t> interleaving, not a guaranteed 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Your test suite sees a handful of </a:t>
            </a:r>
            <a:r>
              <a:rPr lang="en-US" sz="2200" dirty="0" err="1"/>
              <a:t>interleavings</a:t>
            </a:r>
            <a:r>
              <a:rPr lang="en-US" sz="2200" dirty="0"/>
              <a:t> - production sees tons of them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narrower the timing window, the longer the monster sleeps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Logging and debugging can change the schedule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"It works on my machine" means the monster doesn't like the taste of your machine...yet</a:t>
            </a:r>
          </a:p>
        </p:txBody>
      </p:sp>
    </p:spTree>
    <p:extLst>
      <p:ext uri="{BB962C8B-B14F-4D97-AF65-F5344CB8AC3E}">
        <p14:creationId xmlns:p14="http://schemas.microsoft.com/office/powerpoint/2010/main" val="137639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4CF75-D382-98C7-9B6E-D81F0BD1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858A-C50B-38B2-7D7D-2F92AE0E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raunces-72pt-SemiBold-NonWonky"/>
              </a:rPr>
              <a:t>How to read a monster card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6AA9BD-CAC1-DCD7-5552-A10E9B0D7D1B}"/>
              </a:ext>
            </a:extLst>
          </p:cNvPr>
          <p:cNvSpPr txBox="1"/>
          <p:nvPr/>
        </p:nvSpPr>
        <p:spPr>
          <a:xfrm>
            <a:off x="4765040" y="1493724"/>
            <a:ext cx="7142480" cy="46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/>
              <a:t>Each monster leaves four clues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Habitat		</a:t>
            </a:r>
            <a:r>
              <a:rPr lang="en-US" sz="2200" dirty="0"/>
              <a:t>where it nests in real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 err="1"/>
              <a:t>Behaviour</a:t>
            </a:r>
            <a:r>
              <a:rPr lang="en-US" sz="2200" dirty="0"/>
              <a:t> 		what it does to your program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Camouflage	</a:t>
            </a:r>
            <a:r>
              <a:rPr lang="en-US" sz="2200" dirty="0"/>
              <a:t>why you didn't see it in review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/>
              <a:t>Taming		</a:t>
            </a:r>
            <a:r>
              <a:rPr lang="en-US" sz="2200" dirty="0"/>
              <a:t>how to keep it behind bars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Collect them all. No silver bullets included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E43487-295C-D489-8903-C72114DCB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74" y="1427684"/>
            <a:ext cx="3766748" cy="4746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CE793D-8A06-5AEF-2053-6F46E324E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828" y="2448560"/>
            <a:ext cx="621358" cy="573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DB2E70-4180-FF0D-B2AA-160060EE1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7187" y="3088640"/>
            <a:ext cx="561030" cy="4909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E9D97A-8E35-A80C-B2A5-A31E722849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878" y="3615953"/>
            <a:ext cx="519860" cy="4341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DE541C-74F9-0FD8-7325-A736F002B1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1040" y="4096694"/>
            <a:ext cx="453666" cy="48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09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6234A-7FBE-8D75-1FDD-8AAEBCF3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DE5D-39B9-5ACF-A357-9153AC44E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Zone 1: The Petting ZOO 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D7A6149-18B0-3037-F8A1-4A5A961D31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i="1" dirty="0">
              <a:latin typeface="SourceSans3ExtraLight"/>
            </a:endParaRPr>
          </a:p>
          <a:p>
            <a:r>
              <a:rPr lang="en-US" i="1" dirty="0">
                <a:latin typeface="SourceSans3ExtraLight"/>
              </a:rPr>
              <a:t>Small. Fluffy. Found in every codebase.</a:t>
            </a:r>
          </a:p>
          <a:p>
            <a:endParaRPr lang="en-US" i="1" dirty="0">
              <a:latin typeface="SourceSans3ExtraLight"/>
            </a:endParaRPr>
          </a:p>
          <a:p>
            <a:r>
              <a:rPr lang="en-US" i="1" dirty="0">
                <a:latin typeface="SourceSans3ExtraLight"/>
              </a:rPr>
              <a:t>Visitors often try to take these home. Visitors are often wrong</a:t>
            </a:r>
          </a:p>
        </p:txBody>
      </p:sp>
    </p:spTree>
    <p:extLst>
      <p:ext uri="{BB962C8B-B14F-4D97-AF65-F5344CB8AC3E}">
        <p14:creationId xmlns:p14="http://schemas.microsoft.com/office/powerpoint/2010/main" val="3665935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F8B9-2E0E-7E62-BF1B-CD00FB1A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1F6D-6162-A09F-BA07-58B06D0E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Greedy Goat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C1E05B-2E8C-2086-420A-5723C584F27B}"/>
              </a:ext>
            </a:extLst>
          </p:cNvPr>
          <p:cNvSpPr txBox="1"/>
          <p:nvPr/>
        </p:nvSpPr>
        <p:spPr>
          <a:xfrm>
            <a:off x="838200" y="4040267"/>
            <a:ext cx="101999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Friendly. Always hungry. Great with kids.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Eats leaves from little hands, snacks from backpacks, the power cord to its enclosure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… and your updates.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A5B08D-267C-27CD-F443-BDD2BEF53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3897" y="687478"/>
            <a:ext cx="2059903" cy="200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95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4187-7C0D-B2D8-A5EC-C82B6D3F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2BD3-DE9A-888A-6381-74ED62734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Greedy Goat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1B8E6-1EB9-6200-EE6E-1B26DA4A3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SourceSans3"/>
                <a:ea typeface="SourceSans3"/>
              </a:rPr>
              <a:t>Two gates, one visitor counter:</a:t>
            </a:r>
            <a:endParaRPr lang="en-US" sz="220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int visitors = 0;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north_gate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 for(int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	++visitors; });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south_gate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 for(int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	++visitors; });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65A2543-483E-B6EA-F229-E4F4328852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3897" y="687478"/>
            <a:ext cx="2059903" cy="200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1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ADFB-BDCA-2CE8-C0AA-89518279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E279A-4EB3-9987-EA43-30C021576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Greedy Goat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3F88-175D-C1BB-940C-99E64E2E6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latin typeface="SourceSans3"/>
                <a:ea typeface="SourceSans3"/>
              </a:rPr>
              <a:t>Two gates, one visitor counter:</a:t>
            </a:r>
            <a:endParaRPr lang="en-US" sz="220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int visitors = 0;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north_gate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 for(int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	++visitors; });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south_gate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 for(int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	++visitors; });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11C30-AADE-A41D-B6E4-54D5F46E2564}"/>
              </a:ext>
            </a:extLst>
          </p:cNvPr>
          <p:cNvSpPr txBox="1"/>
          <p:nvPr/>
        </p:nvSpPr>
        <p:spPr>
          <a:xfrm>
            <a:off x="9047127" y="3539079"/>
            <a:ext cx="2486772" cy="257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1A1A1A"/>
                </a:solidFill>
                <a:latin typeface="SourceSans3ExtraLight"/>
                <a:ea typeface="SourceSans3ExtraLight"/>
              </a:rPr>
              <a:t>Expected: </a:t>
            </a:r>
            <a:r>
              <a:rPr lang="en-US" sz="2200" dirty="0">
                <a:solidFill>
                  <a:srgbClr val="1A1A1A"/>
                </a:solidFill>
                <a:latin typeface="SourceSans3ExtraLight"/>
                <a:ea typeface="SourceSans3ExtraLight"/>
              </a:rPr>
              <a:t>20 000</a:t>
            </a:r>
          </a:p>
          <a:p>
            <a:pPr>
              <a:lnSpc>
                <a:spcPct val="150000"/>
              </a:lnSpc>
            </a:pPr>
            <a:endParaRPr lang="en-US" sz="2200" b="1" dirty="0">
              <a:latin typeface="SourceSans3ExtraLigh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SourceSans3ExtraLight"/>
              </a:rPr>
              <a:t>Run 1</a:t>
            </a:r>
            <a:r>
              <a:rPr lang="en-US" sz="2200" dirty="0">
                <a:latin typeface="SourceSans3ExtraLight"/>
              </a:rPr>
              <a:t>: 11 482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SourceSans3ExtraLight"/>
              </a:rPr>
              <a:t>Run 2: </a:t>
            </a:r>
            <a:r>
              <a:rPr lang="en-US" sz="2200" dirty="0">
                <a:latin typeface="SourceSans3ExtraLight"/>
              </a:rPr>
              <a:t>19 032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SourceSans3ExtraLight"/>
              </a:rPr>
              <a:t>Run 3: </a:t>
            </a:r>
            <a:r>
              <a:rPr lang="en-US" sz="2200" dirty="0">
                <a:latin typeface="SourceSans3ExtraLight"/>
              </a:rPr>
              <a:t>14 629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74FCDDA-241A-7362-6EA0-B514683C9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3897" y="687478"/>
            <a:ext cx="2059903" cy="200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5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5E927-649F-5BA6-A884-E46BA8517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4EEA984-B96F-F40B-1851-EEC31E0E294C}"/>
              </a:ext>
            </a:extLst>
          </p:cNvPr>
          <p:cNvSpPr txBox="1">
            <a:spLocks/>
          </p:cNvSpPr>
          <p:nvPr/>
        </p:nvSpPr>
        <p:spPr>
          <a:xfrm>
            <a:off x="8492068" y="431800"/>
            <a:ext cx="3014132" cy="1058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  0 0 6 7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B9270A-6F0D-440B-4226-F1FE99B63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Greedy Goat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D8A154-EB52-BD52-1F84-EFEA81A0CE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15500" y="4146680"/>
            <a:ext cx="1525252" cy="148565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18EFC8F-20DE-9E86-696F-D0B37CF9BA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940841" y="2159249"/>
            <a:ext cx="1516460" cy="148565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4AAB18-D7B4-97D8-4D57-1EDE570FCC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4331" y="1597554"/>
            <a:ext cx="1115984" cy="205551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E643BB0-F2B4-5A7E-10FB-4B7C5F2742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616" y="4121671"/>
            <a:ext cx="960100" cy="151066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1BCB8D2-218A-366A-3C0E-DD743A45EDE0}"/>
              </a:ext>
            </a:extLst>
          </p:cNvPr>
          <p:cNvSpPr/>
          <p:nvPr/>
        </p:nvSpPr>
        <p:spPr>
          <a:xfrm>
            <a:off x="8788400" y="661458"/>
            <a:ext cx="355600" cy="506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B55591-C774-C53A-8CF0-F3A38A339B91}"/>
              </a:ext>
            </a:extLst>
          </p:cNvPr>
          <p:cNvSpPr/>
          <p:nvPr/>
        </p:nvSpPr>
        <p:spPr>
          <a:xfrm>
            <a:off x="9211733" y="661458"/>
            <a:ext cx="355600" cy="506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D8D07FA-7A50-22F3-442D-069E3107A307}"/>
              </a:ext>
            </a:extLst>
          </p:cNvPr>
          <p:cNvSpPr/>
          <p:nvPr/>
        </p:nvSpPr>
        <p:spPr>
          <a:xfrm>
            <a:off x="9618136" y="661458"/>
            <a:ext cx="355600" cy="506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EDD0F0-9930-8555-482D-20037BC8B549}"/>
              </a:ext>
            </a:extLst>
          </p:cNvPr>
          <p:cNvSpPr/>
          <p:nvPr/>
        </p:nvSpPr>
        <p:spPr>
          <a:xfrm>
            <a:off x="10041470" y="661458"/>
            <a:ext cx="355600" cy="506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9EB71F-F62A-C0E9-050A-CCD1001FCB70}"/>
              </a:ext>
            </a:extLst>
          </p:cNvPr>
          <p:cNvGrpSpPr/>
          <p:nvPr/>
        </p:nvGrpSpPr>
        <p:grpSpPr>
          <a:xfrm>
            <a:off x="2307373" y="1456661"/>
            <a:ext cx="1683249" cy="960120"/>
            <a:chOff x="2307373" y="1456661"/>
            <a:chExt cx="1683249" cy="960120"/>
          </a:xfrm>
        </p:grpSpPr>
        <p:sp>
          <p:nvSpPr>
            <p:cNvPr id="4" name="Thought Bubble: Cloud 3">
              <a:extLst>
                <a:ext uri="{FF2B5EF4-FFF2-40B4-BE49-F238E27FC236}">
                  <a16:creationId xmlns:a16="http://schemas.microsoft.com/office/drawing/2014/main" id="{8DF4463F-7A08-4B24-E8F5-B209E3503202}"/>
                </a:ext>
              </a:extLst>
            </p:cNvPr>
            <p:cNvSpPr/>
            <p:nvPr/>
          </p:nvSpPr>
          <p:spPr>
            <a:xfrm rot="535400">
              <a:off x="2307373" y="1456661"/>
              <a:ext cx="1667987" cy="960120"/>
            </a:xfrm>
            <a:prstGeom prst="cloudCallo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43EDE82-7FAD-5CD0-EBF7-E72317D59153}"/>
                </a:ext>
              </a:extLst>
            </p:cNvPr>
            <p:cNvSpPr txBox="1"/>
            <p:nvPr/>
          </p:nvSpPr>
          <p:spPr>
            <a:xfrm>
              <a:off x="2474162" y="1672871"/>
              <a:ext cx="151646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200" dirty="0">
                  <a:solidFill>
                    <a:srgbClr val="1A1A1A"/>
                  </a:solidFill>
                  <a:latin typeface="SourceSans3"/>
                  <a:ea typeface="SourceSans3"/>
                </a:rPr>
                <a:t>67 + 1 = 68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0D3D7D-CEC4-3567-D07D-5714303F944E}"/>
              </a:ext>
            </a:extLst>
          </p:cNvPr>
          <p:cNvGrpSpPr/>
          <p:nvPr/>
        </p:nvGrpSpPr>
        <p:grpSpPr>
          <a:xfrm flipH="1">
            <a:off x="8015706" y="3730628"/>
            <a:ext cx="1699794" cy="960120"/>
            <a:chOff x="2307373" y="1456661"/>
            <a:chExt cx="1667987" cy="960120"/>
          </a:xfrm>
        </p:grpSpPr>
        <p:sp>
          <p:nvSpPr>
            <p:cNvPr id="17" name="Thought Bubble: Cloud 16">
              <a:extLst>
                <a:ext uri="{FF2B5EF4-FFF2-40B4-BE49-F238E27FC236}">
                  <a16:creationId xmlns:a16="http://schemas.microsoft.com/office/drawing/2014/main" id="{225F9BF5-73DD-AAA3-DC2F-A05A16B576BA}"/>
                </a:ext>
              </a:extLst>
            </p:cNvPr>
            <p:cNvSpPr/>
            <p:nvPr/>
          </p:nvSpPr>
          <p:spPr>
            <a:xfrm rot="535400">
              <a:off x="2307373" y="1456661"/>
              <a:ext cx="1667987" cy="960120"/>
            </a:xfrm>
            <a:prstGeom prst="cloudCallo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0467174-0B21-1512-F177-22F1D426E248}"/>
                </a:ext>
              </a:extLst>
            </p:cNvPr>
            <p:cNvSpPr txBox="1"/>
            <p:nvPr/>
          </p:nvSpPr>
          <p:spPr>
            <a:xfrm>
              <a:off x="2375457" y="1672871"/>
              <a:ext cx="151646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200" dirty="0">
                  <a:solidFill>
                    <a:srgbClr val="1A1A1A"/>
                  </a:solidFill>
                  <a:latin typeface="SourceSans3"/>
                  <a:ea typeface="SourceSans3"/>
                </a:rPr>
                <a:t>67 + 1 = 68</a:t>
              </a:r>
              <a:endParaRPr lang="en-US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4877890F-BBFB-5247-7B44-C6A82A7F1705}"/>
              </a:ext>
            </a:extLst>
          </p:cNvPr>
          <p:cNvSpPr txBox="1">
            <a:spLocks/>
          </p:cNvSpPr>
          <p:nvPr/>
        </p:nvSpPr>
        <p:spPr>
          <a:xfrm>
            <a:off x="8489020" y="428752"/>
            <a:ext cx="3014132" cy="10583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  0 0 6 8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80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133 0.03333 L -0.01133 0.03333 C -0.01719 0.03241 -0.02292 0.03194 -0.02865 0.03055 C -0.03112 0.03009 -0.0336 0.02893 -0.0362 0.02801 C -0.03841 0.02708 -0.04063 0.02569 -0.04284 0.02523 C -0.04909 0.0243 -0.05534 0.0243 -0.06159 0.02407 C -0.0642 0.02315 -0.06667 0.02245 -0.06914 0.0213 C -0.07071 0.0206 -0.07201 0.01852 -0.0737 0.01875 C -0.09414 0.0206 -0.09518 0.02315 -0.11185 0.0294 C -0.11836 0.03171 -0.12487 0.03403 -0.13138 0.03588 C -0.13633 0.0375 -0.14141 0.03819 -0.14636 0.04005 C -0.18399 0.05324 -0.12578 0.0368 -0.17266 0.0493 C -0.19623 0.06551 -0.17565 0.05509 -0.20339 0.05717 C -0.20899 0.05764 -0.21433 0.06018 -0.21992 0.06134 C -0.22266 0.0618 -0.22539 0.06227 -0.22813 0.06273 L -0.25209 0.05856 C -0.25808 0.05764 -0.2642 0.05717 -0.27018 0.05602 C -0.27761 0.0544 -0.28516 0.05255 -0.29258 0.05069 C -0.29688 0.04954 -0.30117 0.04815 -0.30534 0.04653 C -0.31472 0.04329 -0.3237 0.03773 -0.33308 0.03588 L -0.34063 0.03472 L -0.37969 0.03588 C -0.38242 0.03611 -0.38516 0.03634 -0.38789 0.03727 C -0.3892 0.03773 -0.39037 0.03889 -0.39167 0.04005 C -0.39414 0.04213 -0.39662 0.04467 -0.39909 0.04653 C -0.40052 0.04768 -0.40209 0.04838 -0.40365 0.0493 C -0.40495 0.05 -0.40612 0.05116 -0.40742 0.05185 C -0.40834 0.05255 -0.40938 0.05278 -0.41042 0.05324 L -0.41719 0.05602 C -0.42591 0.05509 -0.43464 0.05463 -0.44336 0.05324 C -0.45443 0.05139 -0.46524 0.04653 -0.47565 0.04005 C -0.48229 0.03565 -0.48867 0.03009 -0.49518 0.02523 C -0.49636 0.0243 -0.49766 0.02338 -0.49883 0.02268 C -0.49961 0.02222 -0.50039 0.0213 -0.50117 0.0213 C -0.50143 0.0213 -0.50117 0.02222 -0.50117 0.02268 " pathEditMode="relative" ptsTypes="AAAAAAAAAAAAAAAAAAAAAAAAAAAAAAAAAAA">
                                      <p:cBhvr>
                                        <p:cTn id="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35 0.0088 L 0.00235 0.0088 C 0.00482 0.00741 0.00716 0.00556 0.00977 0.00486 C 0.02565 -0.00069 0.02761 -0.00023 0.04128 -0.00185 C 0.04675 -0.00324 0.05235 -0.00417 0.05782 -0.00579 C 0.06185 -0.00717 0.06563 -0.01111 0.06979 -0.01111 C 0.08425 -0.01111 0.0987 -0.00764 0.11328 -0.00579 C 0.13256 0.01458 0.10482 -0.01412 0.13581 0.01412 C 0.13959 0.01759 0.14284 0.02338 0.14701 0.02616 C 0.16068 0.03495 0.17487 0.04236 0.18894 0.04861 C 0.20677 0.05671 0.22409 0.06806 0.24219 0.07269 L 0.2737 0.08079 L 0.30078 0.07662 C 0.30599 0.07593 0.3112 0.07546 0.31641 0.07408 C 0.32526 0.07153 0.33412 0.06875 0.34271 0.06458 C 0.3905 0.04167 0.32513 0.06204 0.3862 0.04607 C 0.39792 0.0375 0.40912 0.02593 0.42149 0.02083 C 0.4267 0.01852 0.43203 0.01667 0.43724 0.01412 C 0.44024 0.0125 0.4431 0.01019 0.44623 0.0088 C 0.44909 0.00741 0.45222 0.00695 0.45521 0.00602 C 0.45769 0.00533 0.46016 0.0044 0.46263 0.00347 C 0.46771 0.00394 0.47266 0.00394 0.47774 0.00486 C 0.47865 0.00486 0.47969 0.00602 0.48073 0.00602 C 0.48542 0.00602 0.49024 0.00509 0.49493 0.00486 C 0.49688 0.00347 0.49883 0.00116 0.50091 0.0007 C 0.50469 0.00023 0.50847 0.00208 0.51224 0.00208 " pathEditMode="relative" ptsTypes="AAAAAAAAAAAAAAAAAAAAAAAAAA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5A3D-3EB6-D766-830B-CBC87409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8318-7DF0-50C0-50EB-AD37C626A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Greedy Goat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A2FB6-2C5E-2E6D-6508-8389A7363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A1A1A"/>
                </a:solidFill>
                <a:ea typeface="SourceSans3"/>
              </a:rPr>
              <a:t>This is a </a:t>
            </a:r>
            <a:r>
              <a:rPr lang="en-US" sz="2200" b="1" dirty="0">
                <a:solidFill>
                  <a:srgbClr val="1A1A1A"/>
                </a:solidFill>
                <a:ea typeface="SourceSans3"/>
              </a:rPr>
              <a:t>data race</a:t>
            </a:r>
            <a:r>
              <a:rPr lang="en-US" sz="2200" dirty="0">
                <a:solidFill>
                  <a:srgbClr val="1A1A1A"/>
                </a:solidFill>
                <a:ea typeface="SourceSans3"/>
              </a:rPr>
              <a:t> and therefore undefined behavior</a:t>
            </a:r>
          </a:p>
          <a:p>
            <a:pPr marL="0" indent="0">
              <a:buNone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int visitors = 0;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north_gate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 for(int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	++visitors; });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south_gate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 for(int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	++visitors; });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US" sz="2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A40F9B-BD0C-4B78-5971-71084EB45864}"/>
              </a:ext>
            </a:extLst>
          </p:cNvPr>
          <p:cNvGrpSpPr/>
          <p:nvPr/>
        </p:nvGrpSpPr>
        <p:grpSpPr>
          <a:xfrm rot="19361991">
            <a:off x="8290279" y="3361738"/>
            <a:ext cx="3343325" cy="1218393"/>
            <a:chOff x="1302902" y="1148960"/>
            <a:chExt cx="3343325" cy="1218393"/>
          </a:xfrm>
          <a:solidFill>
            <a:srgbClr val="FFFFFF">
              <a:alpha val="30196"/>
            </a:srgb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BAC6A93-D606-A220-02F0-689F2557BBE9}"/>
                </a:ext>
              </a:extLst>
            </p:cNvPr>
            <p:cNvSpPr/>
            <p:nvPr/>
          </p:nvSpPr>
          <p:spPr>
            <a:xfrm rot="1528226">
              <a:off x="1333655" y="1148960"/>
              <a:ext cx="3312572" cy="1218393"/>
            </a:xfrm>
            <a:custGeom>
              <a:avLst/>
              <a:gdLst/>
              <a:ahLst/>
              <a:cxnLst/>
              <a:rect l="0" t="0" r="r" b="b"/>
              <a:pathLst>
                <a:path w="7568" h="1191">
                  <a:moveTo>
                    <a:pt x="0" y="1006"/>
                  </a:moveTo>
                  <a:lnTo>
                    <a:pt x="0" y="185"/>
                  </a:lnTo>
                  <a:cubicBezTo>
                    <a:pt x="0" y="173"/>
                    <a:pt x="1" y="161"/>
                    <a:pt x="4" y="149"/>
                  </a:cubicBezTo>
                  <a:cubicBezTo>
                    <a:pt x="6" y="137"/>
                    <a:pt x="10" y="125"/>
                    <a:pt x="14" y="114"/>
                  </a:cubicBezTo>
                  <a:cubicBezTo>
                    <a:pt x="19" y="103"/>
                    <a:pt x="25" y="92"/>
                    <a:pt x="31" y="82"/>
                  </a:cubicBezTo>
                  <a:cubicBezTo>
                    <a:pt x="38" y="72"/>
                    <a:pt x="46" y="63"/>
                    <a:pt x="55" y="54"/>
                  </a:cubicBezTo>
                  <a:cubicBezTo>
                    <a:pt x="64" y="45"/>
                    <a:pt x="73" y="38"/>
                    <a:pt x="83" y="31"/>
                  </a:cubicBezTo>
                  <a:cubicBezTo>
                    <a:pt x="94" y="24"/>
                    <a:pt x="104" y="19"/>
                    <a:pt x="115" y="14"/>
                  </a:cubicBezTo>
                  <a:cubicBezTo>
                    <a:pt x="127" y="9"/>
                    <a:pt x="138" y="6"/>
                    <a:pt x="150" y="3"/>
                  </a:cubicBezTo>
                  <a:cubicBezTo>
                    <a:pt x="162" y="1"/>
                    <a:pt x="174" y="0"/>
                    <a:pt x="186" y="0"/>
                  </a:cubicBezTo>
                  <a:lnTo>
                    <a:pt x="7383" y="0"/>
                  </a:lnTo>
                  <a:cubicBezTo>
                    <a:pt x="7395" y="0"/>
                    <a:pt x="7407" y="1"/>
                    <a:pt x="7419" y="3"/>
                  </a:cubicBezTo>
                  <a:cubicBezTo>
                    <a:pt x="7431" y="6"/>
                    <a:pt x="7443" y="9"/>
                    <a:pt x="7454" y="14"/>
                  </a:cubicBezTo>
                  <a:cubicBezTo>
                    <a:pt x="7465" y="19"/>
                    <a:pt x="7476" y="24"/>
                    <a:pt x="7486" y="31"/>
                  </a:cubicBezTo>
                  <a:cubicBezTo>
                    <a:pt x="7496" y="38"/>
                    <a:pt x="7505" y="45"/>
                    <a:pt x="7514" y="54"/>
                  </a:cubicBezTo>
                  <a:cubicBezTo>
                    <a:pt x="7523" y="63"/>
                    <a:pt x="7530" y="72"/>
                    <a:pt x="7537" y="82"/>
                  </a:cubicBezTo>
                  <a:cubicBezTo>
                    <a:pt x="7544" y="92"/>
                    <a:pt x="7549" y="103"/>
                    <a:pt x="7554" y="114"/>
                  </a:cubicBezTo>
                  <a:cubicBezTo>
                    <a:pt x="7559" y="125"/>
                    <a:pt x="7562" y="137"/>
                    <a:pt x="7565" y="149"/>
                  </a:cubicBezTo>
                  <a:cubicBezTo>
                    <a:pt x="7567" y="161"/>
                    <a:pt x="7568" y="173"/>
                    <a:pt x="7568" y="185"/>
                  </a:cubicBezTo>
                  <a:lnTo>
                    <a:pt x="7568" y="1006"/>
                  </a:lnTo>
                  <a:cubicBezTo>
                    <a:pt x="7568" y="1018"/>
                    <a:pt x="7567" y="1030"/>
                    <a:pt x="7565" y="1042"/>
                  </a:cubicBezTo>
                  <a:cubicBezTo>
                    <a:pt x="7562" y="1054"/>
                    <a:pt x="7559" y="1066"/>
                    <a:pt x="7554" y="1077"/>
                  </a:cubicBezTo>
                  <a:cubicBezTo>
                    <a:pt x="7549" y="1088"/>
                    <a:pt x="7544" y="1099"/>
                    <a:pt x="7537" y="1109"/>
                  </a:cubicBezTo>
                  <a:cubicBezTo>
                    <a:pt x="7530" y="1119"/>
                    <a:pt x="7523" y="1129"/>
                    <a:pt x="7514" y="1137"/>
                  </a:cubicBezTo>
                  <a:cubicBezTo>
                    <a:pt x="7505" y="1146"/>
                    <a:pt x="7496" y="1153"/>
                    <a:pt x="7486" y="1160"/>
                  </a:cubicBezTo>
                  <a:cubicBezTo>
                    <a:pt x="7476" y="1167"/>
                    <a:pt x="7465" y="1173"/>
                    <a:pt x="7454" y="1177"/>
                  </a:cubicBezTo>
                  <a:cubicBezTo>
                    <a:pt x="7443" y="1182"/>
                    <a:pt x="7431" y="1185"/>
                    <a:pt x="7419" y="1188"/>
                  </a:cubicBezTo>
                  <a:cubicBezTo>
                    <a:pt x="7407" y="1190"/>
                    <a:pt x="7395" y="1191"/>
                    <a:pt x="7383" y="1191"/>
                  </a:cubicBezTo>
                  <a:lnTo>
                    <a:pt x="186" y="1191"/>
                  </a:lnTo>
                  <a:cubicBezTo>
                    <a:pt x="174" y="1191"/>
                    <a:pt x="162" y="1190"/>
                    <a:pt x="150" y="1188"/>
                  </a:cubicBezTo>
                  <a:cubicBezTo>
                    <a:pt x="138" y="1185"/>
                    <a:pt x="127" y="1182"/>
                    <a:pt x="115" y="1177"/>
                  </a:cubicBezTo>
                  <a:cubicBezTo>
                    <a:pt x="104" y="1173"/>
                    <a:pt x="94" y="1167"/>
                    <a:pt x="83" y="1160"/>
                  </a:cubicBezTo>
                  <a:cubicBezTo>
                    <a:pt x="73" y="1153"/>
                    <a:pt x="64" y="1146"/>
                    <a:pt x="55" y="1137"/>
                  </a:cubicBezTo>
                  <a:cubicBezTo>
                    <a:pt x="46" y="1129"/>
                    <a:pt x="38" y="1119"/>
                    <a:pt x="31" y="1109"/>
                  </a:cubicBezTo>
                  <a:cubicBezTo>
                    <a:pt x="25" y="1099"/>
                    <a:pt x="19" y="1088"/>
                    <a:pt x="14" y="1077"/>
                  </a:cubicBezTo>
                  <a:cubicBezTo>
                    <a:pt x="10" y="1066"/>
                    <a:pt x="6" y="1054"/>
                    <a:pt x="4" y="1042"/>
                  </a:cubicBezTo>
                  <a:cubicBezTo>
                    <a:pt x="1" y="1030"/>
                    <a:pt x="0" y="1018"/>
                    <a:pt x="0" y="1006"/>
                  </a:cubicBezTo>
                  <a:close/>
                </a:path>
              </a:pathLst>
            </a:custGeom>
            <a:grpFill/>
            <a:ln w="19050">
              <a:solidFill>
                <a:srgbClr val="C00000"/>
              </a:solidFill>
              <a:miter/>
              <a:extLst>
                <a:ext uri="{C807C97D-BFC1-408E-A445-0C87EB9F89A2}">
                  <ask:lineSketchStyleProps xmlns:ask="http://schemas.microsoft.com/office/drawing/2018/sketchyshapes" sd="3356984581">
                    <a:custGeom>
                      <a:avLst/>
                      <a:gdLst>
                        <a:gd name="csX0" fmla="*/ 0 w 2724480"/>
                        <a:gd name="csY0" fmla="*/ 362173 h 428760"/>
                        <a:gd name="csX1" fmla="*/ 0 w 2724480"/>
                        <a:gd name="csY1" fmla="*/ 66586 h 428760"/>
                        <a:gd name="csX2" fmla="*/ 1362 w 2724480"/>
                        <a:gd name="csY2" fmla="*/ 53637 h 428760"/>
                        <a:gd name="csX3" fmla="*/ 4904 w 2724480"/>
                        <a:gd name="csY3" fmla="*/ 41032 h 428760"/>
                        <a:gd name="csX4" fmla="*/ 11170 w 2724480"/>
                        <a:gd name="csY4" fmla="*/ 29498 h 428760"/>
                        <a:gd name="csX5" fmla="*/ 19888 w 2724480"/>
                        <a:gd name="csY5" fmla="*/ 19422 h 428760"/>
                        <a:gd name="csX6" fmla="*/ 29969 w 2724480"/>
                        <a:gd name="csY6" fmla="*/ 11147 h 428760"/>
                        <a:gd name="csX7" fmla="*/ 41412 w 2724480"/>
                        <a:gd name="csY7" fmla="*/ 5059 h 428760"/>
                        <a:gd name="csX8" fmla="*/ 53944 w 2724480"/>
                        <a:gd name="csY8" fmla="*/ 1071 h 428760"/>
                        <a:gd name="csX9" fmla="*/ 67022 w 2724480"/>
                        <a:gd name="csY9" fmla="*/ 0 h 428760"/>
                        <a:gd name="csX10" fmla="*/ 688857 w 2724480"/>
                        <a:gd name="csY10" fmla="*/ 0 h 428760"/>
                        <a:gd name="csX11" fmla="*/ 1284783 w 2724480"/>
                        <a:gd name="csY11" fmla="*/ 0 h 428760"/>
                        <a:gd name="csX12" fmla="*/ 1984347 w 2724480"/>
                        <a:gd name="csY12" fmla="*/ 0 h 428760"/>
                        <a:gd name="csX13" fmla="*/ 2658002 w 2724480"/>
                        <a:gd name="csY13" fmla="*/ 0 h 428760"/>
                        <a:gd name="csX14" fmla="*/ 2670807 w 2724480"/>
                        <a:gd name="csY14" fmla="*/ 1071 h 428760"/>
                        <a:gd name="csX15" fmla="*/ 2683340 w 2724480"/>
                        <a:gd name="csY15" fmla="*/ 5059 h 428760"/>
                        <a:gd name="csX16" fmla="*/ 2695055 w 2724480"/>
                        <a:gd name="csY16" fmla="*/ 11147 h 428760"/>
                        <a:gd name="csX17" fmla="*/ 2705136 w 2724480"/>
                        <a:gd name="csY17" fmla="*/ 19422 h 428760"/>
                        <a:gd name="csX18" fmla="*/ 2713309 w 2724480"/>
                        <a:gd name="csY18" fmla="*/ 29498 h 428760"/>
                        <a:gd name="csX19" fmla="*/ 2719575 w 2724480"/>
                        <a:gd name="csY19" fmla="*/ 41032 h 428760"/>
                        <a:gd name="csX20" fmla="*/ 2723390 w 2724480"/>
                        <a:gd name="csY20" fmla="*/ 53637 h 428760"/>
                        <a:gd name="csX21" fmla="*/ 2724480 w 2724480"/>
                        <a:gd name="csY21" fmla="*/ 66586 h 428760"/>
                        <a:gd name="csX22" fmla="*/ 2724480 w 2724480"/>
                        <a:gd name="csY22" fmla="*/ 362173 h 428760"/>
                        <a:gd name="csX23" fmla="*/ 2723390 w 2724480"/>
                        <a:gd name="csY23" fmla="*/ 375122 h 428760"/>
                        <a:gd name="csX24" fmla="*/ 2719575 w 2724480"/>
                        <a:gd name="csY24" fmla="*/ 387727 h 428760"/>
                        <a:gd name="csX25" fmla="*/ 2713309 w 2724480"/>
                        <a:gd name="csY25" fmla="*/ 399261 h 428760"/>
                        <a:gd name="csX26" fmla="*/ 2705136 w 2724480"/>
                        <a:gd name="csY26" fmla="*/ 409337 h 428760"/>
                        <a:gd name="csX27" fmla="*/ 2695055 w 2724480"/>
                        <a:gd name="csY27" fmla="*/ 417612 h 428760"/>
                        <a:gd name="csX28" fmla="*/ 2683340 w 2724480"/>
                        <a:gd name="csY28" fmla="*/ 423700 h 428760"/>
                        <a:gd name="csX29" fmla="*/ 2670807 w 2724480"/>
                        <a:gd name="csY29" fmla="*/ 427688 h 428760"/>
                        <a:gd name="csX30" fmla="*/ 2658002 w 2724480"/>
                        <a:gd name="csY30" fmla="*/ 428760 h 428760"/>
                        <a:gd name="csX31" fmla="*/ 2087986 w 2724480"/>
                        <a:gd name="csY31" fmla="*/ 428760 h 428760"/>
                        <a:gd name="csX32" fmla="*/ 1388422 w 2724480"/>
                        <a:gd name="csY32" fmla="*/ 428760 h 428760"/>
                        <a:gd name="csX33" fmla="*/ 766587 w 2724480"/>
                        <a:gd name="csY33" fmla="*/ 428760 h 428760"/>
                        <a:gd name="csX34" fmla="*/ 67022 w 2724480"/>
                        <a:gd name="csY34" fmla="*/ 428760 h 428760"/>
                        <a:gd name="csX35" fmla="*/ 53944 w 2724480"/>
                        <a:gd name="csY35" fmla="*/ 427688 h 428760"/>
                        <a:gd name="csX36" fmla="*/ 41412 w 2724480"/>
                        <a:gd name="csY36" fmla="*/ 423700 h 428760"/>
                        <a:gd name="csX37" fmla="*/ 29969 w 2724480"/>
                        <a:gd name="csY37" fmla="*/ 417612 h 428760"/>
                        <a:gd name="csX38" fmla="*/ 19888 w 2724480"/>
                        <a:gd name="csY38" fmla="*/ 409337 h 428760"/>
                        <a:gd name="csX39" fmla="*/ 11170 w 2724480"/>
                        <a:gd name="csY39" fmla="*/ 399261 h 428760"/>
                        <a:gd name="csX40" fmla="*/ 4904 w 2724480"/>
                        <a:gd name="csY40" fmla="*/ 387727 h 428760"/>
                        <a:gd name="csX41" fmla="*/ 1362 w 2724480"/>
                        <a:gd name="csY41" fmla="*/ 375122 h 428760"/>
                        <a:gd name="csX42" fmla="*/ 0 w 2724480"/>
                        <a:gd name="csY42" fmla="*/ 362173 h 42876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</a:cxnLst>
                      <a:rect l="l" t="t" r="r" b="b"/>
                      <a:pathLst>
                        <a:path w="2724480" h="428760" extrusionOk="0">
                          <a:moveTo>
                            <a:pt x="0" y="362173"/>
                          </a:moveTo>
                          <a:cubicBezTo>
                            <a:pt x="-6921" y="299755"/>
                            <a:pt x="13124" y="134475"/>
                            <a:pt x="0" y="66586"/>
                          </a:cubicBezTo>
                          <a:cubicBezTo>
                            <a:pt x="335" y="61645"/>
                            <a:pt x="532" y="58635"/>
                            <a:pt x="1362" y="53637"/>
                          </a:cubicBezTo>
                          <a:cubicBezTo>
                            <a:pt x="3181" y="49461"/>
                            <a:pt x="3342" y="44248"/>
                            <a:pt x="4904" y="41032"/>
                          </a:cubicBezTo>
                          <a:cubicBezTo>
                            <a:pt x="7115" y="37725"/>
                            <a:pt x="9327" y="33976"/>
                            <a:pt x="11170" y="29498"/>
                          </a:cubicBezTo>
                          <a:cubicBezTo>
                            <a:pt x="14250" y="25217"/>
                            <a:pt x="16265" y="22532"/>
                            <a:pt x="19888" y="19422"/>
                          </a:cubicBezTo>
                          <a:cubicBezTo>
                            <a:pt x="23190" y="15888"/>
                            <a:pt x="26415" y="13897"/>
                            <a:pt x="29969" y="11147"/>
                          </a:cubicBezTo>
                          <a:cubicBezTo>
                            <a:pt x="34535" y="8916"/>
                            <a:pt x="36954" y="6548"/>
                            <a:pt x="41412" y="5059"/>
                          </a:cubicBezTo>
                          <a:cubicBezTo>
                            <a:pt x="45844" y="3374"/>
                            <a:pt x="49185" y="1989"/>
                            <a:pt x="53944" y="1071"/>
                          </a:cubicBezTo>
                          <a:cubicBezTo>
                            <a:pt x="58319" y="672"/>
                            <a:pt x="62990" y="-1000"/>
                            <a:pt x="67022" y="0"/>
                          </a:cubicBezTo>
                          <a:cubicBezTo>
                            <a:pt x="290554" y="29510"/>
                            <a:pt x="503466" y="8545"/>
                            <a:pt x="688857" y="0"/>
                          </a:cubicBezTo>
                          <a:cubicBezTo>
                            <a:pt x="874248" y="-8545"/>
                            <a:pt x="991535" y="-29680"/>
                            <a:pt x="1284783" y="0"/>
                          </a:cubicBezTo>
                          <a:cubicBezTo>
                            <a:pt x="1578031" y="29680"/>
                            <a:pt x="1693430" y="-10147"/>
                            <a:pt x="1984347" y="0"/>
                          </a:cubicBezTo>
                          <a:cubicBezTo>
                            <a:pt x="2275264" y="10147"/>
                            <a:pt x="2428454" y="31273"/>
                            <a:pt x="2658002" y="0"/>
                          </a:cubicBezTo>
                          <a:cubicBezTo>
                            <a:pt x="2661795" y="239"/>
                            <a:pt x="2666447" y="-49"/>
                            <a:pt x="2670807" y="1071"/>
                          </a:cubicBezTo>
                          <a:cubicBezTo>
                            <a:pt x="2674973" y="1193"/>
                            <a:pt x="2680010" y="3710"/>
                            <a:pt x="2683340" y="5059"/>
                          </a:cubicBezTo>
                          <a:cubicBezTo>
                            <a:pt x="2687436" y="6633"/>
                            <a:pt x="2692156" y="8188"/>
                            <a:pt x="2695055" y="11147"/>
                          </a:cubicBezTo>
                          <a:cubicBezTo>
                            <a:pt x="2697953" y="14256"/>
                            <a:pt x="2701850" y="15454"/>
                            <a:pt x="2705136" y="19422"/>
                          </a:cubicBezTo>
                          <a:cubicBezTo>
                            <a:pt x="2708624" y="21757"/>
                            <a:pt x="2711007" y="26380"/>
                            <a:pt x="2713309" y="29498"/>
                          </a:cubicBezTo>
                          <a:cubicBezTo>
                            <a:pt x="2714960" y="33676"/>
                            <a:pt x="2717861" y="36421"/>
                            <a:pt x="2719575" y="41032"/>
                          </a:cubicBezTo>
                          <a:cubicBezTo>
                            <a:pt x="2720595" y="44947"/>
                            <a:pt x="2722863" y="48895"/>
                            <a:pt x="2723390" y="53637"/>
                          </a:cubicBezTo>
                          <a:cubicBezTo>
                            <a:pt x="2724950" y="58649"/>
                            <a:pt x="2724455" y="61864"/>
                            <a:pt x="2724480" y="66586"/>
                          </a:cubicBezTo>
                          <a:cubicBezTo>
                            <a:pt x="2720204" y="200879"/>
                            <a:pt x="2718596" y="218199"/>
                            <a:pt x="2724480" y="362173"/>
                          </a:cubicBezTo>
                          <a:cubicBezTo>
                            <a:pt x="2724439" y="366607"/>
                            <a:pt x="2725231" y="370900"/>
                            <a:pt x="2723390" y="375122"/>
                          </a:cubicBezTo>
                          <a:cubicBezTo>
                            <a:pt x="2721905" y="380132"/>
                            <a:pt x="2721231" y="384045"/>
                            <a:pt x="2719575" y="387727"/>
                          </a:cubicBezTo>
                          <a:cubicBezTo>
                            <a:pt x="2717727" y="391410"/>
                            <a:pt x="2715451" y="395584"/>
                            <a:pt x="2713309" y="399261"/>
                          </a:cubicBezTo>
                          <a:cubicBezTo>
                            <a:pt x="2711492" y="403139"/>
                            <a:pt x="2707634" y="406836"/>
                            <a:pt x="2705136" y="409337"/>
                          </a:cubicBezTo>
                          <a:cubicBezTo>
                            <a:pt x="2702374" y="412632"/>
                            <a:pt x="2698372" y="414116"/>
                            <a:pt x="2695055" y="417612"/>
                          </a:cubicBezTo>
                          <a:cubicBezTo>
                            <a:pt x="2690886" y="420615"/>
                            <a:pt x="2686971" y="423169"/>
                            <a:pt x="2683340" y="423700"/>
                          </a:cubicBezTo>
                          <a:cubicBezTo>
                            <a:pt x="2680044" y="425173"/>
                            <a:pt x="2675390" y="426568"/>
                            <a:pt x="2670807" y="427688"/>
                          </a:cubicBezTo>
                          <a:cubicBezTo>
                            <a:pt x="2665603" y="427969"/>
                            <a:pt x="2661796" y="428108"/>
                            <a:pt x="2658002" y="428760"/>
                          </a:cubicBezTo>
                          <a:cubicBezTo>
                            <a:pt x="2465615" y="401551"/>
                            <a:pt x="2355295" y="451241"/>
                            <a:pt x="2087986" y="428760"/>
                          </a:cubicBezTo>
                          <a:cubicBezTo>
                            <a:pt x="1820677" y="406279"/>
                            <a:pt x="1529660" y="450402"/>
                            <a:pt x="1388422" y="428760"/>
                          </a:cubicBezTo>
                          <a:cubicBezTo>
                            <a:pt x="1247184" y="407118"/>
                            <a:pt x="923477" y="455597"/>
                            <a:pt x="766587" y="428760"/>
                          </a:cubicBezTo>
                          <a:cubicBezTo>
                            <a:pt x="609697" y="401923"/>
                            <a:pt x="410877" y="420110"/>
                            <a:pt x="67022" y="428760"/>
                          </a:cubicBezTo>
                          <a:cubicBezTo>
                            <a:pt x="62355" y="428420"/>
                            <a:pt x="59005" y="427965"/>
                            <a:pt x="53944" y="427688"/>
                          </a:cubicBezTo>
                          <a:cubicBezTo>
                            <a:pt x="49782" y="425696"/>
                            <a:pt x="46050" y="425610"/>
                            <a:pt x="41412" y="423700"/>
                          </a:cubicBezTo>
                          <a:cubicBezTo>
                            <a:pt x="37519" y="422138"/>
                            <a:pt x="33575" y="420736"/>
                            <a:pt x="29969" y="417612"/>
                          </a:cubicBezTo>
                          <a:cubicBezTo>
                            <a:pt x="26740" y="414910"/>
                            <a:pt x="22882" y="412528"/>
                            <a:pt x="19888" y="409337"/>
                          </a:cubicBezTo>
                          <a:cubicBezTo>
                            <a:pt x="16712" y="406345"/>
                            <a:pt x="14172" y="402127"/>
                            <a:pt x="11170" y="399261"/>
                          </a:cubicBezTo>
                          <a:cubicBezTo>
                            <a:pt x="9344" y="395354"/>
                            <a:pt x="7383" y="391473"/>
                            <a:pt x="4904" y="387727"/>
                          </a:cubicBezTo>
                          <a:cubicBezTo>
                            <a:pt x="4167" y="384230"/>
                            <a:pt x="2793" y="379969"/>
                            <a:pt x="1362" y="375122"/>
                          </a:cubicBezTo>
                          <a:cubicBezTo>
                            <a:pt x="-404" y="370226"/>
                            <a:pt x="-156" y="366382"/>
                            <a:pt x="0" y="36217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lIns="9360" tIns="9360" rIns="9360" bIns="9360" anchor="t">
              <a:noAutofit/>
            </a:bodyPr>
            <a:lstStyle/>
            <a:p>
              <a:endParaRPr lang="en-US" sz="2400" b="0" u="none" strike="noStrike">
                <a:solidFill>
                  <a:srgbClr val="C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53289F-923B-765B-40F2-4E928D695B82}"/>
                </a:ext>
              </a:extLst>
            </p:cNvPr>
            <p:cNvSpPr txBox="1"/>
            <p:nvPr/>
          </p:nvSpPr>
          <p:spPr>
            <a:xfrm rot="1528226">
              <a:off x="1302902" y="1411754"/>
              <a:ext cx="3320418" cy="492443"/>
            </a:xfrm>
            <a:prstGeom prst="rect">
              <a:avLst/>
            </a:prstGeom>
            <a:grp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3200" dirty="0">
                  <a:solidFill>
                    <a:srgbClr val="C00000"/>
                  </a:solidFill>
                  <a:latin typeface="SourceCodePro"/>
                  <a:ea typeface="SourceCodePro"/>
                </a:rPr>
                <a:t>Convicted of UB</a:t>
              </a:r>
              <a:endParaRPr lang="en-US" sz="3200" b="0" u="none" strike="noStrike" dirty="0">
                <a:solidFill>
                  <a:srgbClr val="C00000"/>
                </a:solidFill>
                <a:effectLst/>
                <a:uFillTx/>
                <a:latin typeface="SourceCodePro"/>
                <a:ea typeface="SourceCodePro"/>
              </a:endParaRPr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9B978567-05CD-61ED-8FA9-3E799C966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16097" y="2998084"/>
            <a:ext cx="2059903" cy="200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2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9F39A-6D2F-3AD8-95AF-5261911C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989076-B514-89FE-EEDD-BCAB42CB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60020"/>
            <a:ext cx="5205191" cy="6321287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94C033E-EF02-F332-9380-C0B7183F11FD}"/>
              </a:ext>
            </a:extLst>
          </p:cNvPr>
          <p:cNvSpPr txBox="1">
            <a:spLocks/>
          </p:cNvSpPr>
          <p:nvPr/>
        </p:nvSpPr>
        <p:spPr>
          <a:xfrm>
            <a:off x="6206072" y="541867"/>
            <a:ext cx="5147728" cy="5635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atomic&lt;int&gt; visitors = 0;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north_gate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for 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++visitors;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south_gate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([&amp;] {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for(int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10'000;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	++visitors;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Times New Roman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E2219F9-D238-C4C7-EAB3-E962C2F82F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1260" y="1210911"/>
            <a:ext cx="2059903" cy="20064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5A0EEA-7286-CF95-B88A-589AC528BD76}"/>
              </a:ext>
            </a:extLst>
          </p:cNvPr>
          <p:cNvSpPr txBox="1"/>
          <p:nvPr/>
        </p:nvSpPr>
        <p:spPr>
          <a:xfrm>
            <a:off x="1794934" y="372456"/>
            <a:ext cx="2827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Greedy Goat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EB649-9322-25B9-57D2-A091C4E22BDB}"/>
              </a:ext>
            </a:extLst>
          </p:cNvPr>
          <p:cNvSpPr txBox="1"/>
          <p:nvPr/>
        </p:nvSpPr>
        <p:spPr>
          <a:xfrm>
            <a:off x="1219192" y="3480958"/>
            <a:ext cx="4461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unsynchronized non-atomic </a:t>
            </a:r>
          </a:p>
          <a:p>
            <a:r>
              <a:rPr lang="en-US" sz="2000" dirty="0"/>
              <a:t>read-modify-write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FB9C06-D9BC-1D1B-04E9-84FF897140B0}"/>
              </a:ext>
            </a:extLst>
          </p:cNvPr>
          <p:cNvSpPr txBox="1"/>
          <p:nvPr/>
        </p:nvSpPr>
        <p:spPr>
          <a:xfrm>
            <a:off x="1219192" y="4194734"/>
            <a:ext cx="4715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eats updates; </a:t>
            </a:r>
          </a:p>
          <a:p>
            <a:r>
              <a:rPr lang="en-US" sz="2000" dirty="0"/>
              <a:t>the more traffic, the hungrier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0705C4-ABED-CE33-BE21-F40A689657DE}"/>
              </a:ext>
            </a:extLst>
          </p:cNvPr>
          <p:cNvSpPr txBox="1"/>
          <p:nvPr/>
        </p:nvSpPr>
        <p:spPr>
          <a:xfrm>
            <a:off x="1219192" y="5619319"/>
            <a:ext cx="4428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make the read-modify-write a single atomic operation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C8D9D-3162-15D7-5393-2FFC91D42485}"/>
              </a:ext>
            </a:extLst>
          </p:cNvPr>
          <p:cNvSpPr txBox="1"/>
          <p:nvPr/>
        </p:nvSpPr>
        <p:spPr>
          <a:xfrm>
            <a:off x="1219192" y="4886032"/>
            <a:ext cx="39624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numbers remain plausible and low-load tests often pass</a:t>
            </a:r>
          </a:p>
        </p:txBody>
      </p:sp>
    </p:spTree>
    <p:extLst>
      <p:ext uri="{BB962C8B-B14F-4D97-AF65-F5344CB8AC3E}">
        <p14:creationId xmlns:p14="http://schemas.microsoft.com/office/powerpoint/2010/main" val="118332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allAtOnce"/>
      <p:bldP spid="3" grpId="0"/>
      <p:bldP spid="8" grpId="0"/>
      <p:bldP spid="10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47D4-4F8A-7B51-CBB2-AFA657FF4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69CC1-ECE8-4F41-A260-29F03FFBD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4533" y="1122363"/>
            <a:ext cx="10100733" cy="2387600"/>
          </a:xfrm>
        </p:spPr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Zone 2: The House of Illusions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8C6A26D-0380-4BA8-9628-E4EF68EFBD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i="1" dirty="0">
              <a:latin typeface="SourceSans3ExtraLight"/>
            </a:endParaRPr>
          </a:p>
          <a:p>
            <a:r>
              <a:rPr lang="en-US" i="1" dirty="0">
                <a:latin typeface="SourceSans3ExtraLight"/>
              </a:rPr>
              <a:t>These monsters do not necessarily corrupt an individual operation.</a:t>
            </a:r>
          </a:p>
          <a:p>
            <a:endParaRPr lang="en-US" i="1" dirty="0">
              <a:latin typeface="SourceSans3ExtraLight"/>
            </a:endParaRPr>
          </a:p>
          <a:p>
            <a:r>
              <a:rPr lang="en-US" i="1" dirty="0">
                <a:latin typeface="SourceSans3ExtraLight"/>
              </a:rPr>
              <a:t>They invalidate the assumptions connecting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3564380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7DF96-878A-C61C-D749-059A66DC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E33C-F818-01E2-88B4-A175880F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Rabbit Hat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12BA11-3D14-011E-097D-EE21023A77A4}"/>
              </a:ext>
            </a:extLst>
          </p:cNvPr>
          <p:cNvSpPr txBox="1"/>
          <p:nvPr/>
        </p:nvSpPr>
        <p:spPr>
          <a:xfrm>
            <a:off x="838200" y="3870930"/>
            <a:ext cx="101999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The good old trick. A hat and a rabbit. And then another.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How many rabbits could we fit inside?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It’s fun until it isn’t.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173DFE5-DE70-B6DC-B34F-7D59962505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1897" y="496404"/>
            <a:ext cx="1710632" cy="212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450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CDA68-4666-7282-00EF-2BA99AFB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7E1D-49F2-09CD-8E66-21E915F5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Rabbit 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10B80-0A35-BBC4-1575-A30302217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64467" cy="23823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queue&lt;rabbit&gt; hat;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mutex m;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BAB3AD-C480-C44F-B2B2-C77FA3653220}"/>
              </a:ext>
            </a:extLst>
          </p:cNvPr>
          <p:cNvSpPr txBox="1">
            <a:spLocks/>
          </p:cNvSpPr>
          <p:nvPr/>
        </p:nvSpPr>
        <p:spPr>
          <a:xfrm>
            <a:off x="8273796" y="2163345"/>
            <a:ext cx="3137069" cy="5025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lock(m);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auto r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hat.front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hat.pop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return r;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0" indent="0">
              <a:buNone/>
            </a:pPr>
            <a:endParaRPr lang="en-US" sz="2200" dirty="0">
              <a:latin typeface="SourceCodePro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AE3267-A135-F00F-9A39-24F68737B0E2}"/>
              </a:ext>
            </a:extLst>
          </p:cNvPr>
          <p:cNvSpPr txBox="1">
            <a:spLocks/>
          </p:cNvSpPr>
          <p:nvPr/>
        </p:nvSpPr>
        <p:spPr>
          <a:xfrm>
            <a:off x="4838531" y="2184400"/>
            <a:ext cx="3137069" cy="5025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bool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lock(m);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return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hat.empty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endParaRPr lang="en-US" sz="2200" dirty="0">
              <a:latin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26986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B50B-37B3-C279-5D0D-3A18543A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8CFC7-F643-C69A-24D3-5775FBCC4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Rabbit 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1C38D-21EB-5D41-3A03-85A5DAFA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5533" cy="1984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queue&lt;rabbit&gt; hat;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F08079-8D0A-8B43-E553-BD279DBC8A25}"/>
              </a:ext>
            </a:extLst>
          </p:cNvPr>
          <p:cNvSpPr txBox="1">
            <a:spLocks/>
          </p:cNvSpPr>
          <p:nvPr/>
        </p:nvSpPr>
        <p:spPr>
          <a:xfrm>
            <a:off x="7264400" y="4936066"/>
            <a:ext cx="4377267" cy="105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EF7A149-7A16-4D9D-A60A-0484DFE7ACEA}"/>
              </a:ext>
            </a:extLst>
          </p:cNvPr>
          <p:cNvSpPr txBox="1">
            <a:spLocks/>
          </p:cNvSpPr>
          <p:nvPr/>
        </p:nvSpPr>
        <p:spPr>
          <a:xfrm>
            <a:off x="838200" y="4936066"/>
            <a:ext cx="4377267" cy="105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4AF1343-3B84-9994-3D03-EF16C0A2F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1897" y="496404"/>
            <a:ext cx="1710632" cy="2120899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2223C4D-EEDC-7850-C744-DFA042AD1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7716" y="3810000"/>
            <a:ext cx="1282824" cy="138429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ADA0A6F-E559-F51E-8170-BBAFD0026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03656" y="3810000"/>
            <a:ext cx="1282823" cy="138429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6A34B09-07CD-751E-1FEA-051698ABA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118580" y="1690688"/>
            <a:ext cx="1282823" cy="138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97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1794A-557D-44FE-1A6A-E4E21939D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45960-DFE3-13B1-A15E-39C14FA4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Rabbit 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B7E4E-A8DF-F163-76C2-72D5A2E0E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5533" cy="1984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queue&lt;rabbit&gt; hat;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139FAA-83E0-4390-3A87-43B3720A9A92}"/>
              </a:ext>
            </a:extLst>
          </p:cNvPr>
          <p:cNvSpPr txBox="1">
            <a:spLocks/>
          </p:cNvSpPr>
          <p:nvPr/>
        </p:nvSpPr>
        <p:spPr>
          <a:xfrm>
            <a:off x="7264400" y="4936066"/>
            <a:ext cx="4377267" cy="105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71B7FA-9D5B-3030-3084-D97A6A5B1482}"/>
              </a:ext>
            </a:extLst>
          </p:cNvPr>
          <p:cNvSpPr txBox="1">
            <a:spLocks/>
          </p:cNvSpPr>
          <p:nvPr/>
        </p:nvSpPr>
        <p:spPr>
          <a:xfrm>
            <a:off x="838200" y="4936066"/>
            <a:ext cx="4377267" cy="105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5D9EB5E-AE63-B242-901F-7328063E36CF}"/>
              </a:ext>
            </a:extLst>
          </p:cNvPr>
          <p:cNvGrpSpPr/>
          <p:nvPr/>
        </p:nvGrpSpPr>
        <p:grpSpPr>
          <a:xfrm rot="19361991">
            <a:off x="8564090" y="3344720"/>
            <a:ext cx="1218393" cy="3416675"/>
            <a:chOff x="1082258" y="432700"/>
            <a:chExt cx="1218393" cy="3416675"/>
          </a:xfrm>
          <a:solidFill>
            <a:srgbClr val="FFFFFF">
              <a:alpha val="30196"/>
            </a:srgbClr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E420AA2-0E51-6E8E-5C58-992DA7E2CD06}"/>
                </a:ext>
              </a:extLst>
            </p:cNvPr>
            <p:cNvSpPr/>
            <p:nvPr/>
          </p:nvSpPr>
          <p:spPr>
            <a:xfrm rot="3540970">
              <a:off x="35169" y="1583892"/>
              <a:ext cx="3312572" cy="1218393"/>
            </a:xfrm>
            <a:custGeom>
              <a:avLst/>
              <a:gdLst/>
              <a:ahLst/>
              <a:cxnLst/>
              <a:rect l="0" t="0" r="r" b="b"/>
              <a:pathLst>
                <a:path w="7568" h="1191">
                  <a:moveTo>
                    <a:pt x="0" y="1006"/>
                  </a:moveTo>
                  <a:lnTo>
                    <a:pt x="0" y="185"/>
                  </a:lnTo>
                  <a:cubicBezTo>
                    <a:pt x="0" y="173"/>
                    <a:pt x="1" y="161"/>
                    <a:pt x="4" y="149"/>
                  </a:cubicBezTo>
                  <a:cubicBezTo>
                    <a:pt x="6" y="137"/>
                    <a:pt x="10" y="125"/>
                    <a:pt x="14" y="114"/>
                  </a:cubicBezTo>
                  <a:cubicBezTo>
                    <a:pt x="19" y="103"/>
                    <a:pt x="25" y="92"/>
                    <a:pt x="31" y="82"/>
                  </a:cubicBezTo>
                  <a:cubicBezTo>
                    <a:pt x="38" y="72"/>
                    <a:pt x="46" y="63"/>
                    <a:pt x="55" y="54"/>
                  </a:cubicBezTo>
                  <a:cubicBezTo>
                    <a:pt x="64" y="45"/>
                    <a:pt x="73" y="38"/>
                    <a:pt x="83" y="31"/>
                  </a:cubicBezTo>
                  <a:cubicBezTo>
                    <a:pt x="94" y="24"/>
                    <a:pt x="104" y="19"/>
                    <a:pt x="115" y="14"/>
                  </a:cubicBezTo>
                  <a:cubicBezTo>
                    <a:pt x="127" y="9"/>
                    <a:pt x="138" y="6"/>
                    <a:pt x="150" y="3"/>
                  </a:cubicBezTo>
                  <a:cubicBezTo>
                    <a:pt x="162" y="1"/>
                    <a:pt x="174" y="0"/>
                    <a:pt x="186" y="0"/>
                  </a:cubicBezTo>
                  <a:lnTo>
                    <a:pt x="7383" y="0"/>
                  </a:lnTo>
                  <a:cubicBezTo>
                    <a:pt x="7395" y="0"/>
                    <a:pt x="7407" y="1"/>
                    <a:pt x="7419" y="3"/>
                  </a:cubicBezTo>
                  <a:cubicBezTo>
                    <a:pt x="7431" y="6"/>
                    <a:pt x="7443" y="9"/>
                    <a:pt x="7454" y="14"/>
                  </a:cubicBezTo>
                  <a:cubicBezTo>
                    <a:pt x="7465" y="19"/>
                    <a:pt x="7476" y="24"/>
                    <a:pt x="7486" y="31"/>
                  </a:cubicBezTo>
                  <a:cubicBezTo>
                    <a:pt x="7496" y="38"/>
                    <a:pt x="7505" y="45"/>
                    <a:pt x="7514" y="54"/>
                  </a:cubicBezTo>
                  <a:cubicBezTo>
                    <a:pt x="7523" y="63"/>
                    <a:pt x="7530" y="72"/>
                    <a:pt x="7537" y="82"/>
                  </a:cubicBezTo>
                  <a:cubicBezTo>
                    <a:pt x="7544" y="92"/>
                    <a:pt x="7549" y="103"/>
                    <a:pt x="7554" y="114"/>
                  </a:cubicBezTo>
                  <a:cubicBezTo>
                    <a:pt x="7559" y="125"/>
                    <a:pt x="7562" y="137"/>
                    <a:pt x="7565" y="149"/>
                  </a:cubicBezTo>
                  <a:cubicBezTo>
                    <a:pt x="7567" y="161"/>
                    <a:pt x="7568" y="173"/>
                    <a:pt x="7568" y="185"/>
                  </a:cubicBezTo>
                  <a:lnTo>
                    <a:pt x="7568" y="1006"/>
                  </a:lnTo>
                  <a:cubicBezTo>
                    <a:pt x="7568" y="1018"/>
                    <a:pt x="7567" y="1030"/>
                    <a:pt x="7565" y="1042"/>
                  </a:cubicBezTo>
                  <a:cubicBezTo>
                    <a:pt x="7562" y="1054"/>
                    <a:pt x="7559" y="1066"/>
                    <a:pt x="7554" y="1077"/>
                  </a:cubicBezTo>
                  <a:cubicBezTo>
                    <a:pt x="7549" y="1088"/>
                    <a:pt x="7544" y="1099"/>
                    <a:pt x="7537" y="1109"/>
                  </a:cubicBezTo>
                  <a:cubicBezTo>
                    <a:pt x="7530" y="1119"/>
                    <a:pt x="7523" y="1129"/>
                    <a:pt x="7514" y="1137"/>
                  </a:cubicBezTo>
                  <a:cubicBezTo>
                    <a:pt x="7505" y="1146"/>
                    <a:pt x="7496" y="1153"/>
                    <a:pt x="7486" y="1160"/>
                  </a:cubicBezTo>
                  <a:cubicBezTo>
                    <a:pt x="7476" y="1167"/>
                    <a:pt x="7465" y="1173"/>
                    <a:pt x="7454" y="1177"/>
                  </a:cubicBezTo>
                  <a:cubicBezTo>
                    <a:pt x="7443" y="1182"/>
                    <a:pt x="7431" y="1185"/>
                    <a:pt x="7419" y="1188"/>
                  </a:cubicBezTo>
                  <a:cubicBezTo>
                    <a:pt x="7407" y="1190"/>
                    <a:pt x="7395" y="1191"/>
                    <a:pt x="7383" y="1191"/>
                  </a:cubicBezTo>
                  <a:lnTo>
                    <a:pt x="186" y="1191"/>
                  </a:lnTo>
                  <a:cubicBezTo>
                    <a:pt x="174" y="1191"/>
                    <a:pt x="162" y="1190"/>
                    <a:pt x="150" y="1188"/>
                  </a:cubicBezTo>
                  <a:cubicBezTo>
                    <a:pt x="138" y="1185"/>
                    <a:pt x="127" y="1182"/>
                    <a:pt x="115" y="1177"/>
                  </a:cubicBezTo>
                  <a:cubicBezTo>
                    <a:pt x="104" y="1173"/>
                    <a:pt x="94" y="1167"/>
                    <a:pt x="83" y="1160"/>
                  </a:cubicBezTo>
                  <a:cubicBezTo>
                    <a:pt x="73" y="1153"/>
                    <a:pt x="64" y="1146"/>
                    <a:pt x="55" y="1137"/>
                  </a:cubicBezTo>
                  <a:cubicBezTo>
                    <a:pt x="46" y="1129"/>
                    <a:pt x="38" y="1119"/>
                    <a:pt x="31" y="1109"/>
                  </a:cubicBezTo>
                  <a:cubicBezTo>
                    <a:pt x="25" y="1099"/>
                    <a:pt x="19" y="1088"/>
                    <a:pt x="14" y="1077"/>
                  </a:cubicBezTo>
                  <a:cubicBezTo>
                    <a:pt x="10" y="1066"/>
                    <a:pt x="6" y="1054"/>
                    <a:pt x="4" y="1042"/>
                  </a:cubicBezTo>
                  <a:cubicBezTo>
                    <a:pt x="1" y="1030"/>
                    <a:pt x="0" y="1018"/>
                    <a:pt x="0" y="1006"/>
                  </a:cubicBezTo>
                  <a:close/>
                </a:path>
              </a:pathLst>
            </a:custGeom>
            <a:grpFill/>
            <a:ln w="19050">
              <a:solidFill>
                <a:srgbClr val="C00000"/>
              </a:solidFill>
              <a:miter/>
              <a:extLst>
                <a:ext uri="{C807C97D-BFC1-408E-A445-0C87EB9F89A2}">
                  <ask:lineSketchStyleProps xmlns:ask="http://schemas.microsoft.com/office/drawing/2018/sketchyshapes" sd="3356984581">
                    <a:custGeom>
                      <a:avLst/>
                      <a:gdLst>
                        <a:gd name="csX0" fmla="*/ 0 w 2724480"/>
                        <a:gd name="csY0" fmla="*/ 362173 h 428760"/>
                        <a:gd name="csX1" fmla="*/ 0 w 2724480"/>
                        <a:gd name="csY1" fmla="*/ 66586 h 428760"/>
                        <a:gd name="csX2" fmla="*/ 1362 w 2724480"/>
                        <a:gd name="csY2" fmla="*/ 53637 h 428760"/>
                        <a:gd name="csX3" fmla="*/ 4904 w 2724480"/>
                        <a:gd name="csY3" fmla="*/ 41032 h 428760"/>
                        <a:gd name="csX4" fmla="*/ 11170 w 2724480"/>
                        <a:gd name="csY4" fmla="*/ 29498 h 428760"/>
                        <a:gd name="csX5" fmla="*/ 19888 w 2724480"/>
                        <a:gd name="csY5" fmla="*/ 19422 h 428760"/>
                        <a:gd name="csX6" fmla="*/ 29969 w 2724480"/>
                        <a:gd name="csY6" fmla="*/ 11147 h 428760"/>
                        <a:gd name="csX7" fmla="*/ 41412 w 2724480"/>
                        <a:gd name="csY7" fmla="*/ 5059 h 428760"/>
                        <a:gd name="csX8" fmla="*/ 53944 w 2724480"/>
                        <a:gd name="csY8" fmla="*/ 1071 h 428760"/>
                        <a:gd name="csX9" fmla="*/ 67022 w 2724480"/>
                        <a:gd name="csY9" fmla="*/ 0 h 428760"/>
                        <a:gd name="csX10" fmla="*/ 688857 w 2724480"/>
                        <a:gd name="csY10" fmla="*/ 0 h 428760"/>
                        <a:gd name="csX11" fmla="*/ 1284783 w 2724480"/>
                        <a:gd name="csY11" fmla="*/ 0 h 428760"/>
                        <a:gd name="csX12" fmla="*/ 1984347 w 2724480"/>
                        <a:gd name="csY12" fmla="*/ 0 h 428760"/>
                        <a:gd name="csX13" fmla="*/ 2658002 w 2724480"/>
                        <a:gd name="csY13" fmla="*/ 0 h 428760"/>
                        <a:gd name="csX14" fmla="*/ 2670807 w 2724480"/>
                        <a:gd name="csY14" fmla="*/ 1071 h 428760"/>
                        <a:gd name="csX15" fmla="*/ 2683340 w 2724480"/>
                        <a:gd name="csY15" fmla="*/ 5059 h 428760"/>
                        <a:gd name="csX16" fmla="*/ 2695055 w 2724480"/>
                        <a:gd name="csY16" fmla="*/ 11147 h 428760"/>
                        <a:gd name="csX17" fmla="*/ 2705136 w 2724480"/>
                        <a:gd name="csY17" fmla="*/ 19422 h 428760"/>
                        <a:gd name="csX18" fmla="*/ 2713309 w 2724480"/>
                        <a:gd name="csY18" fmla="*/ 29498 h 428760"/>
                        <a:gd name="csX19" fmla="*/ 2719575 w 2724480"/>
                        <a:gd name="csY19" fmla="*/ 41032 h 428760"/>
                        <a:gd name="csX20" fmla="*/ 2723390 w 2724480"/>
                        <a:gd name="csY20" fmla="*/ 53637 h 428760"/>
                        <a:gd name="csX21" fmla="*/ 2724480 w 2724480"/>
                        <a:gd name="csY21" fmla="*/ 66586 h 428760"/>
                        <a:gd name="csX22" fmla="*/ 2724480 w 2724480"/>
                        <a:gd name="csY22" fmla="*/ 362173 h 428760"/>
                        <a:gd name="csX23" fmla="*/ 2723390 w 2724480"/>
                        <a:gd name="csY23" fmla="*/ 375122 h 428760"/>
                        <a:gd name="csX24" fmla="*/ 2719575 w 2724480"/>
                        <a:gd name="csY24" fmla="*/ 387727 h 428760"/>
                        <a:gd name="csX25" fmla="*/ 2713309 w 2724480"/>
                        <a:gd name="csY25" fmla="*/ 399261 h 428760"/>
                        <a:gd name="csX26" fmla="*/ 2705136 w 2724480"/>
                        <a:gd name="csY26" fmla="*/ 409337 h 428760"/>
                        <a:gd name="csX27" fmla="*/ 2695055 w 2724480"/>
                        <a:gd name="csY27" fmla="*/ 417612 h 428760"/>
                        <a:gd name="csX28" fmla="*/ 2683340 w 2724480"/>
                        <a:gd name="csY28" fmla="*/ 423700 h 428760"/>
                        <a:gd name="csX29" fmla="*/ 2670807 w 2724480"/>
                        <a:gd name="csY29" fmla="*/ 427688 h 428760"/>
                        <a:gd name="csX30" fmla="*/ 2658002 w 2724480"/>
                        <a:gd name="csY30" fmla="*/ 428760 h 428760"/>
                        <a:gd name="csX31" fmla="*/ 2087986 w 2724480"/>
                        <a:gd name="csY31" fmla="*/ 428760 h 428760"/>
                        <a:gd name="csX32" fmla="*/ 1388422 w 2724480"/>
                        <a:gd name="csY32" fmla="*/ 428760 h 428760"/>
                        <a:gd name="csX33" fmla="*/ 766587 w 2724480"/>
                        <a:gd name="csY33" fmla="*/ 428760 h 428760"/>
                        <a:gd name="csX34" fmla="*/ 67022 w 2724480"/>
                        <a:gd name="csY34" fmla="*/ 428760 h 428760"/>
                        <a:gd name="csX35" fmla="*/ 53944 w 2724480"/>
                        <a:gd name="csY35" fmla="*/ 427688 h 428760"/>
                        <a:gd name="csX36" fmla="*/ 41412 w 2724480"/>
                        <a:gd name="csY36" fmla="*/ 423700 h 428760"/>
                        <a:gd name="csX37" fmla="*/ 29969 w 2724480"/>
                        <a:gd name="csY37" fmla="*/ 417612 h 428760"/>
                        <a:gd name="csX38" fmla="*/ 19888 w 2724480"/>
                        <a:gd name="csY38" fmla="*/ 409337 h 428760"/>
                        <a:gd name="csX39" fmla="*/ 11170 w 2724480"/>
                        <a:gd name="csY39" fmla="*/ 399261 h 428760"/>
                        <a:gd name="csX40" fmla="*/ 4904 w 2724480"/>
                        <a:gd name="csY40" fmla="*/ 387727 h 428760"/>
                        <a:gd name="csX41" fmla="*/ 1362 w 2724480"/>
                        <a:gd name="csY41" fmla="*/ 375122 h 428760"/>
                        <a:gd name="csX42" fmla="*/ 0 w 2724480"/>
                        <a:gd name="csY42" fmla="*/ 362173 h 42876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  <a:cxn ang="0">
                          <a:pos x="csX26" y="csY26"/>
                        </a:cxn>
                        <a:cxn ang="0">
                          <a:pos x="csX27" y="csY27"/>
                        </a:cxn>
                        <a:cxn ang="0">
                          <a:pos x="csX28" y="csY28"/>
                        </a:cxn>
                        <a:cxn ang="0">
                          <a:pos x="csX29" y="csY29"/>
                        </a:cxn>
                        <a:cxn ang="0">
                          <a:pos x="csX30" y="csY30"/>
                        </a:cxn>
                        <a:cxn ang="0">
                          <a:pos x="csX31" y="csY31"/>
                        </a:cxn>
                        <a:cxn ang="0">
                          <a:pos x="csX32" y="csY32"/>
                        </a:cxn>
                        <a:cxn ang="0">
                          <a:pos x="csX33" y="csY33"/>
                        </a:cxn>
                        <a:cxn ang="0">
                          <a:pos x="csX34" y="csY34"/>
                        </a:cxn>
                        <a:cxn ang="0">
                          <a:pos x="csX35" y="csY35"/>
                        </a:cxn>
                        <a:cxn ang="0">
                          <a:pos x="csX36" y="csY36"/>
                        </a:cxn>
                        <a:cxn ang="0">
                          <a:pos x="csX37" y="csY37"/>
                        </a:cxn>
                        <a:cxn ang="0">
                          <a:pos x="csX38" y="csY38"/>
                        </a:cxn>
                        <a:cxn ang="0">
                          <a:pos x="csX39" y="csY39"/>
                        </a:cxn>
                        <a:cxn ang="0">
                          <a:pos x="csX40" y="csY40"/>
                        </a:cxn>
                        <a:cxn ang="0">
                          <a:pos x="csX41" y="csY41"/>
                        </a:cxn>
                        <a:cxn ang="0">
                          <a:pos x="csX42" y="csY42"/>
                        </a:cxn>
                      </a:cxnLst>
                      <a:rect l="l" t="t" r="r" b="b"/>
                      <a:pathLst>
                        <a:path w="2724480" h="428760" extrusionOk="0">
                          <a:moveTo>
                            <a:pt x="0" y="362173"/>
                          </a:moveTo>
                          <a:cubicBezTo>
                            <a:pt x="-6921" y="299755"/>
                            <a:pt x="13124" y="134475"/>
                            <a:pt x="0" y="66586"/>
                          </a:cubicBezTo>
                          <a:cubicBezTo>
                            <a:pt x="335" y="61645"/>
                            <a:pt x="532" y="58635"/>
                            <a:pt x="1362" y="53637"/>
                          </a:cubicBezTo>
                          <a:cubicBezTo>
                            <a:pt x="3181" y="49461"/>
                            <a:pt x="3342" y="44248"/>
                            <a:pt x="4904" y="41032"/>
                          </a:cubicBezTo>
                          <a:cubicBezTo>
                            <a:pt x="7115" y="37725"/>
                            <a:pt x="9327" y="33976"/>
                            <a:pt x="11170" y="29498"/>
                          </a:cubicBezTo>
                          <a:cubicBezTo>
                            <a:pt x="14250" y="25217"/>
                            <a:pt x="16265" y="22532"/>
                            <a:pt x="19888" y="19422"/>
                          </a:cubicBezTo>
                          <a:cubicBezTo>
                            <a:pt x="23190" y="15888"/>
                            <a:pt x="26415" y="13897"/>
                            <a:pt x="29969" y="11147"/>
                          </a:cubicBezTo>
                          <a:cubicBezTo>
                            <a:pt x="34535" y="8916"/>
                            <a:pt x="36954" y="6548"/>
                            <a:pt x="41412" y="5059"/>
                          </a:cubicBezTo>
                          <a:cubicBezTo>
                            <a:pt x="45844" y="3374"/>
                            <a:pt x="49185" y="1989"/>
                            <a:pt x="53944" y="1071"/>
                          </a:cubicBezTo>
                          <a:cubicBezTo>
                            <a:pt x="58319" y="672"/>
                            <a:pt x="62990" y="-1000"/>
                            <a:pt x="67022" y="0"/>
                          </a:cubicBezTo>
                          <a:cubicBezTo>
                            <a:pt x="290554" y="29510"/>
                            <a:pt x="503466" y="8545"/>
                            <a:pt x="688857" y="0"/>
                          </a:cubicBezTo>
                          <a:cubicBezTo>
                            <a:pt x="874248" y="-8545"/>
                            <a:pt x="991535" y="-29680"/>
                            <a:pt x="1284783" y="0"/>
                          </a:cubicBezTo>
                          <a:cubicBezTo>
                            <a:pt x="1578031" y="29680"/>
                            <a:pt x="1693430" y="-10147"/>
                            <a:pt x="1984347" y="0"/>
                          </a:cubicBezTo>
                          <a:cubicBezTo>
                            <a:pt x="2275264" y="10147"/>
                            <a:pt x="2428454" y="31273"/>
                            <a:pt x="2658002" y="0"/>
                          </a:cubicBezTo>
                          <a:cubicBezTo>
                            <a:pt x="2661795" y="239"/>
                            <a:pt x="2666447" y="-49"/>
                            <a:pt x="2670807" y="1071"/>
                          </a:cubicBezTo>
                          <a:cubicBezTo>
                            <a:pt x="2674973" y="1193"/>
                            <a:pt x="2680010" y="3710"/>
                            <a:pt x="2683340" y="5059"/>
                          </a:cubicBezTo>
                          <a:cubicBezTo>
                            <a:pt x="2687436" y="6633"/>
                            <a:pt x="2692156" y="8188"/>
                            <a:pt x="2695055" y="11147"/>
                          </a:cubicBezTo>
                          <a:cubicBezTo>
                            <a:pt x="2697953" y="14256"/>
                            <a:pt x="2701850" y="15454"/>
                            <a:pt x="2705136" y="19422"/>
                          </a:cubicBezTo>
                          <a:cubicBezTo>
                            <a:pt x="2708624" y="21757"/>
                            <a:pt x="2711007" y="26380"/>
                            <a:pt x="2713309" y="29498"/>
                          </a:cubicBezTo>
                          <a:cubicBezTo>
                            <a:pt x="2714960" y="33676"/>
                            <a:pt x="2717861" y="36421"/>
                            <a:pt x="2719575" y="41032"/>
                          </a:cubicBezTo>
                          <a:cubicBezTo>
                            <a:pt x="2720595" y="44947"/>
                            <a:pt x="2722863" y="48895"/>
                            <a:pt x="2723390" y="53637"/>
                          </a:cubicBezTo>
                          <a:cubicBezTo>
                            <a:pt x="2724950" y="58649"/>
                            <a:pt x="2724455" y="61864"/>
                            <a:pt x="2724480" y="66586"/>
                          </a:cubicBezTo>
                          <a:cubicBezTo>
                            <a:pt x="2720204" y="200879"/>
                            <a:pt x="2718596" y="218199"/>
                            <a:pt x="2724480" y="362173"/>
                          </a:cubicBezTo>
                          <a:cubicBezTo>
                            <a:pt x="2724439" y="366607"/>
                            <a:pt x="2725231" y="370900"/>
                            <a:pt x="2723390" y="375122"/>
                          </a:cubicBezTo>
                          <a:cubicBezTo>
                            <a:pt x="2721905" y="380132"/>
                            <a:pt x="2721231" y="384045"/>
                            <a:pt x="2719575" y="387727"/>
                          </a:cubicBezTo>
                          <a:cubicBezTo>
                            <a:pt x="2717727" y="391410"/>
                            <a:pt x="2715451" y="395584"/>
                            <a:pt x="2713309" y="399261"/>
                          </a:cubicBezTo>
                          <a:cubicBezTo>
                            <a:pt x="2711492" y="403139"/>
                            <a:pt x="2707634" y="406836"/>
                            <a:pt x="2705136" y="409337"/>
                          </a:cubicBezTo>
                          <a:cubicBezTo>
                            <a:pt x="2702374" y="412632"/>
                            <a:pt x="2698372" y="414116"/>
                            <a:pt x="2695055" y="417612"/>
                          </a:cubicBezTo>
                          <a:cubicBezTo>
                            <a:pt x="2690886" y="420615"/>
                            <a:pt x="2686971" y="423169"/>
                            <a:pt x="2683340" y="423700"/>
                          </a:cubicBezTo>
                          <a:cubicBezTo>
                            <a:pt x="2680044" y="425173"/>
                            <a:pt x="2675390" y="426568"/>
                            <a:pt x="2670807" y="427688"/>
                          </a:cubicBezTo>
                          <a:cubicBezTo>
                            <a:pt x="2665603" y="427969"/>
                            <a:pt x="2661796" y="428108"/>
                            <a:pt x="2658002" y="428760"/>
                          </a:cubicBezTo>
                          <a:cubicBezTo>
                            <a:pt x="2465615" y="401551"/>
                            <a:pt x="2355295" y="451241"/>
                            <a:pt x="2087986" y="428760"/>
                          </a:cubicBezTo>
                          <a:cubicBezTo>
                            <a:pt x="1820677" y="406279"/>
                            <a:pt x="1529660" y="450402"/>
                            <a:pt x="1388422" y="428760"/>
                          </a:cubicBezTo>
                          <a:cubicBezTo>
                            <a:pt x="1247184" y="407118"/>
                            <a:pt x="923477" y="455597"/>
                            <a:pt x="766587" y="428760"/>
                          </a:cubicBezTo>
                          <a:cubicBezTo>
                            <a:pt x="609697" y="401923"/>
                            <a:pt x="410877" y="420110"/>
                            <a:pt x="67022" y="428760"/>
                          </a:cubicBezTo>
                          <a:cubicBezTo>
                            <a:pt x="62355" y="428420"/>
                            <a:pt x="59005" y="427965"/>
                            <a:pt x="53944" y="427688"/>
                          </a:cubicBezTo>
                          <a:cubicBezTo>
                            <a:pt x="49782" y="425696"/>
                            <a:pt x="46050" y="425610"/>
                            <a:pt x="41412" y="423700"/>
                          </a:cubicBezTo>
                          <a:cubicBezTo>
                            <a:pt x="37519" y="422138"/>
                            <a:pt x="33575" y="420736"/>
                            <a:pt x="29969" y="417612"/>
                          </a:cubicBezTo>
                          <a:cubicBezTo>
                            <a:pt x="26740" y="414910"/>
                            <a:pt x="22882" y="412528"/>
                            <a:pt x="19888" y="409337"/>
                          </a:cubicBezTo>
                          <a:cubicBezTo>
                            <a:pt x="16712" y="406345"/>
                            <a:pt x="14172" y="402127"/>
                            <a:pt x="11170" y="399261"/>
                          </a:cubicBezTo>
                          <a:cubicBezTo>
                            <a:pt x="9344" y="395354"/>
                            <a:pt x="7383" y="391473"/>
                            <a:pt x="4904" y="387727"/>
                          </a:cubicBezTo>
                          <a:cubicBezTo>
                            <a:pt x="4167" y="384230"/>
                            <a:pt x="2793" y="379969"/>
                            <a:pt x="1362" y="375122"/>
                          </a:cubicBezTo>
                          <a:cubicBezTo>
                            <a:pt x="-404" y="370226"/>
                            <a:pt x="-156" y="366382"/>
                            <a:pt x="0" y="362173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lIns="9360" tIns="9360" rIns="9360" bIns="9360" anchor="t">
              <a:noAutofit/>
            </a:bodyPr>
            <a:lstStyle/>
            <a:p>
              <a:endParaRPr lang="en-US" sz="2400" b="0" u="none" strike="noStrike">
                <a:solidFill>
                  <a:srgbClr val="C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F02B58-A2EE-DD77-CEEB-D4B6F1AE7283}"/>
                </a:ext>
              </a:extLst>
            </p:cNvPr>
            <p:cNvSpPr txBox="1"/>
            <p:nvPr/>
          </p:nvSpPr>
          <p:spPr>
            <a:xfrm rot="3540970">
              <a:off x="4416" y="1846687"/>
              <a:ext cx="3320418" cy="492443"/>
            </a:xfrm>
            <a:prstGeom prst="rect">
              <a:avLst/>
            </a:prstGeom>
            <a:grpFill/>
            <a:ln w="0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3200" dirty="0">
                  <a:solidFill>
                    <a:srgbClr val="C00000"/>
                  </a:solidFill>
                  <a:latin typeface="SourceCodePro"/>
                  <a:ea typeface="SourceCodePro"/>
                </a:rPr>
                <a:t>Convicted of UB</a:t>
              </a:r>
              <a:endParaRPr lang="en-US" sz="3200" b="0" u="none" strike="noStrike" dirty="0">
                <a:solidFill>
                  <a:srgbClr val="C00000"/>
                </a:solidFill>
                <a:effectLst/>
                <a:uFillTx/>
                <a:latin typeface="SourceCodePro"/>
                <a:ea typeface="SourceCodePro"/>
              </a:endParaRP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7FD06611-3B4C-14A1-4286-AB87ABD69E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1897" y="496404"/>
            <a:ext cx="1710632" cy="2120899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94BDA88-F011-41BE-F087-CC7587FA3B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03656" y="3810000"/>
            <a:ext cx="1282823" cy="138429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D3EE15D-4651-CEA3-633D-3D1D5FC93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118580" y="1690688"/>
            <a:ext cx="1282823" cy="1384299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E63CD4D1-E5FB-176D-9F1E-1683371AC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74297" y="3915664"/>
            <a:ext cx="922465" cy="127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6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EEF16-578B-3ECB-FC1D-5407E949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64B8D-E143-54B3-6958-429C1648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Rabbit Hat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6BD8B-D4AF-27FE-4765-0AAD9D505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5533" cy="1984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queue&lt;rabbit&gt; hat;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is_hat_empty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rabbit_to_pet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hat_pop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F5510-D587-F78B-9619-001A5732F944}"/>
              </a:ext>
            </a:extLst>
          </p:cNvPr>
          <p:cNvSpPr txBox="1"/>
          <p:nvPr/>
        </p:nvSpPr>
        <p:spPr>
          <a:xfrm>
            <a:off x="838200" y="4229557"/>
            <a:ext cx="1115906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individual methods are safe.</a:t>
            </a:r>
          </a:p>
          <a:p>
            <a:endParaRPr lang="en-US" sz="2200" dirty="0"/>
          </a:p>
          <a:p>
            <a:r>
              <a:rPr lang="en-US" sz="2200" dirty="0"/>
              <a:t>No rabbit vanishes. The hat runs dry in the unlocked gap between the check</a:t>
            </a:r>
          </a:p>
          <a:p>
            <a:r>
              <a:rPr lang="en-US" sz="2200" dirty="0"/>
              <a:t>and the action.</a:t>
            </a:r>
          </a:p>
          <a:p>
            <a:endParaRPr lang="en-US" sz="2200" dirty="0"/>
          </a:p>
          <a:p>
            <a:r>
              <a:rPr lang="en-US" sz="2200" dirty="0"/>
              <a:t>The </a:t>
            </a:r>
            <a:r>
              <a:rPr lang="en-US" sz="2200" b="1" dirty="0"/>
              <a:t>check-then-act sequence</a:t>
            </a:r>
            <a:r>
              <a:rPr lang="en-US" sz="2200" dirty="0"/>
              <a:t> is not one indivisible operation.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DEF8856-623E-11B2-D4CA-4D1BDF8B2E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91897" y="496404"/>
            <a:ext cx="1710632" cy="212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32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4BDA-5E6F-B48C-F607-679073DC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5D9FD6-8961-7189-7B90-856763124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85420"/>
            <a:ext cx="5205191" cy="6321287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AC7ACC6-3605-56B4-F202-8D18B868560D}"/>
              </a:ext>
            </a:extLst>
          </p:cNvPr>
          <p:cNvSpPr txBox="1">
            <a:spLocks/>
          </p:cNvSpPr>
          <p:nvPr/>
        </p:nvSpPr>
        <p:spPr>
          <a:xfrm>
            <a:off x="6206072" y="541867"/>
            <a:ext cx="5147728" cy="5635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optional&lt;rabbit&gt;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try_pull_rabbit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lock(m);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if 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hat.empty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return {};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auto rabbit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hat.front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hat.pop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return rabbit;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134B2-B976-FD09-1620-97C60CF926D3}"/>
              </a:ext>
            </a:extLst>
          </p:cNvPr>
          <p:cNvSpPr txBox="1"/>
          <p:nvPr/>
        </p:nvSpPr>
        <p:spPr>
          <a:xfrm>
            <a:off x="1803401" y="372457"/>
            <a:ext cx="28278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Rabbit Hat</a:t>
            </a:r>
            <a:endParaRPr lang="en-US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49E636C-5BDF-8B62-3393-B810FDF7FF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4240" y="1069302"/>
            <a:ext cx="1710632" cy="21208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6A46DF8-CCEA-0811-65C1-9142E1A1D710}"/>
              </a:ext>
            </a:extLst>
          </p:cNvPr>
          <p:cNvSpPr txBox="1"/>
          <p:nvPr/>
        </p:nvSpPr>
        <p:spPr>
          <a:xfrm>
            <a:off x="1229352" y="3541034"/>
            <a:ext cx="4461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empty() + pop(), contains() + insert(), </a:t>
            </a:r>
          </a:p>
          <a:p>
            <a:r>
              <a:rPr lang="en-US" sz="2000" dirty="0"/>
              <a:t>if (</a:t>
            </a:r>
            <a:r>
              <a:rPr lang="en-US" sz="2000" dirty="0" err="1"/>
              <a:t>ptr</a:t>
            </a:r>
            <a:r>
              <a:rPr lang="en-US" sz="2000" dirty="0"/>
              <a:t>) + dereference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955FFE-2D5A-0253-9148-4138D6C8F1A9}"/>
              </a:ext>
            </a:extLst>
          </p:cNvPr>
          <p:cNvSpPr txBox="1"/>
          <p:nvPr/>
        </p:nvSpPr>
        <p:spPr>
          <a:xfrm>
            <a:off x="1229352" y="4265854"/>
            <a:ext cx="4715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another thread drains the supply </a:t>
            </a:r>
          </a:p>
          <a:p>
            <a:r>
              <a:rPr lang="en-US" sz="2000" dirty="0"/>
              <a:t>after you check 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8288DB-B94C-780E-EE65-6314B1CE6EDA}"/>
              </a:ext>
            </a:extLst>
          </p:cNvPr>
          <p:cNvSpPr txBox="1"/>
          <p:nvPr/>
        </p:nvSpPr>
        <p:spPr>
          <a:xfrm>
            <a:off x="1229352" y="5690439"/>
            <a:ext cx="41427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put the question and action under one lock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65A16A-9529-A3B8-07AC-EC8CCECA6FBD}"/>
              </a:ext>
            </a:extLst>
          </p:cNvPr>
          <p:cNvSpPr txBox="1"/>
          <p:nvPr/>
        </p:nvSpPr>
        <p:spPr>
          <a:xfrm>
            <a:off x="1229352" y="4965273"/>
            <a:ext cx="442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every individual call is thread-safe</a:t>
            </a:r>
          </a:p>
        </p:txBody>
      </p:sp>
    </p:spTree>
    <p:extLst>
      <p:ext uri="{BB962C8B-B14F-4D97-AF65-F5344CB8AC3E}">
        <p14:creationId xmlns:p14="http://schemas.microsoft.com/office/powerpoint/2010/main" val="326343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allAtOnce"/>
      <p:bldP spid="20" grpId="0"/>
      <p:bldP spid="23" grpId="0"/>
      <p:bldP spid="25" grpId="0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67D3-57F3-5B32-9D4D-A11E27831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4EB0-9532-564B-0AF6-8DB7106A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Phantom Bellringer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7B5F1-B2B4-A532-B106-5CC48791D3BE}"/>
              </a:ext>
            </a:extLst>
          </p:cNvPr>
          <p:cNvSpPr txBox="1"/>
          <p:nvPr/>
        </p:nvSpPr>
        <p:spPr>
          <a:xfrm>
            <a:off x="838200" y="3870930"/>
            <a:ext cx="101999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Never seen. Never scheduled.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Rings when nobody is listening.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Rings when nobody asked it to.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Sometimes it rings just out of boredom and nothing happens at all.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85E7F04-12E8-DF0F-6C34-B99A2C45F8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0075" y="524857"/>
            <a:ext cx="1863725" cy="15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38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67978-BA45-2FD8-E5C0-30BF92A0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B771-4BD5-9FFF-85B5-2CABCC911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Phantom Bellringer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E385D-E172-2FB3-F5A6-17EB11922343}"/>
              </a:ext>
            </a:extLst>
          </p:cNvPr>
          <p:cNvSpPr txBox="1">
            <a:spLocks/>
          </p:cNvSpPr>
          <p:nvPr/>
        </p:nvSpPr>
        <p:spPr>
          <a:xfrm>
            <a:off x="8571347" y="1690688"/>
            <a:ext cx="4826000" cy="46774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night_stocker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unique_lock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lock(m);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bell.wait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(lock);             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stock(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deliveries.front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deliveries.pop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CCCA35-159E-EFAA-3B58-128C92FA7958}"/>
              </a:ext>
            </a:extLst>
          </p:cNvPr>
          <p:cNvSpPr txBox="1">
            <a:spLocks/>
          </p:cNvSpPr>
          <p:nvPr/>
        </p:nvSpPr>
        <p:spPr>
          <a:xfrm>
            <a:off x="3988617" y="1690688"/>
            <a:ext cx="4361059" cy="4667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delivery_truck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(crate delivery)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  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   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lock(m);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   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deliveries.push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(delivery);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   }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bell.notify_one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1D9C2B-B8A4-CD7C-E9D2-540579952F2B}"/>
              </a:ext>
            </a:extLst>
          </p:cNvPr>
          <p:cNvSpPr txBox="1"/>
          <p:nvPr/>
        </p:nvSpPr>
        <p:spPr>
          <a:xfrm>
            <a:off x="838199" y="5353563"/>
            <a:ext cx="941493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Overnight deliveries arrive at the zoo gift shop’s loading dock. </a:t>
            </a:r>
          </a:p>
          <a:p>
            <a:r>
              <a:rPr lang="en-US" sz="2200" dirty="0"/>
              <a:t>The driver rings the service bell, and the night stocker shelves the next crate.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2118126-61BC-4F64-CFA4-F7491B44B446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3170885" cy="15441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mutex m;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condition_variable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bell;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queue&lt;crate&gt; deliveries;</a:t>
            </a:r>
          </a:p>
        </p:txBody>
      </p:sp>
    </p:spTree>
    <p:extLst>
      <p:ext uri="{BB962C8B-B14F-4D97-AF65-F5344CB8AC3E}">
        <p14:creationId xmlns:p14="http://schemas.microsoft.com/office/powerpoint/2010/main" val="316089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5" presetClass="emph" presetSubtype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BBA3-4143-2FA1-BB68-BD0641E0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B7FF-F7CC-3AE6-0DDB-0C9F62E4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Phantom Bellringer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337A3-E25A-D2C8-800B-A58B48A3D723}"/>
              </a:ext>
            </a:extLst>
          </p:cNvPr>
          <p:cNvSpPr txBox="1"/>
          <p:nvPr/>
        </p:nvSpPr>
        <p:spPr>
          <a:xfrm>
            <a:off x="838200" y="4769363"/>
            <a:ext cx="1073331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Condition-variable waits may also return without a notification</a:t>
            </a:r>
          </a:p>
          <a:p>
            <a:endParaRPr lang="en-US" sz="2200" dirty="0"/>
          </a:p>
          <a:p>
            <a:r>
              <a:rPr lang="en-US" sz="2200" dirty="0"/>
              <a:t>This is a </a:t>
            </a:r>
            <a:r>
              <a:rPr lang="en-US" sz="2200" b="1" dirty="0"/>
              <a:t>spurious wakeup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dirty="0"/>
              <a:t>Code must be correct regardless of why the thread woke.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3DF0935-A3AE-EB55-BD20-8306C6C60A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0075" y="524857"/>
            <a:ext cx="1863725" cy="15300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37D4713-C197-982B-FBFF-929CA098A4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892799" y="1883946"/>
            <a:ext cx="1611930" cy="239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0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C200-5BB0-7200-7620-04BA9C47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894B-6F12-93C0-EB8A-49A120B3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Phantom Bellringer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121579-6FEE-073E-C4D6-8279F0F4287B}"/>
              </a:ext>
            </a:extLst>
          </p:cNvPr>
          <p:cNvSpPr txBox="1"/>
          <p:nvPr/>
        </p:nvSpPr>
        <p:spPr>
          <a:xfrm>
            <a:off x="838200" y="4769363"/>
            <a:ext cx="1073331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truck came before the stocker’s shift. By the time the stocker arrived,</a:t>
            </a:r>
          </a:p>
          <a:p>
            <a:r>
              <a:rPr lang="en-US" sz="2200" dirty="0"/>
              <a:t>the bell had already rung.</a:t>
            </a:r>
          </a:p>
          <a:p>
            <a:endParaRPr lang="en-US" sz="2200" dirty="0"/>
          </a:p>
          <a:p>
            <a:r>
              <a:rPr lang="en-US" sz="2200" dirty="0"/>
              <a:t>Notifications are not stored for future waiters.  </a:t>
            </a:r>
          </a:p>
          <a:p>
            <a:r>
              <a:rPr lang="en-US" sz="2200" dirty="0"/>
              <a:t>The stocker waits for the next ring while a crate sits on the loading dock.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F6A41B-E417-4045-AABE-368CFF577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873999" y="1907011"/>
            <a:ext cx="1611930" cy="23911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323462C-187D-0255-1D16-44E9EB13B4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732436" y="1560713"/>
            <a:ext cx="4333624" cy="239117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137E0CE-834D-F8AC-BD05-C741B6AA1A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90075" y="524857"/>
            <a:ext cx="1863725" cy="153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2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79 0.1463 L -0.11679 0.14653 C -0.10481 0.14074 -0.09257 0.13588 -0.08099 0.13009 C -0.06484 0.12246 -0.05 0.11134 -0.03333 0.10625 C -0.02382 0.10324 -0.0095 0.09861 0.00039 0.09676 C 0.03177 0.09167 0.03881 0.09259 0.07279 0.09144 C 0.16511 0.1088 0.05925 0.08796 0.13659 0.10625 C 0.1461 0.10834 0.15547 0.10949 0.16485 0.11158 C 0.19414 0.11759 0.16836 0.1132 0.19857 0.12084 C 0.20326 0.12199 0.20808 0.12246 0.21224 0.12361 C 0.2181 0.12477 0.22422 0.12616 0.22982 0.12755 L 0.27605 0.12616 C 0.28295 0.12546 0.28907 0.12153 0.29558 0.11945 C 0.30404 0.11713 0.31211 0.11482 0.32032 0.11296 C 0.3487 0.10625 0.34831 0.10857 0.37266 0.09954 C 0.3823 0.09584 0.3918 0.0919 0.40131 0.0875 C 0.40938 0.0838 0.41706 0.07871 0.42526 0.07546 C 0.43633 0.0713 0.44779 0.06806 0.45899 0.06482 C 0.50287 0.05278 0.50326 0.05787 0.56289 0.05695 C 0.6474 0.06459 0.62904 0.06134 0.69284 0.07153 C 0.7056 0.07361 0.71862 0.07523 0.73164 0.07824 C 0.75664 0.0838 0.78151 0.08982 0.80625 0.09676 L 0.83451 0.10486 C 0.84089 0.10695 0.84727 0.11019 0.85417 0.11158 C 0.86198 0.11296 0.86993 0.1125 0.878 0.11296 C 0.9306 0.11111 0.95443 0.11482 1.00131 0.10093 C 1.01068 0.09815 1.01914 0.09236 1.02826 0.08889 C 1.03789 0.08519 1.04805 0.08334 1.05769 0.07963 C 1.07761 0.07153 1.07409 0.06875 1.09128 0.06366 C 1.09701 0.06181 1.10287 0.06088 1.10834 0.05949 C 1.13399 0.05394 1.12526 0.05579 1.15508 0.05301 C 1.18243 0.05417 1.2099 0.05417 1.23737 0.05695 C 1.24466 0.05764 1.2517 0.06158 1.25899 0.06366 C 1.26302 0.06459 1.26693 0.06574 1.27084 0.06621 C 1.2767 0.06713 1.30743 0.06875 1.31094 0.06898 L 1.38894 0.06621 C 1.39297 0.06597 1.40118 0.06482 1.40118 0.06505 " pathEditMode="relative" rAng="0" ptsTypes="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898" y="-465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0"/>
                            </p:stCondLst>
                            <p:childTnLst>
                              <p:par>
                                <p:cTn id="1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90CF-34AA-85C3-7C2F-9B14EB34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670CD7-31E8-18C1-8180-39EF414A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85420"/>
            <a:ext cx="5205191" cy="6321287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7178AB4-C4B6-C7A4-62B0-B9392638CC04}"/>
              </a:ext>
            </a:extLst>
          </p:cNvPr>
          <p:cNvSpPr txBox="1">
            <a:spLocks/>
          </p:cNvSpPr>
          <p:nvPr/>
        </p:nvSpPr>
        <p:spPr>
          <a:xfrm>
            <a:off x="6206071" y="541867"/>
            <a:ext cx="5825061" cy="5635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unique_lock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lock(m);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bell.wait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(lock, [] { return 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deliveries.empty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 });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stock(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deliveries.front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());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deliveries.pop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A62CE9-F91B-972A-85C8-ECE1446FC5A6}"/>
              </a:ext>
            </a:extLst>
          </p:cNvPr>
          <p:cNvSpPr txBox="1"/>
          <p:nvPr/>
        </p:nvSpPr>
        <p:spPr>
          <a:xfrm>
            <a:off x="1515533" y="380925"/>
            <a:ext cx="3191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Phantom Bellringer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1B12CE-AA14-38BE-3F41-8CFAAEE4BCCB}"/>
              </a:ext>
            </a:extLst>
          </p:cNvPr>
          <p:cNvSpPr txBox="1"/>
          <p:nvPr/>
        </p:nvSpPr>
        <p:spPr>
          <a:xfrm>
            <a:off x="6206071" y="527535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predicate prevents both lost and spurious wakeup bugs.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4DA0040-09DC-7AF6-14C2-2981984366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79636" y="1395456"/>
            <a:ext cx="1863725" cy="1530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1852DE-5191-C060-1447-AD63A77A9024}"/>
              </a:ext>
            </a:extLst>
          </p:cNvPr>
          <p:cNvSpPr txBox="1"/>
          <p:nvPr/>
        </p:nvSpPr>
        <p:spPr>
          <a:xfrm>
            <a:off x="1229352" y="3541034"/>
            <a:ext cx="4461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condition_variable</a:t>
            </a:r>
            <a:r>
              <a:rPr lang="en-US" sz="2000" dirty="0"/>
              <a:t>::wait without a state predicate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1A0EEF-FA21-8593-8699-C5433EF69BB0}"/>
              </a:ext>
            </a:extLst>
          </p:cNvPr>
          <p:cNvSpPr txBox="1"/>
          <p:nvPr/>
        </p:nvSpPr>
        <p:spPr>
          <a:xfrm>
            <a:off x="1229352" y="4265854"/>
            <a:ext cx="3939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sleeps through real events or wakes for no useful event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65C5F0-A12F-5E6E-A96A-038EA55C7D9E}"/>
              </a:ext>
            </a:extLst>
          </p:cNvPr>
          <p:cNvSpPr txBox="1"/>
          <p:nvPr/>
        </p:nvSpPr>
        <p:spPr>
          <a:xfrm>
            <a:off x="1229352" y="5690439"/>
            <a:ext cx="442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wait for state, not for a bell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15CA7A-CC35-9AEC-CBDA-5B82D6BBA746}"/>
              </a:ext>
            </a:extLst>
          </p:cNvPr>
          <p:cNvSpPr txBox="1"/>
          <p:nvPr/>
        </p:nvSpPr>
        <p:spPr>
          <a:xfrm>
            <a:off x="1229352" y="4965273"/>
            <a:ext cx="39395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works whenever the waiter happens to arrive first</a:t>
            </a:r>
          </a:p>
        </p:txBody>
      </p:sp>
    </p:spTree>
    <p:extLst>
      <p:ext uri="{BB962C8B-B14F-4D97-AF65-F5344CB8AC3E}">
        <p14:creationId xmlns:p14="http://schemas.microsoft.com/office/powerpoint/2010/main" val="158353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8C2EA-C5DF-105D-4B3D-687E357E2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D6550-F778-1BA7-DAE5-D997B5F8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raunces-72pt-SemiBold-NonWonky"/>
              </a:rPr>
              <a:t>Zookeeper rule #2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36089-F1BF-F132-B145-B6D72499DFB4}"/>
              </a:ext>
            </a:extLst>
          </p:cNvPr>
          <p:cNvSpPr txBox="1"/>
          <p:nvPr/>
        </p:nvSpPr>
        <p:spPr>
          <a:xfrm>
            <a:off x="838200" y="1614196"/>
            <a:ext cx="57296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A mutex is not just a door.  </a:t>
            </a:r>
          </a:p>
          <a:p>
            <a:r>
              <a:rPr lang="en-US" sz="2200" i="1" dirty="0">
                <a:latin typeface="SourceSans3ExtraLight"/>
              </a:rPr>
              <a:t>It is also a memory handshake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E008B-008B-511A-1711-2B94807B35BE}"/>
              </a:ext>
            </a:extLst>
          </p:cNvPr>
          <p:cNvSpPr txBox="1"/>
          <p:nvPr/>
        </p:nvSpPr>
        <p:spPr>
          <a:xfrm>
            <a:off x="838200" y="2855164"/>
            <a:ext cx="9549440" cy="309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Change shared state while holding the mutex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Inspect it while holding the same mutex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predicate is the truth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notification is only a prompt to check again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/>
              <a:t>For a single atomic flag or counter atomic::wait / notify may be simpler.</a:t>
            </a:r>
          </a:p>
        </p:txBody>
      </p:sp>
    </p:spTree>
    <p:extLst>
      <p:ext uri="{BB962C8B-B14F-4D97-AF65-F5344CB8AC3E}">
        <p14:creationId xmlns:p14="http://schemas.microsoft.com/office/powerpoint/2010/main" val="400410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D10D9-88AF-BFD0-A622-0EC5F2410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3967-12A7-F4D0-DC89-AB0A4E8DD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Zone 3: The Ruins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B4FC854-8595-6E52-B94A-2EA4C919B5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SourceSans3ExtraLight"/>
              </a:rPr>
              <a:t>The next monsters do not break synchronization</a:t>
            </a:r>
          </a:p>
          <a:p>
            <a:endParaRPr lang="en-US" i="1" dirty="0">
              <a:latin typeface="SourceSans3ExtraLight"/>
            </a:endParaRPr>
          </a:p>
          <a:p>
            <a:r>
              <a:rPr lang="en-US" i="1" dirty="0">
                <a:latin typeface="SourceSans3ExtraLight"/>
              </a:rPr>
              <a:t>They break lifetime.</a:t>
            </a:r>
          </a:p>
        </p:txBody>
      </p:sp>
    </p:spTree>
    <p:extLst>
      <p:ext uri="{BB962C8B-B14F-4D97-AF65-F5344CB8AC3E}">
        <p14:creationId xmlns:p14="http://schemas.microsoft.com/office/powerpoint/2010/main" val="1591485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1EAA2-53A6-7E5D-2C6F-BE12C4819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1A0F-A555-1AFD-34DA-AB69C9D9B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Runaway Ferret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7A230-4672-F411-DB20-2108CADFAB4D}"/>
              </a:ext>
            </a:extLst>
          </p:cNvPr>
          <p:cNvSpPr txBox="1"/>
          <p:nvPr/>
        </p:nvSpPr>
        <p:spPr>
          <a:xfrm>
            <a:off x="838200" y="3870930"/>
            <a:ext cx="101999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Small. Fast. Impossible to keep in its enclosure.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Slips out before feeding time ends…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…and keeps chewing on variables that no longer exist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F8DC17F-8558-0AC9-F05A-9B30825E75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15431" y="480219"/>
            <a:ext cx="2743745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42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E8DAE-0740-8334-959C-0DF40F59F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214C-14C1-7199-28D9-7F8A98DA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Runaway Ferret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41A5-3284-95D8-0A75-334BF7817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29931"/>
            <a:ext cx="8619067" cy="33468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manage_zoo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string menu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load_menu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thread keeper([menu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string_view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{menu}] {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follow_menu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(menu); 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});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keeper.detach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menu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prepare_tomorrow_menu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30889A-D0CD-6053-9DAD-F5C837D3C8E1}"/>
              </a:ext>
            </a:extLst>
          </p:cNvPr>
          <p:cNvSpPr txBox="1"/>
          <p:nvPr/>
        </p:nvSpPr>
        <p:spPr>
          <a:xfrm>
            <a:off x="752475" y="5150245"/>
            <a:ext cx="111590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capture is by value. What escaped?</a:t>
            </a:r>
          </a:p>
          <a:p>
            <a:endParaRPr lang="en-US" sz="2200" dirty="0"/>
          </a:p>
          <a:p>
            <a:r>
              <a:rPr lang="en-US" sz="2200" dirty="0"/>
              <a:t>The lambda owns its </a:t>
            </a:r>
            <a:r>
              <a:rPr lang="en-US" sz="2200" dirty="0" err="1"/>
              <a:t>string_view</a:t>
            </a:r>
            <a:r>
              <a:rPr lang="en-US" sz="2200" dirty="0"/>
              <a:t> - it does not own the characters the view refers to.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F283EB2-3C98-A7D7-6BD7-6A0BD2DA8D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15431" y="480219"/>
            <a:ext cx="2743745" cy="169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4EB7-1A24-FC24-4FE1-7A6B9A81E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049E-98F0-DCB2-8628-B1548A33F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Runaway Ferret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662C15-9902-8AE3-9D35-C7986D4EFFCF}"/>
              </a:ext>
            </a:extLst>
          </p:cNvPr>
          <p:cNvSpPr txBox="1"/>
          <p:nvPr/>
        </p:nvSpPr>
        <p:spPr>
          <a:xfrm>
            <a:off x="838200" y="5421297"/>
            <a:ext cx="100203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Capturing by value copies the object - not necessarily what it refers to.</a:t>
            </a:r>
          </a:p>
          <a:p>
            <a:r>
              <a:rPr lang="en-US" sz="2200" dirty="0"/>
              <a:t>Detach is what let the work outlive the menu and leads to </a:t>
            </a:r>
            <a:r>
              <a:rPr lang="en-US" sz="2200" b="1" dirty="0"/>
              <a:t>use-after-lifetime</a:t>
            </a:r>
            <a:r>
              <a:rPr lang="en-US" sz="2200" dirty="0"/>
              <a:t> UB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CCE2EF-1735-EF6B-246F-A61DAF1DF5E4}"/>
              </a:ext>
            </a:extLst>
          </p:cNvPr>
          <p:cNvSpPr txBox="1"/>
          <p:nvPr/>
        </p:nvSpPr>
        <p:spPr>
          <a:xfrm>
            <a:off x="6493933" y="1564729"/>
            <a:ext cx="569806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Possible outcomes: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An immediate crash when the late keeper follows the released menu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ferret bites whoever now lives at that address and hurt 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ferret eats whatever now lives at that address and gets sick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F1164AB-924C-991C-6535-CCC64BE13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3696" y="2242343"/>
            <a:ext cx="3796156" cy="233918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11CBE85-1596-883D-1E1E-D26C19B80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683909">
            <a:off x="1375550" y="3521099"/>
            <a:ext cx="1024155" cy="106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29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C94D-E011-D4AB-E6C6-3B8388AC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1281E1-C232-09E9-4ABB-EEFF530D9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85420"/>
            <a:ext cx="5205191" cy="6321287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6AE8E3E-E112-BABD-53FA-9B3BF9248059}"/>
              </a:ext>
            </a:extLst>
          </p:cNvPr>
          <p:cNvSpPr txBox="1">
            <a:spLocks/>
          </p:cNvSpPr>
          <p:nvPr/>
        </p:nvSpPr>
        <p:spPr>
          <a:xfrm>
            <a:off x="6206071" y="541867"/>
            <a:ext cx="5825061" cy="5635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manage_zoo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string menu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load_menu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keeper([menu = move(menu)]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follow_menu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(menu);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});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menu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prepare_tomorrow_menu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051CA-E9AC-D7DC-ACFC-BA515FDD99DA}"/>
              </a:ext>
            </a:extLst>
          </p:cNvPr>
          <p:cNvSpPr txBox="1"/>
          <p:nvPr/>
        </p:nvSpPr>
        <p:spPr>
          <a:xfrm>
            <a:off x="1515533" y="465593"/>
            <a:ext cx="3191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Runaway Ferret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D9AF0-971C-3E71-4856-DCE74E1874BA}"/>
              </a:ext>
            </a:extLst>
          </p:cNvPr>
          <p:cNvSpPr txBox="1"/>
          <p:nvPr/>
        </p:nvSpPr>
        <p:spPr>
          <a:xfrm>
            <a:off x="6206071" y="527535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lambda owns the string. </a:t>
            </a:r>
          </a:p>
          <a:p>
            <a:r>
              <a:rPr lang="en-US" sz="2200" dirty="0"/>
              <a:t>The </a:t>
            </a:r>
            <a:r>
              <a:rPr lang="en-US" sz="2200" dirty="0" err="1"/>
              <a:t>jthread</a:t>
            </a:r>
            <a:r>
              <a:rPr lang="en-US" sz="2200" dirty="0"/>
              <a:t> owns and joins the execution.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AFCFB09-516E-41EC-05E3-33496B4340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9626" y="1443828"/>
            <a:ext cx="2743745" cy="1690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444D06-844B-2DF9-5781-DD94027E75EB}"/>
              </a:ext>
            </a:extLst>
          </p:cNvPr>
          <p:cNvSpPr txBox="1"/>
          <p:nvPr/>
        </p:nvSpPr>
        <p:spPr>
          <a:xfrm>
            <a:off x="1229352" y="3541034"/>
            <a:ext cx="40030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detach(), </a:t>
            </a:r>
            <a:r>
              <a:rPr lang="en-US" sz="2000" dirty="0" err="1"/>
              <a:t>string_view</a:t>
            </a:r>
            <a:r>
              <a:rPr lang="en-US" sz="2000" dirty="0"/>
              <a:t>, span, iterators, fire-and-forget tasks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4EEA2C-F491-45AE-CF21-CB5890E660CF}"/>
              </a:ext>
            </a:extLst>
          </p:cNvPr>
          <p:cNvSpPr txBox="1"/>
          <p:nvPr/>
        </p:nvSpPr>
        <p:spPr>
          <a:xfrm>
            <a:off x="1229352" y="4265854"/>
            <a:ext cx="40030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reads through a copied borrower after its owner is gone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BB426-35F8-8C59-F607-0790B383D61F}"/>
              </a:ext>
            </a:extLst>
          </p:cNvPr>
          <p:cNvSpPr txBox="1"/>
          <p:nvPr/>
        </p:nvSpPr>
        <p:spPr>
          <a:xfrm>
            <a:off x="1229352" y="5690439"/>
            <a:ext cx="4428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give every thread an owner; </a:t>
            </a:r>
          </a:p>
          <a:p>
            <a:r>
              <a:rPr lang="en-US" sz="2000" dirty="0"/>
              <a:t>capture owning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11D82-B003-2A78-2E38-C326FA9131D5}"/>
              </a:ext>
            </a:extLst>
          </p:cNvPr>
          <p:cNvSpPr txBox="1"/>
          <p:nvPr/>
        </p:nvSpPr>
        <p:spPr>
          <a:xfrm>
            <a:off x="1229352" y="4965273"/>
            <a:ext cx="4428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capture by value and the background work finishes quickly</a:t>
            </a:r>
          </a:p>
        </p:txBody>
      </p:sp>
    </p:spTree>
    <p:extLst>
      <p:ext uri="{BB962C8B-B14F-4D97-AF65-F5344CB8AC3E}">
        <p14:creationId xmlns:p14="http://schemas.microsoft.com/office/powerpoint/2010/main" val="185599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  <p:bldP spid="16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DE8F9-396F-2BB6-E93E-B1D0EAA6D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94BD-5E25-529D-F9D7-EDAC7ADC4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Scavenger Jackal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A9735-9449-B6CF-84A5-F5F50B9732FC}"/>
              </a:ext>
            </a:extLst>
          </p:cNvPr>
          <p:cNvSpPr txBox="1"/>
          <p:nvPr/>
        </p:nvSpPr>
        <p:spPr>
          <a:xfrm>
            <a:off x="838200" y="3870930"/>
            <a:ext cx="101999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Patient. Opportunistic. Arrives after everyone has gone home.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Finds an abandoned address…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…and writes into whoever lives there now.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10A9E4D-BB71-ADDA-994D-8898DD745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1099" y="493156"/>
            <a:ext cx="2787199" cy="212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79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F723B-B445-004D-56C9-477E1BBC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B5A16-B03A-6840-00BB-2E3B73E0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Scavenger Jackal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A751F-AB8C-394B-046E-FD7AF156A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8619067" cy="3519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food_tray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tray;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open(zoo&amp; owner)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owner.on_feeding_time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([this] {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tray.refill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prepare_jackal_meal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());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});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2EC2BE-2257-13C8-D0AE-A2D2D00B05E1}"/>
              </a:ext>
            </a:extLst>
          </p:cNvPr>
          <p:cNvSpPr txBox="1"/>
          <p:nvPr/>
        </p:nvSpPr>
        <p:spPr>
          <a:xfrm>
            <a:off x="838200" y="5284654"/>
            <a:ext cx="1115906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jackal enclosure registers for the next feeding time</a:t>
            </a:r>
          </a:p>
          <a:p>
            <a:endParaRPr lang="en-US" sz="2200" dirty="0"/>
          </a:p>
          <a:p>
            <a:r>
              <a:rPr lang="en-US" sz="2200" dirty="0"/>
              <a:t>The enclosure closes. The zoo still remembers the callback and its address.</a:t>
            </a:r>
          </a:p>
          <a:p>
            <a:endParaRPr lang="en-US" sz="2200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12A24D0-DFFB-0C83-109F-38ACDCF40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01099" y="493156"/>
            <a:ext cx="2787199" cy="212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5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83C84-2E20-FCEE-0C90-25AE8B4F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D7B4-31D2-00AA-80B5-0CCB4B924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Scavenger Jackal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2F80F-982E-C9E2-4274-4CB9DD0AEAF2}"/>
              </a:ext>
            </a:extLst>
          </p:cNvPr>
          <p:cNvSpPr txBox="1"/>
          <p:nvPr/>
        </p:nvSpPr>
        <p:spPr>
          <a:xfrm>
            <a:off x="838200" y="5421297"/>
            <a:ext cx="673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callback holds a </a:t>
            </a:r>
            <a:r>
              <a:rPr lang="en-US" sz="2200" b="1" dirty="0"/>
              <a:t>dangling this pointer</a:t>
            </a:r>
            <a:r>
              <a:rPr lang="en-US" sz="2200" dirty="0"/>
              <a:t>.</a:t>
            </a:r>
          </a:p>
          <a:p>
            <a:r>
              <a:rPr lang="en-US" sz="2200" dirty="0"/>
              <a:t>Using it is </a:t>
            </a:r>
            <a:r>
              <a:rPr lang="en-US" sz="2200" b="1" dirty="0"/>
              <a:t>use-after-lifetime</a:t>
            </a:r>
            <a:r>
              <a:rPr lang="en-US" sz="2200" dirty="0"/>
              <a:t> and undefined behavior.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5DF78-0234-176B-0789-254F8705F153}"/>
              </a:ext>
            </a:extLst>
          </p:cNvPr>
          <p:cNvSpPr txBox="1"/>
          <p:nvPr/>
        </p:nvSpPr>
        <p:spPr>
          <a:xfrm>
            <a:off x="6493933" y="1564729"/>
            <a:ext cx="569806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Possible outcomes:</a:t>
            </a:r>
          </a:p>
          <a:p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An immediate crash when the callback follows the dangling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jackal meal poured into the new balloon stand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The balloon stand crashes later because one of its fields was corrupted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9657A7-DE53-854A-DBC3-CAB7349E8A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747192" y="2594168"/>
            <a:ext cx="2705099" cy="21230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71E0BA-C924-6C2F-F676-F9707E1687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0344" y="1564729"/>
            <a:ext cx="2140464" cy="284375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5ADB62-4CB5-1340-4D03-36C7458A93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2043" y="2631753"/>
            <a:ext cx="2705100" cy="181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8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18F18-560F-41A3-2110-98A9C7E4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9F02D-519A-08EB-9B71-9D7833D52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85420"/>
            <a:ext cx="5205191" cy="6321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8F3118-29B0-F024-27E1-37DE39EBBA34}"/>
              </a:ext>
            </a:extLst>
          </p:cNvPr>
          <p:cNvSpPr txBox="1"/>
          <p:nvPr/>
        </p:nvSpPr>
        <p:spPr>
          <a:xfrm>
            <a:off x="1229352" y="3541034"/>
            <a:ext cx="4461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[this] captures, timers, callbacks, event loops, task executors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89BA50-BC87-985E-4C55-5C35D9D3996C}"/>
              </a:ext>
            </a:extLst>
          </p:cNvPr>
          <p:cNvSpPr txBox="1"/>
          <p:nvPr/>
        </p:nvSpPr>
        <p:spPr>
          <a:xfrm>
            <a:off x="1229352" y="4265854"/>
            <a:ext cx="4715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returns to an enclosure after the enclosure is gone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81C339-55E1-BC30-931A-61C2BA575BDA}"/>
              </a:ext>
            </a:extLst>
          </p:cNvPr>
          <p:cNvSpPr txBox="1"/>
          <p:nvPr/>
        </p:nvSpPr>
        <p:spPr>
          <a:xfrm>
            <a:off x="1229352" y="5690439"/>
            <a:ext cx="4428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unregister and drain callbacks, or capture weak ownership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A7873F-94D9-0D8A-AC00-166A05A6AF52}"/>
              </a:ext>
            </a:extLst>
          </p:cNvPr>
          <p:cNvSpPr txBox="1"/>
          <p:nvPr/>
        </p:nvSpPr>
        <p:spPr>
          <a:xfrm>
            <a:off x="1229352" y="4965273"/>
            <a:ext cx="4428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event usually fires while the enclosure is still open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5D9FCF0-FAAB-7E2F-C044-D207DF7982C4}"/>
              </a:ext>
            </a:extLst>
          </p:cNvPr>
          <p:cNvSpPr txBox="1">
            <a:spLocks/>
          </p:cNvSpPr>
          <p:nvPr/>
        </p:nvSpPr>
        <p:spPr>
          <a:xfrm>
            <a:off x="5917067" y="541867"/>
            <a:ext cx="6114066" cy="563509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shared_ptr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&lt;jackals&gt;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open_jackal_enclosure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(zoo&amp; owner)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auto enclosure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make_shared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&lt;jackals&gt;();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weak_ptr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&lt;jackals&gt; weak = enclosure;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owner.register_feeding_callback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([weak]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if (auto live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weak.lock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    live-&gt;feed();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});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return enclosure;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E5A31-C1C9-B929-0069-9D8D7F05D2E4}"/>
              </a:ext>
            </a:extLst>
          </p:cNvPr>
          <p:cNvSpPr txBox="1"/>
          <p:nvPr/>
        </p:nvSpPr>
        <p:spPr>
          <a:xfrm>
            <a:off x="1515533" y="389391"/>
            <a:ext cx="3191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Scavenger Jackal</a:t>
            </a:r>
            <a:endParaRPr lang="en-US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A0723D1-13BF-36F5-18F9-1244B0E9B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9401" y="1276249"/>
            <a:ext cx="2787199" cy="212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2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4" grpId="0"/>
      <p:bldP spid="1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7D51C-1B11-30BB-584F-639D7A25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3831-9945-818B-4C17-4C1FF00D7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200" cy="1325563"/>
          </a:xfrm>
        </p:spPr>
        <p:txBody>
          <a:bodyPr/>
          <a:lstStyle/>
          <a:p>
            <a:r>
              <a:rPr lang="en-US" b="1" dirty="0">
                <a:latin typeface="Fraunces-72pt-SemiBold-NonWonky"/>
              </a:rPr>
              <a:t>Zookeeper rule #3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6B5C3-3FE7-4FE1-A880-992A9819C785}"/>
              </a:ext>
            </a:extLst>
          </p:cNvPr>
          <p:cNvSpPr txBox="1"/>
          <p:nvPr/>
        </p:nvSpPr>
        <p:spPr>
          <a:xfrm>
            <a:off x="838200" y="2922897"/>
            <a:ext cx="9549440" cy="309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Establish lifetime first, then synchronize shared access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Capturing this does not extend the enclosure's lifetime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</a:t>
            </a:r>
            <a:r>
              <a:rPr lang="en-US" sz="2200" dirty="0" err="1"/>
              <a:t>weak_ptr</a:t>
            </a:r>
            <a:r>
              <a:rPr lang="en-US" sz="2200" dirty="0"/>
              <a:t> can be checked without keeping the enclosure alive forever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weak.lock</a:t>
            </a:r>
            <a:r>
              <a:rPr lang="en-US" sz="2200" dirty="0"/>
              <a:t>() keeps a live enclosure alive for that callback invocation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An expired enclosure turns the callback into a no-op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B298A1-F353-556A-CD42-80D9968FC7A1}"/>
              </a:ext>
            </a:extLst>
          </p:cNvPr>
          <p:cNvSpPr txBox="1"/>
          <p:nvPr/>
        </p:nvSpPr>
        <p:spPr>
          <a:xfrm>
            <a:off x="838200" y="1614196"/>
            <a:ext cx="57296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Synchronization controls concurrent access.  </a:t>
            </a:r>
          </a:p>
          <a:p>
            <a:r>
              <a:rPr lang="en-US" sz="2200" i="1" dirty="0">
                <a:latin typeface="SourceSans3ExtraLight"/>
              </a:rPr>
              <a:t>It cannot keep a dead object alive.</a:t>
            </a:r>
          </a:p>
        </p:txBody>
      </p:sp>
    </p:spTree>
    <p:extLst>
      <p:ext uri="{BB962C8B-B14F-4D97-AF65-F5344CB8AC3E}">
        <p14:creationId xmlns:p14="http://schemas.microsoft.com/office/powerpoint/2010/main" val="323973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F5F32-1221-BEF4-F5E9-2576B7315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87F4-04F4-94E1-3509-8C10FA895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144001" cy="2387600"/>
          </a:xfrm>
        </p:spPr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Zone 4: The Crossing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AD2FDD-72B0-ADBF-CB6C-17FE38F46A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SourceSans3ExtraLight"/>
              </a:rPr>
              <a:t>Where all paths meet, and everyone reveals their true character.</a:t>
            </a:r>
          </a:p>
        </p:txBody>
      </p:sp>
    </p:spTree>
    <p:extLst>
      <p:ext uri="{BB962C8B-B14F-4D97-AF65-F5344CB8AC3E}">
        <p14:creationId xmlns:p14="http://schemas.microsoft.com/office/powerpoint/2010/main" val="7867085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2BFEF-12E7-7C8A-FF81-1A799B51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E113-C784-4795-1558-AF20FBEA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Gallant Reindeer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C5B4F-060A-C667-10D4-BD93E13FD160}"/>
              </a:ext>
            </a:extLst>
          </p:cNvPr>
          <p:cNvSpPr txBox="1"/>
          <p:nvPr/>
        </p:nvSpPr>
        <p:spPr>
          <a:xfrm>
            <a:off x="838200" y="3870930"/>
            <a:ext cx="101999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Polite. Disciplined. Keen to do the right thing.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No pushing. No fighting. No chaos.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Traffic management is not their gift.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C469F7-1A9B-52F7-4ED1-1978FFF28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95669" y="670096"/>
            <a:ext cx="1958131" cy="231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48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77FC3-0B12-53EF-9630-971AB7CE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01255-3052-ECE4-83D7-9D6F01D4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Gallant Reindeer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7566B-D118-1CFC-A399-35DA6D49B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3725334" cy="2597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mutex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west_half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east_half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cross_from_west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west(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west_half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east(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east_half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cross_bridge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CDDBDE-E50D-D462-6FE1-716BF5CC37C2}"/>
              </a:ext>
            </a:extLst>
          </p:cNvPr>
          <p:cNvSpPr txBox="1"/>
          <p:nvPr/>
        </p:nvSpPr>
        <p:spPr>
          <a:xfrm>
            <a:off x="838200" y="4369217"/>
            <a:ext cx="1115906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Two reindeer enter a narrow bridge from opposite ends. Each claims the half ahead and waits for the other half.</a:t>
            </a:r>
          </a:p>
          <a:p>
            <a:endParaRPr lang="en-US" sz="2200" dirty="0"/>
          </a:p>
          <a:p>
            <a:r>
              <a:rPr lang="en-US" sz="2200" dirty="0"/>
              <a:t>Neither retreats. Neither crosses.</a:t>
            </a:r>
          </a:p>
          <a:p>
            <a:endParaRPr lang="en-US" sz="2200" dirty="0"/>
          </a:p>
          <a:p>
            <a:r>
              <a:rPr lang="en-US" sz="2200" dirty="0"/>
              <a:t>This is </a:t>
            </a:r>
            <a:r>
              <a:rPr lang="en-US" sz="2200" b="1" dirty="0"/>
              <a:t>deadlock</a:t>
            </a:r>
            <a:r>
              <a:rPr lang="en-US" sz="2200" dirty="0"/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707A75-4ECF-B788-546A-2C3C3CF1E5C1}"/>
              </a:ext>
            </a:extLst>
          </p:cNvPr>
          <p:cNvSpPr txBox="1">
            <a:spLocks/>
          </p:cNvSpPr>
          <p:nvPr/>
        </p:nvSpPr>
        <p:spPr>
          <a:xfrm>
            <a:off x="8271933" y="1690688"/>
            <a:ext cx="3725334" cy="2597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cross_from_east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east(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east_half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west(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west_half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cross_bridge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67BCAD8-BF38-613A-6CA5-A8AAB95FF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3727" y="2488783"/>
            <a:ext cx="1192772" cy="141135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14F9C73-0087-D5FB-664D-3A445F6976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4460009" y="2488783"/>
            <a:ext cx="1192772" cy="141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5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1750-5843-B771-256B-4AC4A6FC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49C3-834F-F878-CE85-3C5F1125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Gallant Reindeer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5551A-92FB-CFE5-E37D-59DAD8AF2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1668"/>
            <a:ext cx="6248401" cy="283157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occupy(near);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try_occupy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(far))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cross_bridge_and_release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(near, far);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return;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release(near);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bow_and_retry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EFC0E1-B6E6-E7E6-EBF8-F1E4E0EC1515}"/>
              </a:ext>
            </a:extLst>
          </p:cNvPr>
          <p:cNvSpPr txBox="1"/>
          <p:nvPr/>
        </p:nvSpPr>
        <p:spPr>
          <a:xfrm>
            <a:off x="838200" y="4369217"/>
            <a:ext cx="1115906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They are active. They are courteous. They still never cross.</a:t>
            </a:r>
          </a:p>
          <a:p>
            <a:endParaRPr lang="en-US" sz="2200" dirty="0"/>
          </a:p>
          <a:p>
            <a:r>
              <a:rPr lang="en-US" sz="2200" dirty="0"/>
              <a:t>This is </a:t>
            </a:r>
            <a:r>
              <a:rPr lang="en-US" sz="2200" b="1" dirty="0" err="1"/>
              <a:t>livelock</a:t>
            </a:r>
            <a:r>
              <a:rPr lang="en-US" sz="2200" dirty="0"/>
              <a:t>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F6B264A-346A-A7FA-A307-11B270E6D4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4318" y="2029673"/>
            <a:ext cx="1693127" cy="200340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8D18C04-F958-A010-3489-74B4DD8D3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557331" y="2029673"/>
            <a:ext cx="1693127" cy="20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3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DBB97-6FA4-32DD-2A89-36BC1161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BD47-F4AB-D44C-DECD-C905B6F73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Gallant Reindeer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CA3BC-A99B-01D8-B314-095C64373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9"/>
            <a:ext cx="6070603" cy="25341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unique_lock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bridge(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bridge_mutex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);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bridge_changed.wait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(bridge, [&amp;] {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   return traffic == none || traffic == mine; });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traffic = mine;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reindeer_on_bridge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30BEDE-73A5-E235-734F-2F376D415766}"/>
              </a:ext>
            </a:extLst>
          </p:cNvPr>
          <p:cNvSpPr txBox="1"/>
          <p:nvPr/>
        </p:nvSpPr>
        <p:spPr>
          <a:xfrm>
            <a:off x="838200" y="4369217"/>
            <a:ext cx="1115906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Reindeer may join traffic already moving in their direction.</a:t>
            </a:r>
          </a:p>
          <a:p>
            <a:endParaRPr lang="en-US" sz="2200" dirty="0"/>
          </a:p>
          <a:p>
            <a:r>
              <a:rPr lang="en-US" sz="2200" dirty="0"/>
              <a:t>New arrivals keep joining the convoy. The bridge never empties, so other side</a:t>
            </a:r>
          </a:p>
          <a:p>
            <a:r>
              <a:rPr lang="en-US" sz="2200" dirty="0"/>
              <a:t>may wait forever.</a:t>
            </a:r>
          </a:p>
          <a:p>
            <a:endParaRPr lang="en-US" sz="2200" dirty="0"/>
          </a:p>
          <a:p>
            <a:r>
              <a:rPr lang="en-US" sz="2200" dirty="0"/>
              <a:t>This is </a:t>
            </a:r>
            <a:r>
              <a:rPr lang="en-US" sz="2200" b="1" dirty="0"/>
              <a:t>starvation</a:t>
            </a:r>
            <a:r>
              <a:rPr lang="en-US" sz="2200" dirty="0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26ED9ED-3816-0AE5-42A4-B024EE7E2664}"/>
              </a:ext>
            </a:extLst>
          </p:cNvPr>
          <p:cNvSpPr txBox="1">
            <a:spLocks/>
          </p:cNvSpPr>
          <p:nvPr/>
        </p:nvSpPr>
        <p:spPr>
          <a:xfrm>
            <a:off x="8317348" y="1690688"/>
            <a:ext cx="3822701" cy="24291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bridge.lock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if (--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reindeer_on_bridge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== 0)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    traffic = none;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   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bridge_changed.notify_all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</a:rPr>
              <a:t>}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665959-C5A9-2A0B-1384-AFD3B862C1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6518277" y="1835038"/>
            <a:ext cx="1192772" cy="141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40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D4CC8-5AC5-92AE-F3E3-D68C6ADEE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1990A-47F6-650B-923D-2694E3766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85420"/>
            <a:ext cx="5205191" cy="6321287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61B9B2D9-017C-E950-4CC8-EE321BAD6A71}"/>
              </a:ext>
            </a:extLst>
          </p:cNvPr>
          <p:cNvSpPr txBox="1">
            <a:spLocks/>
          </p:cNvSpPr>
          <p:nvPr/>
        </p:nvSpPr>
        <p:spPr>
          <a:xfrm>
            <a:off x="5778810" y="237068"/>
            <a:ext cx="6836523" cy="63669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cross_from_west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{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    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scoped_lock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bridge(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west_half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east_half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    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cross_bridge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  <a:p>
            <a:pPr marL="0" indent="0">
              <a:buNone/>
            </a:pPr>
            <a:endParaRPr lang="en-US" sz="19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cross_from_east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{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    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scoped_lock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bridge(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east_half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west_half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 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    </a:t>
            </a:r>
            <a:r>
              <a:rPr lang="en-US" sz="19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cross_bridge</a:t>
            </a: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19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  <a:endParaRPr lang="en-US" sz="19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30900-EB17-4E05-B575-1A93B0C9EA5C}"/>
              </a:ext>
            </a:extLst>
          </p:cNvPr>
          <p:cNvSpPr txBox="1"/>
          <p:nvPr/>
        </p:nvSpPr>
        <p:spPr>
          <a:xfrm>
            <a:off x="1718733" y="465593"/>
            <a:ext cx="3191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Gallant Reindeer</a:t>
            </a:r>
            <a:endParaRPr lang="en-US" b="1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04AA2FE-4395-79E8-03D6-4FC1778A8A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7469" y="1024952"/>
            <a:ext cx="1958131" cy="23169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44E886-E8FB-C173-3FD1-1FB172C0B286}"/>
              </a:ext>
            </a:extLst>
          </p:cNvPr>
          <p:cNvSpPr txBox="1"/>
          <p:nvPr/>
        </p:nvSpPr>
        <p:spPr>
          <a:xfrm>
            <a:off x="1267452" y="3541034"/>
            <a:ext cx="40538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multiple locks, synchronized retries, and unfair admission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BB45F-C3A8-38F2-E91A-FB8A14344BB0}"/>
              </a:ext>
            </a:extLst>
          </p:cNvPr>
          <p:cNvSpPr txBox="1"/>
          <p:nvPr/>
        </p:nvSpPr>
        <p:spPr>
          <a:xfrm>
            <a:off x="1267452" y="4265854"/>
            <a:ext cx="40538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deadlocks, </a:t>
            </a:r>
            <a:r>
              <a:rPr lang="en-US" sz="2000" dirty="0" err="1"/>
              <a:t>livelocks</a:t>
            </a:r>
            <a:r>
              <a:rPr lang="en-US" sz="2000" dirty="0"/>
              <a:t>, or leaves some threads waiting forever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4C136-6CAE-6C02-61E4-B5E3A8627208}"/>
              </a:ext>
            </a:extLst>
          </p:cNvPr>
          <p:cNvSpPr txBox="1"/>
          <p:nvPr/>
        </p:nvSpPr>
        <p:spPr>
          <a:xfrm>
            <a:off x="1267452" y="5690439"/>
            <a:ext cx="40538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order coupled locks; block instead of retry; force a fair handoff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DA6FFD-110F-0885-52DA-DEAE7687005A}"/>
              </a:ext>
            </a:extLst>
          </p:cNvPr>
          <p:cNvSpPr txBox="1"/>
          <p:nvPr/>
        </p:nvSpPr>
        <p:spPr>
          <a:xfrm>
            <a:off x="1267452" y="4965273"/>
            <a:ext cx="40538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each rule sounds reasonable and timing-dependent tests often 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DF020A-E362-D970-D33E-DE7D650CC535}"/>
              </a:ext>
            </a:extLst>
          </p:cNvPr>
          <p:cNvSpPr txBox="1"/>
          <p:nvPr/>
        </p:nvSpPr>
        <p:spPr>
          <a:xfrm>
            <a:off x="5945288" y="5275350"/>
            <a:ext cx="63567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Simplicity is often the winning design. </a:t>
            </a:r>
          </a:p>
          <a:p>
            <a:r>
              <a:rPr lang="en-US" sz="2400" dirty="0"/>
              <a:t>Against complicated dances it can win the performance race too.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61412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7" grpId="0"/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B803A-83CD-4F88-1DB4-D96D48E4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FD686-F5BA-A4C6-D86A-A23BBB979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Zone 5: Performance Aviary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D4A15F5-C63E-C95C-FC42-224CF31954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SourceSans3ExtraLight"/>
              </a:rPr>
              <a:t>Every bird is safe, and every gate works as designed.</a:t>
            </a:r>
          </a:p>
          <a:p>
            <a:endParaRPr lang="en-US" i="1" dirty="0">
              <a:latin typeface="SourceSans3ExtraLight"/>
            </a:endParaRPr>
          </a:p>
          <a:p>
            <a:r>
              <a:rPr lang="en-US" i="1" dirty="0">
                <a:latin typeface="SourceSans3ExtraLight"/>
              </a:rPr>
              <a:t>Yet today, even the strongest wings feel heavy.</a:t>
            </a:r>
          </a:p>
        </p:txBody>
      </p:sp>
    </p:spTree>
    <p:extLst>
      <p:ext uri="{BB962C8B-B14F-4D97-AF65-F5344CB8AC3E}">
        <p14:creationId xmlns:p14="http://schemas.microsoft.com/office/powerpoint/2010/main" val="31722620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E0A96-E5E2-4055-BEE9-CA454BBD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8DCB-87A4-2AB0-3D94-E25B99C3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Turnstile 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5F3C0-8A07-4944-8F2A-C74D5F35ADFA}"/>
              </a:ext>
            </a:extLst>
          </p:cNvPr>
          <p:cNvSpPr txBox="1"/>
          <p:nvPr/>
        </p:nvSpPr>
        <p:spPr>
          <a:xfrm>
            <a:off x="838200" y="4920797"/>
            <a:ext cx="101999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The tern believes a well-run zoo has a rule for every step.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No shortcut, no exception, no visitor out of line.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20A393-FC45-F88D-D30E-3634BD4A1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57792" y="452427"/>
            <a:ext cx="3956407" cy="190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590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687E2-0DEC-9DEB-62C5-31C1CC415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1A25-B33C-1F24-E6DD-8E8FAFB1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Turnstile Tern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1C625-51F8-A84C-85D6-E1ABD5FCB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533"/>
            <a:ext cx="2878668" cy="3079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mutex m;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visit_aquarium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lock(m);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aquarium_visitors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explore_aquarium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2059FE-0F85-1FB2-DEE6-E1018E59EB2B}"/>
              </a:ext>
            </a:extLst>
          </p:cNvPr>
          <p:cNvSpPr txBox="1"/>
          <p:nvPr/>
        </p:nvSpPr>
        <p:spPr>
          <a:xfrm>
            <a:off x="838200" y="4724815"/>
            <a:ext cx="1115906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Correct, but unrelated attractions are serialized</a:t>
            </a:r>
          </a:p>
          <a:p>
            <a:endParaRPr lang="en-US" sz="2200" dirty="0"/>
          </a:p>
          <a:p>
            <a:r>
              <a:rPr lang="en-US" sz="2200" dirty="0"/>
              <a:t>Too little synchronization breaks correctness.  </a:t>
            </a:r>
          </a:p>
          <a:p>
            <a:endParaRPr lang="en-US" sz="2200" dirty="0"/>
          </a:p>
          <a:p>
            <a:r>
              <a:rPr lang="en-US" sz="2200" dirty="0"/>
              <a:t>Too much synchronization quietly removes scalability.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11E90B-21FE-260F-5DAE-29BC52B146AE}"/>
              </a:ext>
            </a:extLst>
          </p:cNvPr>
          <p:cNvSpPr txBox="1">
            <a:spLocks/>
          </p:cNvSpPr>
          <p:nvPr/>
        </p:nvSpPr>
        <p:spPr>
          <a:xfrm>
            <a:off x="4360333" y="1648354"/>
            <a:ext cx="3302000" cy="301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ride_carousel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lock(m);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carousel_riders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buy_ice_cream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       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B786076-D92B-5579-E8FE-6794FC8D70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57792" y="452427"/>
            <a:ext cx="3956407" cy="190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39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C60F-3CF2-A276-2F61-7AE15520F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D0527-7AB4-C502-2CAA-74647F7DF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85420"/>
            <a:ext cx="5205191" cy="6321287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D1444D0-72F3-96D7-7769-1273B213F6C3}"/>
              </a:ext>
            </a:extLst>
          </p:cNvPr>
          <p:cNvSpPr txBox="1">
            <a:spLocks/>
          </p:cNvSpPr>
          <p:nvPr/>
        </p:nvSpPr>
        <p:spPr>
          <a:xfrm>
            <a:off x="6223000" y="541867"/>
            <a:ext cx="6392333" cy="547793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mutex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aquarium_m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mutex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carousel_m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ride_carousel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carousel_m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carousel_riders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}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buy_ice_cream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visit_aquarium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lock_guard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lock(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aquarium_m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aquarium_visitors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explore_aquarium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15FCD-D873-56B7-D4FD-A0055E6D026F}"/>
              </a:ext>
            </a:extLst>
          </p:cNvPr>
          <p:cNvSpPr txBox="1"/>
          <p:nvPr/>
        </p:nvSpPr>
        <p:spPr>
          <a:xfrm>
            <a:off x="1515533" y="465593"/>
            <a:ext cx="3191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Turnstile Tern</a:t>
            </a:r>
            <a:endParaRPr lang="en-US" b="1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8C3410-C9B6-278E-75E4-28EB300500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295" y="1259703"/>
            <a:ext cx="3956407" cy="190221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1FC2C9C-D36D-716E-4F9D-97A61AADDA75}"/>
              </a:ext>
            </a:extLst>
          </p:cNvPr>
          <p:cNvSpPr txBox="1"/>
          <p:nvPr/>
        </p:nvSpPr>
        <p:spPr>
          <a:xfrm>
            <a:off x="1229352" y="3541034"/>
            <a:ext cx="41173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one giant lock around unrelated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30D876-C027-3B66-34C5-7FE8A8297C79}"/>
              </a:ext>
            </a:extLst>
          </p:cNvPr>
          <p:cNvSpPr txBox="1"/>
          <p:nvPr/>
        </p:nvSpPr>
        <p:spPr>
          <a:xfrm>
            <a:off x="1229352" y="4265854"/>
            <a:ext cx="4715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turns a multicore system </a:t>
            </a:r>
          </a:p>
          <a:p>
            <a:r>
              <a:rPr lang="en-US" sz="2000" dirty="0"/>
              <a:t>into a single-file queue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A93038-9E0D-21AE-BBFC-7567291C83A3}"/>
              </a:ext>
            </a:extLst>
          </p:cNvPr>
          <p:cNvSpPr txBox="1"/>
          <p:nvPr/>
        </p:nvSpPr>
        <p:spPr>
          <a:xfrm>
            <a:off x="1229352" y="5690439"/>
            <a:ext cx="44280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protect the smallest meaningful invariant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D9452F-0A8E-E66E-BA8A-981B39F25D49}"/>
              </a:ext>
            </a:extLst>
          </p:cNvPr>
          <p:cNvSpPr txBox="1"/>
          <p:nvPr/>
        </p:nvSpPr>
        <p:spPr>
          <a:xfrm>
            <a:off x="1229352" y="4965273"/>
            <a:ext cx="41173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correctness tests pass; small demos have little contention</a:t>
            </a:r>
          </a:p>
        </p:txBody>
      </p:sp>
    </p:spTree>
    <p:extLst>
      <p:ext uri="{BB962C8B-B14F-4D97-AF65-F5344CB8AC3E}">
        <p14:creationId xmlns:p14="http://schemas.microsoft.com/office/powerpoint/2010/main" val="54554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62737-C5CF-D04B-D776-2BF4853A8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B2DA-8AB0-650E-9222-4DED925D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Next-Door Sparrows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E9402C-DF0D-7DB3-BE8C-1FC4C6E0F685}"/>
              </a:ext>
            </a:extLst>
          </p:cNvPr>
          <p:cNvSpPr txBox="1"/>
          <p:nvPr/>
        </p:nvSpPr>
        <p:spPr>
          <a:xfrm>
            <a:off x="838200" y="4920797"/>
            <a:ext cx="101999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They live next door, each in a nest of its own.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Whenever one stirs, the other's whole home shakes.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0F267A3-C95D-C3CE-04A9-144B6A4B2A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2659" y="510320"/>
            <a:ext cx="2195601" cy="151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101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8BE59-D6F1-5FFE-5D04-B107831C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4E6F-6D86-513C-AD5E-73A734C4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Next-Door Sparrows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2166-1FA1-FD85-FF5C-D13549784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653532"/>
            <a:ext cx="9461501" cy="401066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struct Nest { atomic&lt;unsigned&gt; sticks{0}; char name[28]{}; };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std::array&lt;Nest, 4&gt; oak {};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build_nest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(Nest&amp; home)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while 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find_new_stick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home.sticks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array&lt;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4&gt; sparrows;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for 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size_t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sparrows.size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sparrows[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]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build_nest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ref(oak[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]));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E136EB-3205-AC72-F0B1-A081F2CCACFE}"/>
              </a:ext>
            </a:extLst>
          </p:cNvPr>
          <p:cNvSpPr txBox="1"/>
          <p:nvPr/>
        </p:nvSpPr>
        <p:spPr>
          <a:xfrm>
            <a:off x="838199" y="5805831"/>
            <a:ext cx="111590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Each sparrow adds sticks to a different atomic nest. There is no data race.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6025B72-1685-08CE-9992-F0052CCAB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62659" y="510320"/>
            <a:ext cx="2195601" cy="151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87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DC9E6-572A-C433-45E6-69A96613F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4FFF-597E-8475-78AC-B93A7BF6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Next-Door Sparrows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47E683-8E02-5F34-284C-51C1CFAFBCE6}"/>
              </a:ext>
            </a:extLst>
          </p:cNvPr>
          <p:cNvSpPr txBox="1"/>
          <p:nvPr/>
        </p:nvSpPr>
        <p:spPr>
          <a:xfrm>
            <a:off x="838199" y="5723434"/>
            <a:ext cx="1115906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No sticks are lost and neither nest is corrupted. Why did building the two</a:t>
            </a:r>
          </a:p>
          <a:p>
            <a:r>
              <a:rPr lang="en-US" sz="2200" dirty="0"/>
              <a:t>nests take longer, even though the sparrows worked in parallel?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8327BCC-917E-0912-DA9D-E1D92A3215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199" y="1690688"/>
            <a:ext cx="4469297" cy="387032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E25E70B-852B-3836-F34C-D87CB3331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6114" y="4765403"/>
            <a:ext cx="761555" cy="79560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2DBB213-C861-ADC0-7D0F-4CC3E8E179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1786" y="4765403"/>
            <a:ext cx="761555" cy="79560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3A90832F-6211-6AB6-F585-1B48B31C6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6314" y="4765402"/>
            <a:ext cx="761555" cy="79560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CA41CE2-7072-ADF6-5335-83B457EF3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845" y="4765401"/>
            <a:ext cx="761555" cy="79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273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CEDAE-EEE0-DB1D-BECD-2A8E2EA40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362C-A966-5E0A-A401-B7C38473D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Next-Door Sparrows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DDAADB-56FE-B2D9-9782-4C1CAA7DD821}"/>
              </a:ext>
            </a:extLst>
          </p:cNvPr>
          <p:cNvSpPr txBox="1"/>
          <p:nvPr/>
        </p:nvSpPr>
        <p:spPr>
          <a:xfrm>
            <a:off x="838199" y="5464241"/>
            <a:ext cx="1115906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The hardware preserves correctness at the cost of cache-line traffic on every write.</a:t>
            </a:r>
          </a:p>
          <a:p>
            <a:endParaRPr lang="en-US" sz="2200" dirty="0"/>
          </a:p>
          <a:p>
            <a:r>
              <a:rPr lang="en-US" sz="2200" dirty="0"/>
              <a:t>This is </a:t>
            </a:r>
            <a:r>
              <a:rPr lang="en-US" sz="2200" b="1" dirty="0"/>
              <a:t>false sharing</a:t>
            </a:r>
            <a:r>
              <a:rPr lang="en-US" sz="22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98FFD4-54AE-B933-7B64-746AB94A8435}"/>
              </a:ext>
            </a:extLst>
          </p:cNvPr>
          <p:cNvSpPr txBox="1"/>
          <p:nvPr/>
        </p:nvSpPr>
        <p:spPr>
          <a:xfrm>
            <a:off x="7287059" y="1295102"/>
            <a:ext cx="397784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A adds a stick to the left nest              → invalidates core B's copy</a:t>
            </a:r>
          </a:p>
          <a:p>
            <a:endParaRPr lang="en-US" sz="2200" dirty="0"/>
          </a:p>
          <a:p>
            <a:r>
              <a:rPr lang="en-US" sz="2200" dirty="0"/>
              <a:t>B adds a stick to the right nest → invalidates core A's copy</a:t>
            </a:r>
          </a:p>
          <a:p>
            <a:endParaRPr lang="en-US" sz="2200" dirty="0"/>
          </a:p>
          <a:p>
            <a:r>
              <a:rPr lang="en-US" sz="2200" dirty="0"/>
              <a:t>A adds another stick                     → takes the line back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BA79FF9-DE3D-4B21-4D64-49083F390C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2416" y="1880547"/>
            <a:ext cx="4433599" cy="30755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FE389C4-1E6C-1B5E-5B84-BCB188048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13818" y="4230243"/>
            <a:ext cx="761555" cy="79560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DDD0E589-D1A1-243A-5FB7-54F71B17E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9490" y="4230243"/>
            <a:ext cx="761555" cy="79560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3811A5B-BD7D-B25E-C759-29D4B86CC0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4018" y="4230242"/>
            <a:ext cx="761555" cy="79560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FC4E92E-06CF-F821-7643-9ABBA1203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3549" y="4230241"/>
            <a:ext cx="761555" cy="79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570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721C-674F-DD6A-51C6-A6360DB5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E77DA9-F174-11C0-333E-FC81E8BF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47320"/>
            <a:ext cx="5205191" cy="63212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4C6B17-7435-D1BA-2295-0DC089C3CAD2}"/>
              </a:ext>
            </a:extLst>
          </p:cNvPr>
          <p:cNvSpPr txBox="1"/>
          <p:nvPr/>
        </p:nvSpPr>
        <p:spPr>
          <a:xfrm>
            <a:off x="1229352" y="3496415"/>
            <a:ext cx="4461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per-thread counters or worker slots packed together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E4798-1E6C-8FD8-0E8F-0C189EE0BB78}"/>
              </a:ext>
            </a:extLst>
          </p:cNvPr>
          <p:cNvSpPr txBox="1"/>
          <p:nvPr/>
        </p:nvSpPr>
        <p:spPr>
          <a:xfrm>
            <a:off x="1229352" y="4175414"/>
            <a:ext cx="4079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makes independent writers fight over cache coherence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548BCA-5CA2-D930-E91F-FACDDF91330C}"/>
              </a:ext>
            </a:extLst>
          </p:cNvPr>
          <p:cNvSpPr txBox="1"/>
          <p:nvPr/>
        </p:nvSpPr>
        <p:spPr>
          <a:xfrm>
            <a:off x="1229352" y="5593871"/>
            <a:ext cx="4079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place independently written hot data on separate cache lines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CA836E-D2FC-6409-7569-979249007CEA}"/>
              </a:ext>
            </a:extLst>
          </p:cNvPr>
          <p:cNvSpPr txBox="1"/>
          <p:nvPr/>
        </p:nvSpPr>
        <p:spPr>
          <a:xfrm>
            <a:off x="1229352" y="4965273"/>
            <a:ext cx="442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all results are correct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B8473C1-C816-686E-0848-CDF58D75FB33}"/>
              </a:ext>
            </a:extLst>
          </p:cNvPr>
          <p:cNvSpPr txBox="1">
            <a:spLocks/>
          </p:cNvSpPr>
          <p:nvPr/>
        </p:nvSpPr>
        <p:spPr>
          <a:xfrm>
            <a:off x="5615370" y="541867"/>
            <a:ext cx="6885663" cy="547793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struct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alignas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hardware_destructive_interference_size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 Nest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std::atomic&lt;unsigned&gt; sticks{0};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char name[28]{};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array&lt;Nest, 4&gt; oak {};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void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build_nest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(Nest&amp; home)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while 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find_new_stick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home.sticks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array&lt;std::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4&gt; sparrows;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for 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size_t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0;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&lt;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sparrows.size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 ++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sparrows[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]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jthread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build_nest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std::ref(oak [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]));</a:t>
            </a: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39241-8772-3D65-268D-BE99FEEC5F24}"/>
              </a:ext>
            </a:extLst>
          </p:cNvPr>
          <p:cNvSpPr txBox="1"/>
          <p:nvPr/>
        </p:nvSpPr>
        <p:spPr>
          <a:xfrm>
            <a:off x="1282471" y="318848"/>
            <a:ext cx="36025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Next-Door Sparrows</a:t>
            </a:r>
            <a:endParaRPr lang="en-US" b="1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C4BF00E6-3DEB-4338-B9CC-AC40D2914C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07963" y="1110768"/>
            <a:ext cx="2835437" cy="195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25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5" presetClass="emph" presetSubtype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9A981-B7B8-C271-1918-DA13619EF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137C-4BAB-9DB6-A7C3-CC1B680F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200" cy="1325563"/>
          </a:xfrm>
        </p:spPr>
        <p:txBody>
          <a:bodyPr/>
          <a:lstStyle/>
          <a:p>
            <a:r>
              <a:rPr lang="en-US" b="1" dirty="0">
                <a:latin typeface="Fraunces-72pt-SemiBold-NonWonky"/>
              </a:rPr>
              <a:t>Zookeeper rule #4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E44B2-9403-9C2C-D298-B56A7F76345B}"/>
              </a:ext>
            </a:extLst>
          </p:cNvPr>
          <p:cNvSpPr txBox="1"/>
          <p:nvPr/>
        </p:nvSpPr>
        <p:spPr>
          <a:xfrm>
            <a:off x="838200" y="2922897"/>
            <a:ext cx="9549440" cy="207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Measure contention before replacing a clear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Keep lock scope aligned with the invariant, not larger, not smaller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Keep independently written hot data on separate cache lines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Compare against a simple single-threaded baseline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5B16F6-A555-FDAA-014F-2ED9DC21CF83}"/>
              </a:ext>
            </a:extLst>
          </p:cNvPr>
          <p:cNvSpPr txBox="1"/>
          <p:nvPr/>
        </p:nvSpPr>
        <p:spPr>
          <a:xfrm>
            <a:off x="838200" y="1614196"/>
            <a:ext cx="62145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Correct does not mean scalable.  </a:t>
            </a:r>
          </a:p>
          <a:p>
            <a:r>
              <a:rPr lang="en-US" sz="2200" i="1" dirty="0">
                <a:latin typeface="SourceSans3ExtraLight"/>
              </a:rPr>
              <a:t>Measure the machine, not the story in your head.</a:t>
            </a:r>
          </a:p>
        </p:txBody>
      </p:sp>
    </p:spTree>
    <p:extLst>
      <p:ext uri="{BB962C8B-B14F-4D97-AF65-F5344CB8AC3E}">
        <p14:creationId xmlns:p14="http://schemas.microsoft.com/office/powerpoint/2010/main" val="14366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56772-57E2-FE46-8CE6-CF56AF6A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77C3-F6BC-0458-0E42-FE0C9EE9D6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144001" cy="2387600"/>
          </a:xfrm>
        </p:spPr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Zone 6: Dragon’s Lair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0DCD649-4BD7-98F4-E68D-A05D26948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3602038"/>
            <a:ext cx="10528300" cy="2824162"/>
          </a:xfrm>
        </p:spPr>
        <p:txBody>
          <a:bodyPr>
            <a:normAutofit/>
          </a:bodyPr>
          <a:lstStyle/>
          <a:p>
            <a:r>
              <a:rPr lang="en-US" i="1" dirty="0">
                <a:latin typeface="SourceSans3ExtraLight"/>
              </a:rPr>
              <a:t>At the journey's end waits the final monster. It does not tear memory or break</a:t>
            </a:r>
          </a:p>
          <a:p>
            <a:r>
              <a:rPr lang="en-US" i="1" dirty="0">
                <a:latin typeface="SourceSans3ExtraLight"/>
              </a:rPr>
              <a:t>our locks. It wears the same face after the world behind it has changed.</a:t>
            </a:r>
          </a:p>
          <a:p>
            <a:endParaRPr lang="en-US" i="1" dirty="0">
              <a:latin typeface="SourceSans3ExtraLight"/>
            </a:endParaRPr>
          </a:p>
          <a:p>
            <a:r>
              <a:rPr lang="en-US" i="1" dirty="0">
                <a:latin typeface="SourceSans3ExtraLight"/>
              </a:rPr>
              <a:t>Every operation can be atomic. Every comparison can be truthful. The algorithm</a:t>
            </a:r>
          </a:p>
          <a:p>
            <a:r>
              <a:rPr lang="en-US" i="1" dirty="0">
                <a:latin typeface="SourceSans3ExtraLight"/>
              </a:rPr>
              <a:t>can still be wrong.</a:t>
            </a:r>
          </a:p>
        </p:txBody>
      </p:sp>
    </p:spTree>
    <p:extLst>
      <p:ext uri="{BB962C8B-B14F-4D97-AF65-F5344CB8AC3E}">
        <p14:creationId xmlns:p14="http://schemas.microsoft.com/office/powerpoint/2010/main" val="38488124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7280-D512-6BD0-5C37-2864218B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2D46-411C-E7CC-7A0D-CF8D28CD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Final Boss: The ABA Dragon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92C11-4091-3A17-8674-9145F86B4E5B}"/>
              </a:ext>
            </a:extLst>
          </p:cNvPr>
          <p:cNvSpPr txBox="1"/>
          <p:nvPr/>
        </p:nvSpPr>
        <p:spPr>
          <a:xfrm>
            <a:off x="838200" y="3813790"/>
            <a:ext cx="1019991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Cut off a head and watch it grow back.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Look away - the kingdom changes twice.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Look back - the same head guards the gate.</a:t>
            </a:r>
          </a:p>
          <a:p>
            <a:endParaRPr lang="en-US" sz="2200" i="1" dirty="0">
              <a:latin typeface="SourceSans3ExtraLight"/>
            </a:endParaRPr>
          </a:p>
          <a:p>
            <a:r>
              <a:rPr lang="en-US" sz="2200" i="1" dirty="0">
                <a:latin typeface="SourceSans3ExtraLight"/>
              </a:rPr>
              <a:t>Same face. Different generation.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816BFB3-392C-321A-D0EC-FF90ED8AA3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92320" y="487017"/>
            <a:ext cx="2654309" cy="158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871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82F9D-5C0C-3608-BB5E-2B83A4BC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0A751-86BA-E248-B58D-6EE7BEE97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ABA Dragon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66583-C2B3-8ADE-AE72-62C095920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2110732"/>
            <a:ext cx="10947401" cy="34391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try_cut_head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 {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current_head.load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if (!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    return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nullptr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if 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current_head.compare_exchange_strong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))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return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   return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nullptr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455B85-3AB4-7BC9-36BA-8726AC3341CE}"/>
              </a:ext>
            </a:extLst>
          </p:cNvPr>
          <p:cNvSpPr txBox="1"/>
          <p:nvPr/>
        </p:nvSpPr>
        <p:spPr>
          <a:xfrm>
            <a:off x="838197" y="5790692"/>
            <a:ext cx="111590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Your compare-and-swap swears nothing changed.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DF8A3-6AC1-24AF-8C4E-FF81647762F7}"/>
              </a:ext>
            </a:extLst>
          </p:cNvPr>
          <p:cNvSpPr txBox="1"/>
          <p:nvPr/>
        </p:nvSpPr>
        <p:spPr>
          <a:xfrm>
            <a:off x="838197" y="1439052"/>
            <a:ext cx="111590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To cut off its current head, a simplified lock-free stack tries this code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3FB037D-6FE2-7210-C25D-E72002482D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92320" y="487017"/>
            <a:ext cx="2654309" cy="158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42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9C952-89E6-52FA-D49C-82A571B76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A4F78-58AA-D8F2-4BD5-10518ECEE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ABA Dragon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EF0DA8D6-5D68-A1AF-769A-22252399EBE3}"/>
              </a:ext>
            </a:extLst>
          </p:cNvPr>
          <p:cNvSpPr/>
          <p:nvPr/>
        </p:nvSpPr>
        <p:spPr>
          <a:xfrm>
            <a:off x="1170583" y="2730500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14ECDF77-1B98-8DDD-B7D6-0A1564309CFE}"/>
              </a:ext>
            </a:extLst>
          </p:cNvPr>
          <p:cNvSpPr/>
          <p:nvPr/>
        </p:nvSpPr>
        <p:spPr>
          <a:xfrm>
            <a:off x="5197614" y="813594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3D2C5CE-FE3A-D79E-4DFD-2728A0C0C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3186" y="3192024"/>
            <a:ext cx="5130783" cy="30547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32D51F-474B-EB87-8E33-ACC0EDF6F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246" y="2932264"/>
            <a:ext cx="1363970" cy="7452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BA9276-3723-6E07-DC61-852667BBD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3863" y="1098991"/>
            <a:ext cx="1274751" cy="69647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5D37F59-D003-49A6-D6FE-0CDBA9C80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4198" y="2301537"/>
            <a:ext cx="1084884" cy="160934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6DD6342-E27C-ED15-3CD4-323492839F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4365033"/>
            <a:ext cx="1084884" cy="160934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69CDF31-DD41-D0BB-0385-9027DD6997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4198" y="2313432"/>
            <a:ext cx="1084884" cy="160934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C8B658-49BB-7E03-CA75-55BDB3496BEC}"/>
              </a:ext>
            </a:extLst>
          </p:cNvPr>
          <p:cNvSpPr txBox="1">
            <a:spLocks/>
          </p:cNvSpPr>
          <p:nvPr/>
        </p:nvSpPr>
        <p:spPr>
          <a:xfrm>
            <a:off x="7407414" y="176551"/>
            <a:ext cx="4813299" cy="1092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current_head.load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361866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991CF-E836-09D1-0A7E-89F32346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F62B-DE2E-EA7F-9DCE-380CFB29F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ABA Dragon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23B94481-9BEE-08D6-7669-14722B8703AA}"/>
              </a:ext>
            </a:extLst>
          </p:cNvPr>
          <p:cNvSpPr/>
          <p:nvPr/>
        </p:nvSpPr>
        <p:spPr>
          <a:xfrm>
            <a:off x="1170583" y="2730500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725E0F56-BF9D-6E19-E7B9-0DC3CD42D3E6}"/>
              </a:ext>
            </a:extLst>
          </p:cNvPr>
          <p:cNvSpPr/>
          <p:nvPr/>
        </p:nvSpPr>
        <p:spPr>
          <a:xfrm>
            <a:off x="5197614" y="813594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E6EFAD-4C35-8B54-C26C-839503C05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46" y="2932264"/>
            <a:ext cx="1363970" cy="745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C7C1A6-0584-70F9-8F5C-02FDC6620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782" y="1054100"/>
            <a:ext cx="1310712" cy="74318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BB622F-AF83-58D4-5A26-461B5BA8C3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4365033"/>
            <a:ext cx="1084884" cy="160934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7478E0E-0F16-B240-877A-4125D8A58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4198" y="2313432"/>
            <a:ext cx="1084884" cy="160934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4CDC37D-80EE-A06D-F8DC-13B556426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186" y="3192024"/>
            <a:ext cx="5130783" cy="305476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C862EAE-0FF4-1F25-CE51-03013C54C3F6}"/>
              </a:ext>
            </a:extLst>
          </p:cNvPr>
          <p:cNvSpPr/>
          <p:nvPr/>
        </p:nvSpPr>
        <p:spPr>
          <a:xfrm rot="1060205">
            <a:off x="6005044" y="2807529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496ACD7-CA4F-BB67-71E9-5DF605E7FA9F}"/>
              </a:ext>
            </a:extLst>
          </p:cNvPr>
          <p:cNvSpPr txBox="1">
            <a:spLocks/>
          </p:cNvSpPr>
          <p:nvPr/>
        </p:nvSpPr>
        <p:spPr>
          <a:xfrm>
            <a:off x="7368662" y="196166"/>
            <a:ext cx="5282219" cy="11696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current_head.CAS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return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6C86DD5-9578-5FB5-4E72-417638D635A4}"/>
              </a:ext>
            </a:extLst>
          </p:cNvPr>
          <p:cNvSpPr txBox="1">
            <a:spLocks/>
          </p:cNvSpPr>
          <p:nvPr/>
        </p:nvSpPr>
        <p:spPr>
          <a:xfrm>
            <a:off x="7382014" y="176551"/>
            <a:ext cx="4813299" cy="1092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current_head.load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DDA5EE-EE53-F322-622D-A6F415FC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863" y="1098991"/>
            <a:ext cx="1274751" cy="69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7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264F8-1DF7-C115-5E7D-48FFAD9A4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5DA7-08EC-4362-16E2-C9C4D7603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ABA Dragon</a:t>
            </a:r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BD5CBA62-E693-C756-7857-74B94334A5C5}"/>
              </a:ext>
            </a:extLst>
          </p:cNvPr>
          <p:cNvSpPr/>
          <p:nvPr/>
        </p:nvSpPr>
        <p:spPr>
          <a:xfrm>
            <a:off x="5197614" y="813594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3CD3B43D-1818-473A-8341-E4F363D193C9}"/>
              </a:ext>
            </a:extLst>
          </p:cNvPr>
          <p:cNvSpPr/>
          <p:nvPr/>
        </p:nvSpPr>
        <p:spPr>
          <a:xfrm>
            <a:off x="1170583" y="2730500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4B2603-6DF7-7B59-61EA-195FA3C4A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46" y="2932264"/>
            <a:ext cx="1363970" cy="74521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D0F4040-7456-3FB0-43EC-1F32AE6D46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4362640"/>
            <a:ext cx="1084884" cy="1609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6502FDE-A2C2-2D3B-BE8F-A8849C293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4198" y="2301537"/>
            <a:ext cx="1084884" cy="16093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434B32-7C2E-2122-C652-4E06D466B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8124" y="2988885"/>
            <a:ext cx="1355092" cy="7683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78F270-3307-71E5-0954-5ACBD3F1B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782" y="1054100"/>
            <a:ext cx="1310712" cy="743187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2DE4AA5-CC10-9B3E-D773-A5874AB170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186" y="3192024"/>
            <a:ext cx="5130783" cy="305476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B5E84EEA-B90C-1106-DF10-21070875827F}"/>
              </a:ext>
            </a:extLst>
          </p:cNvPr>
          <p:cNvSpPr/>
          <p:nvPr/>
        </p:nvSpPr>
        <p:spPr>
          <a:xfrm rot="1060205">
            <a:off x="6005044" y="2807529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91BBFB-36FC-E4E4-6A6A-B8FCDB40A2D5}"/>
              </a:ext>
            </a:extLst>
          </p:cNvPr>
          <p:cNvSpPr/>
          <p:nvPr/>
        </p:nvSpPr>
        <p:spPr>
          <a:xfrm rot="5957121">
            <a:off x="7702619" y="2559049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B4AE80EF-A4B9-BB29-BB69-81211C73FF18}"/>
              </a:ext>
            </a:extLst>
          </p:cNvPr>
          <p:cNvSpPr txBox="1">
            <a:spLocks/>
          </p:cNvSpPr>
          <p:nvPr/>
        </p:nvSpPr>
        <p:spPr>
          <a:xfrm>
            <a:off x="7368662" y="196166"/>
            <a:ext cx="5282219" cy="149452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current_head.CAS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return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return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nullptr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7B5AA9DA-2A29-299C-657D-6F7796DB4942}"/>
              </a:ext>
            </a:extLst>
          </p:cNvPr>
          <p:cNvSpPr txBox="1">
            <a:spLocks/>
          </p:cNvSpPr>
          <p:nvPr/>
        </p:nvSpPr>
        <p:spPr>
          <a:xfrm>
            <a:off x="7325243" y="2398693"/>
            <a:ext cx="4813299" cy="10922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current_head.load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2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2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chemeClr val="tx2">
                  <a:lumMod val="90000"/>
                  <a:lumOff val="10000"/>
                </a:schemeClr>
              </a:solidFill>
              <a:latin typeface="SourceCodePro"/>
              <a:ea typeface="SourceCodePro"/>
            </a:endParaRPr>
          </a:p>
        </p:txBody>
      </p:sp>
    </p:spTree>
    <p:extLst>
      <p:ext uri="{BB962C8B-B14F-4D97-AF65-F5344CB8AC3E}">
        <p14:creationId xmlns:p14="http://schemas.microsoft.com/office/powerpoint/2010/main" val="332402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3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4D50-283F-53D8-0A1C-661EBA70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11DD2-8896-D00F-359C-D0F1F04BC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ABA Dragon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E351A8F2-3865-5F13-A69E-1C97FBB178B9}"/>
              </a:ext>
            </a:extLst>
          </p:cNvPr>
          <p:cNvSpPr/>
          <p:nvPr/>
        </p:nvSpPr>
        <p:spPr>
          <a:xfrm>
            <a:off x="1170583" y="2730500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83C7C3D5-BE2F-9BC8-6835-CFDAD3F7A33B}"/>
              </a:ext>
            </a:extLst>
          </p:cNvPr>
          <p:cNvSpPr/>
          <p:nvPr/>
        </p:nvSpPr>
        <p:spPr>
          <a:xfrm>
            <a:off x="5197614" y="813594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1D3DEE5-1A23-6D0A-9D15-9355E9898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4365033"/>
            <a:ext cx="1084884" cy="16093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367693-ED2E-53E6-AD55-458C26FD7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37" y="2846440"/>
            <a:ext cx="913391" cy="932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6ADF48-A3AD-ED79-3521-EC12C80D6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782" y="1054100"/>
            <a:ext cx="1310712" cy="74318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BECA387-6B46-04C5-04EF-C1A9A00BC3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4362640"/>
            <a:ext cx="1084884" cy="160934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C71083B-F772-8D71-5586-01958B6EF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4198" y="2301537"/>
            <a:ext cx="1084884" cy="16093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07AE80F-DF1C-BDD8-95E0-BC89453CF942}"/>
              </a:ext>
            </a:extLst>
          </p:cNvPr>
          <p:cNvSpPr/>
          <p:nvPr/>
        </p:nvSpPr>
        <p:spPr>
          <a:xfrm rot="1060205">
            <a:off x="9509662" y="2808485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12483BF4-344E-D035-33B6-0D98EB13D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186" y="3192024"/>
            <a:ext cx="5130783" cy="305476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61BC71D0-CAAF-0E83-15B4-CC737D5CCB54}"/>
              </a:ext>
            </a:extLst>
          </p:cNvPr>
          <p:cNvSpPr/>
          <p:nvPr/>
        </p:nvSpPr>
        <p:spPr>
          <a:xfrm rot="1060205">
            <a:off x="6005044" y="2807529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723540-034C-CEC8-94B3-9C2B9DBDE304}"/>
              </a:ext>
            </a:extLst>
          </p:cNvPr>
          <p:cNvSpPr/>
          <p:nvPr/>
        </p:nvSpPr>
        <p:spPr>
          <a:xfrm rot="5957121">
            <a:off x="7702619" y="2559049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FAD586-F05A-EABE-D538-E5A4EA8C27DD}"/>
              </a:ext>
            </a:extLst>
          </p:cNvPr>
          <p:cNvSpPr/>
          <p:nvPr/>
        </p:nvSpPr>
        <p:spPr>
          <a:xfrm rot="5957121">
            <a:off x="9563155" y="2706937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FA6A942A-592C-4362-B52C-5E34312435A2}"/>
              </a:ext>
            </a:extLst>
          </p:cNvPr>
          <p:cNvSpPr txBox="1">
            <a:spLocks/>
          </p:cNvSpPr>
          <p:nvPr/>
        </p:nvSpPr>
        <p:spPr>
          <a:xfrm>
            <a:off x="7368662" y="196166"/>
            <a:ext cx="5282219" cy="1494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current_head.CAS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return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0337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AE81-BD3D-6399-3F04-C0C613B2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107EA-551F-CBC7-F26E-927EAC1E2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The ABA Dragon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4857303E-4B62-B745-F237-F47BA6417492}"/>
              </a:ext>
            </a:extLst>
          </p:cNvPr>
          <p:cNvSpPr/>
          <p:nvPr/>
        </p:nvSpPr>
        <p:spPr>
          <a:xfrm>
            <a:off x="1170583" y="2730500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hought Bubble: Cloud 10">
            <a:extLst>
              <a:ext uri="{FF2B5EF4-FFF2-40B4-BE49-F238E27FC236}">
                <a16:creationId xmlns:a16="http://schemas.microsoft.com/office/drawing/2014/main" id="{BBAB2AEA-64E1-2842-6F81-6DA722734667}"/>
              </a:ext>
            </a:extLst>
          </p:cNvPr>
          <p:cNvSpPr/>
          <p:nvPr/>
        </p:nvSpPr>
        <p:spPr>
          <a:xfrm>
            <a:off x="5197614" y="813594"/>
            <a:ext cx="2209800" cy="1397000"/>
          </a:xfrm>
          <a:prstGeom prst="cloudCallou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DAA71DC-D2B3-D838-312C-7820FEF19F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4365033"/>
            <a:ext cx="1084884" cy="16093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B36270-E178-EE95-9DAD-088F4005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37" y="2846440"/>
            <a:ext cx="913391" cy="932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99433F-5D6B-8524-A302-3F420611A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7782" y="1054100"/>
            <a:ext cx="1310712" cy="74318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76F7AF8-AC54-AEC4-1A65-2A4E12165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4198" y="2301537"/>
            <a:ext cx="1084884" cy="160934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E9550EA-00A8-EB79-9D5B-0D62A94F9CDF}"/>
              </a:ext>
            </a:extLst>
          </p:cNvPr>
          <p:cNvSpPr/>
          <p:nvPr/>
        </p:nvSpPr>
        <p:spPr>
          <a:xfrm rot="1060205">
            <a:off x="9509662" y="2808485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793B3A8F-D930-6A23-14F9-BA122E473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186" y="3192024"/>
            <a:ext cx="5130783" cy="305476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8198F79-2738-6A80-7E71-51501C7D0282}"/>
              </a:ext>
            </a:extLst>
          </p:cNvPr>
          <p:cNvSpPr/>
          <p:nvPr/>
        </p:nvSpPr>
        <p:spPr>
          <a:xfrm rot="1060205">
            <a:off x="6005044" y="2807529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D2D49D-F1E2-91C5-5069-BA7717388643}"/>
              </a:ext>
            </a:extLst>
          </p:cNvPr>
          <p:cNvSpPr/>
          <p:nvPr/>
        </p:nvSpPr>
        <p:spPr>
          <a:xfrm rot="5957121">
            <a:off x="9563155" y="2706937"/>
            <a:ext cx="1866900" cy="1739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BD2BB0D-A2D2-D17D-9B14-8FB4C5AA07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4198" y="2313432"/>
            <a:ext cx="1084884" cy="1609344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E1276C-12E8-4816-3F9C-750662364166}"/>
              </a:ext>
            </a:extLst>
          </p:cNvPr>
          <p:cNvSpPr/>
          <p:nvPr/>
        </p:nvSpPr>
        <p:spPr>
          <a:xfrm rot="20890217">
            <a:off x="3922801" y="2616248"/>
            <a:ext cx="3312572" cy="1218393"/>
          </a:xfrm>
          <a:custGeom>
            <a:avLst/>
            <a:gdLst/>
            <a:ahLst/>
            <a:cxnLst/>
            <a:rect l="0" t="0" r="r" b="b"/>
            <a:pathLst>
              <a:path w="7568" h="1191">
                <a:moveTo>
                  <a:pt x="0" y="1006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4" y="45"/>
                  <a:pt x="73" y="38"/>
                  <a:pt x="83" y="31"/>
                </a:cubicBezTo>
                <a:cubicBezTo>
                  <a:pt x="94" y="24"/>
                  <a:pt x="104" y="19"/>
                  <a:pt x="115" y="14"/>
                </a:cubicBezTo>
                <a:cubicBezTo>
                  <a:pt x="127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383" y="0"/>
                </a:lnTo>
                <a:cubicBezTo>
                  <a:pt x="7395" y="0"/>
                  <a:pt x="7407" y="1"/>
                  <a:pt x="7419" y="3"/>
                </a:cubicBezTo>
                <a:cubicBezTo>
                  <a:pt x="7431" y="6"/>
                  <a:pt x="7443" y="9"/>
                  <a:pt x="7454" y="14"/>
                </a:cubicBezTo>
                <a:cubicBezTo>
                  <a:pt x="7465" y="19"/>
                  <a:pt x="7476" y="24"/>
                  <a:pt x="7486" y="31"/>
                </a:cubicBezTo>
                <a:cubicBezTo>
                  <a:pt x="7496" y="38"/>
                  <a:pt x="7505" y="45"/>
                  <a:pt x="7514" y="54"/>
                </a:cubicBezTo>
                <a:cubicBezTo>
                  <a:pt x="7523" y="63"/>
                  <a:pt x="7530" y="72"/>
                  <a:pt x="7537" y="82"/>
                </a:cubicBezTo>
                <a:cubicBezTo>
                  <a:pt x="7544" y="92"/>
                  <a:pt x="7549" y="103"/>
                  <a:pt x="7554" y="114"/>
                </a:cubicBezTo>
                <a:cubicBezTo>
                  <a:pt x="7559" y="125"/>
                  <a:pt x="7562" y="137"/>
                  <a:pt x="7565" y="149"/>
                </a:cubicBezTo>
                <a:cubicBezTo>
                  <a:pt x="7567" y="161"/>
                  <a:pt x="7568" y="173"/>
                  <a:pt x="7568" y="185"/>
                </a:cubicBezTo>
                <a:lnTo>
                  <a:pt x="7568" y="1006"/>
                </a:lnTo>
                <a:cubicBezTo>
                  <a:pt x="7568" y="1018"/>
                  <a:pt x="7567" y="1030"/>
                  <a:pt x="7565" y="1042"/>
                </a:cubicBezTo>
                <a:cubicBezTo>
                  <a:pt x="7562" y="1054"/>
                  <a:pt x="7559" y="1066"/>
                  <a:pt x="7554" y="1077"/>
                </a:cubicBezTo>
                <a:cubicBezTo>
                  <a:pt x="7549" y="1088"/>
                  <a:pt x="7544" y="1099"/>
                  <a:pt x="7537" y="1109"/>
                </a:cubicBezTo>
                <a:cubicBezTo>
                  <a:pt x="7530" y="1119"/>
                  <a:pt x="7523" y="1129"/>
                  <a:pt x="7514" y="1137"/>
                </a:cubicBezTo>
                <a:cubicBezTo>
                  <a:pt x="7505" y="1146"/>
                  <a:pt x="7496" y="1153"/>
                  <a:pt x="7486" y="1160"/>
                </a:cubicBezTo>
                <a:cubicBezTo>
                  <a:pt x="7476" y="1167"/>
                  <a:pt x="7465" y="1173"/>
                  <a:pt x="7454" y="1177"/>
                </a:cubicBezTo>
                <a:cubicBezTo>
                  <a:pt x="7443" y="1182"/>
                  <a:pt x="7431" y="1185"/>
                  <a:pt x="7419" y="1188"/>
                </a:cubicBezTo>
                <a:cubicBezTo>
                  <a:pt x="7407" y="1190"/>
                  <a:pt x="7395" y="1191"/>
                  <a:pt x="7383" y="1191"/>
                </a:cubicBezTo>
                <a:lnTo>
                  <a:pt x="186" y="1191"/>
                </a:lnTo>
                <a:cubicBezTo>
                  <a:pt x="174" y="1191"/>
                  <a:pt x="162" y="1190"/>
                  <a:pt x="150" y="1188"/>
                </a:cubicBezTo>
                <a:cubicBezTo>
                  <a:pt x="138" y="1185"/>
                  <a:pt x="127" y="1182"/>
                  <a:pt x="115" y="1177"/>
                </a:cubicBezTo>
                <a:cubicBezTo>
                  <a:pt x="104" y="1173"/>
                  <a:pt x="94" y="1167"/>
                  <a:pt x="83" y="1160"/>
                </a:cubicBezTo>
                <a:cubicBezTo>
                  <a:pt x="73" y="1153"/>
                  <a:pt x="64" y="1146"/>
                  <a:pt x="55" y="1137"/>
                </a:cubicBezTo>
                <a:cubicBezTo>
                  <a:pt x="46" y="1129"/>
                  <a:pt x="38" y="1119"/>
                  <a:pt x="31" y="1109"/>
                </a:cubicBezTo>
                <a:cubicBezTo>
                  <a:pt x="25" y="1099"/>
                  <a:pt x="19" y="1088"/>
                  <a:pt x="14" y="1077"/>
                </a:cubicBezTo>
                <a:cubicBezTo>
                  <a:pt x="10" y="1066"/>
                  <a:pt x="6" y="1054"/>
                  <a:pt x="4" y="1042"/>
                </a:cubicBezTo>
                <a:cubicBezTo>
                  <a:pt x="1" y="1030"/>
                  <a:pt x="0" y="1018"/>
                  <a:pt x="0" y="1006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 w="19050">
            <a:solidFill>
              <a:srgbClr val="C00000"/>
            </a:solidFill>
            <a:miter/>
            <a:extLst>
              <a:ext uri="{C807C97D-BFC1-408E-A445-0C87EB9F89A2}">
                <ask:lineSketchStyleProps xmlns:ask="http://schemas.microsoft.com/office/drawing/2018/sketchyshapes" sd="3356984581">
                  <a:custGeom>
                    <a:avLst/>
                    <a:gdLst>
                      <a:gd name="csX0" fmla="*/ 0 w 2724480"/>
                      <a:gd name="csY0" fmla="*/ 362173 h 428760"/>
                      <a:gd name="csX1" fmla="*/ 0 w 2724480"/>
                      <a:gd name="csY1" fmla="*/ 66586 h 428760"/>
                      <a:gd name="csX2" fmla="*/ 1362 w 2724480"/>
                      <a:gd name="csY2" fmla="*/ 53637 h 428760"/>
                      <a:gd name="csX3" fmla="*/ 4904 w 2724480"/>
                      <a:gd name="csY3" fmla="*/ 41032 h 428760"/>
                      <a:gd name="csX4" fmla="*/ 11170 w 2724480"/>
                      <a:gd name="csY4" fmla="*/ 29498 h 428760"/>
                      <a:gd name="csX5" fmla="*/ 19888 w 2724480"/>
                      <a:gd name="csY5" fmla="*/ 19422 h 428760"/>
                      <a:gd name="csX6" fmla="*/ 29969 w 2724480"/>
                      <a:gd name="csY6" fmla="*/ 11147 h 428760"/>
                      <a:gd name="csX7" fmla="*/ 41412 w 2724480"/>
                      <a:gd name="csY7" fmla="*/ 5059 h 428760"/>
                      <a:gd name="csX8" fmla="*/ 53944 w 2724480"/>
                      <a:gd name="csY8" fmla="*/ 1071 h 428760"/>
                      <a:gd name="csX9" fmla="*/ 67022 w 2724480"/>
                      <a:gd name="csY9" fmla="*/ 0 h 428760"/>
                      <a:gd name="csX10" fmla="*/ 688857 w 2724480"/>
                      <a:gd name="csY10" fmla="*/ 0 h 428760"/>
                      <a:gd name="csX11" fmla="*/ 1284783 w 2724480"/>
                      <a:gd name="csY11" fmla="*/ 0 h 428760"/>
                      <a:gd name="csX12" fmla="*/ 1984347 w 2724480"/>
                      <a:gd name="csY12" fmla="*/ 0 h 428760"/>
                      <a:gd name="csX13" fmla="*/ 2658002 w 2724480"/>
                      <a:gd name="csY13" fmla="*/ 0 h 428760"/>
                      <a:gd name="csX14" fmla="*/ 2670807 w 2724480"/>
                      <a:gd name="csY14" fmla="*/ 1071 h 428760"/>
                      <a:gd name="csX15" fmla="*/ 2683340 w 2724480"/>
                      <a:gd name="csY15" fmla="*/ 5059 h 428760"/>
                      <a:gd name="csX16" fmla="*/ 2695055 w 2724480"/>
                      <a:gd name="csY16" fmla="*/ 11147 h 428760"/>
                      <a:gd name="csX17" fmla="*/ 2705136 w 2724480"/>
                      <a:gd name="csY17" fmla="*/ 19422 h 428760"/>
                      <a:gd name="csX18" fmla="*/ 2713309 w 2724480"/>
                      <a:gd name="csY18" fmla="*/ 29498 h 428760"/>
                      <a:gd name="csX19" fmla="*/ 2719575 w 2724480"/>
                      <a:gd name="csY19" fmla="*/ 41032 h 428760"/>
                      <a:gd name="csX20" fmla="*/ 2723390 w 2724480"/>
                      <a:gd name="csY20" fmla="*/ 53637 h 428760"/>
                      <a:gd name="csX21" fmla="*/ 2724480 w 2724480"/>
                      <a:gd name="csY21" fmla="*/ 66586 h 428760"/>
                      <a:gd name="csX22" fmla="*/ 2724480 w 2724480"/>
                      <a:gd name="csY22" fmla="*/ 362173 h 428760"/>
                      <a:gd name="csX23" fmla="*/ 2723390 w 2724480"/>
                      <a:gd name="csY23" fmla="*/ 375122 h 428760"/>
                      <a:gd name="csX24" fmla="*/ 2719575 w 2724480"/>
                      <a:gd name="csY24" fmla="*/ 387727 h 428760"/>
                      <a:gd name="csX25" fmla="*/ 2713309 w 2724480"/>
                      <a:gd name="csY25" fmla="*/ 399261 h 428760"/>
                      <a:gd name="csX26" fmla="*/ 2705136 w 2724480"/>
                      <a:gd name="csY26" fmla="*/ 409337 h 428760"/>
                      <a:gd name="csX27" fmla="*/ 2695055 w 2724480"/>
                      <a:gd name="csY27" fmla="*/ 417612 h 428760"/>
                      <a:gd name="csX28" fmla="*/ 2683340 w 2724480"/>
                      <a:gd name="csY28" fmla="*/ 423700 h 428760"/>
                      <a:gd name="csX29" fmla="*/ 2670807 w 2724480"/>
                      <a:gd name="csY29" fmla="*/ 427688 h 428760"/>
                      <a:gd name="csX30" fmla="*/ 2658002 w 2724480"/>
                      <a:gd name="csY30" fmla="*/ 428760 h 428760"/>
                      <a:gd name="csX31" fmla="*/ 2087986 w 2724480"/>
                      <a:gd name="csY31" fmla="*/ 428760 h 428760"/>
                      <a:gd name="csX32" fmla="*/ 1388422 w 2724480"/>
                      <a:gd name="csY32" fmla="*/ 428760 h 428760"/>
                      <a:gd name="csX33" fmla="*/ 766587 w 2724480"/>
                      <a:gd name="csY33" fmla="*/ 428760 h 428760"/>
                      <a:gd name="csX34" fmla="*/ 67022 w 2724480"/>
                      <a:gd name="csY34" fmla="*/ 428760 h 428760"/>
                      <a:gd name="csX35" fmla="*/ 53944 w 2724480"/>
                      <a:gd name="csY35" fmla="*/ 427688 h 428760"/>
                      <a:gd name="csX36" fmla="*/ 41412 w 2724480"/>
                      <a:gd name="csY36" fmla="*/ 423700 h 428760"/>
                      <a:gd name="csX37" fmla="*/ 29969 w 2724480"/>
                      <a:gd name="csY37" fmla="*/ 417612 h 428760"/>
                      <a:gd name="csX38" fmla="*/ 19888 w 2724480"/>
                      <a:gd name="csY38" fmla="*/ 409337 h 428760"/>
                      <a:gd name="csX39" fmla="*/ 11170 w 2724480"/>
                      <a:gd name="csY39" fmla="*/ 399261 h 428760"/>
                      <a:gd name="csX40" fmla="*/ 4904 w 2724480"/>
                      <a:gd name="csY40" fmla="*/ 387727 h 428760"/>
                      <a:gd name="csX41" fmla="*/ 1362 w 2724480"/>
                      <a:gd name="csY41" fmla="*/ 375122 h 428760"/>
                      <a:gd name="csX42" fmla="*/ 0 w 2724480"/>
                      <a:gd name="csY42" fmla="*/ 362173 h 42876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</a:cxnLst>
                    <a:rect l="l" t="t" r="r" b="b"/>
                    <a:pathLst>
                      <a:path w="2724480" h="428760" extrusionOk="0">
                        <a:moveTo>
                          <a:pt x="0" y="362173"/>
                        </a:moveTo>
                        <a:cubicBezTo>
                          <a:pt x="-6921" y="299755"/>
                          <a:pt x="13124" y="134475"/>
                          <a:pt x="0" y="66586"/>
                        </a:cubicBezTo>
                        <a:cubicBezTo>
                          <a:pt x="335" y="61645"/>
                          <a:pt x="532" y="58635"/>
                          <a:pt x="1362" y="53637"/>
                        </a:cubicBezTo>
                        <a:cubicBezTo>
                          <a:pt x="3181" y="49461"/>
                          <a:pt x="3342" y="44248"/>
                          <a:pt x="4904" y="41032"/>
                        </a:cubicBezTo>
                        <a:cubicBezTo>
                          <a:pt x="7115" y="37725"/>
                          <a:pt x="9327" y="33976"/>
                          <a:pt x="11170" y="29498"/>
                        </a:cubicBezTo>
                        <a:cubicBezTo>
                          <a:pt x="14250" y="25217"/>
                          <a:pt x="16265" y="22532"/>
                          <a:pt x="19888" y="19422"/>
                        </a:cubicBezTo>
                        <a:cubicBezTo>
                          <a:pt x="23190" y="15888"/>
                          <a:pt x="26415" y="13897"/>
                          <a:pt x="29969" y="11147"/>
                        </a:cubicBezTo>
                        <a:cubicBezTo>
                          <a:pt x="34535" y="8916"/>
                          <a:pt x="36954" y="6548"/>
                          <a:pt x="41412" y="5059"/>
                        </a:cubicBezTo>
                        <a:cubicBezTo>
                          <a:pt x="45844" y="3374"/>
                          <a:pt x="49185" y="1989"/>
                          <a:pt x="53944" y="1071"/>
                        </a:cubicBezTo>
                        <a:cubicBezTo>
                          <a:pt x="58319" y="672"/>
                          <a:pt x="62990" y="-1000"/>
                          <a:pt x="67022" y="0"/>
                        </a:cubicBezTo>
                        <a:cubicBezTo>
                          <a:pt x="290554" y="29510"/>
                          <a:pt x="503466" y="8545"/>
                          <a:pt x="688857" y="0"/>
                        </a:cubicBezTo>
                        <a:cubicBezTo>
                          <a:pt x="874248" y="-8545"/>
                          <a:pt x="991535" y="-29680"/>
                          <a:pt x="1284783" y="0"/>
                        </a:cubicBezTo>
                        <a:cubicBezTo>
                          <a:pt x="1578031" y="29680"/>
                          <a:pt x="1693430" y="-10147"/>
                          <a:pt x="1984347" y="0"/>
                        </a:cubicBezTo>
                        <a:cubicBezTo>
                          <a:pt x="2275264" y="10147"/>
                          <a:pt x="2428454" y="31273"/>
                          <a:pt x="2658002" y="0"/>
                        </a:cubicBezTo>
                        <a:cubicBezTo>
                          <a:pt x="2661795" y="239"/>
                          <a:pt x="2666447" y="-49"/>
                          <a:pt x="2670807" y="1071"/>
                        </a:cubicBezTo>
                        <a:cubicBezTo>
                          <a:pt x="2674973" y="1193"/>
                          <a:pt x="2680010" y="3710"/>
                          <a:pt x="2683340" y="5059"/>
                        </a:cubicBezTo>
                        <a:cubicBezTo>
                          <a:pt x="2687436" y="6633"/>
                          <a:pt x="2692156" y="8188"/>
                          <a:pt x="2695055" y="11147"/>
                        </a:cubicBezTo>
                        <a:cubicBezTo>
                          <a:pt x="2697953" y="14256"/>
                          <a:pt x="2701850" y="15454"/>
                          <a:pt x="2705136" y="19422"/>
                        </a:cubicBezTo>
                        <a:cubicBezTo>
                          <a:pt x="2708624" y="21757"/>
                          <a:pt x="2711007" y="26380"/>
                          <a:pt x="2713309" y="29498"/>
                        </a:cubicBezTo>
                        <a:cubicBezTo>
                          <a:pt x="2714960" y="33676"/>
                          <a:pt x="2717861" y="36421"/>
                          <a:pt x="2719575" y="41032"/>
                        </a:cubicBezTo>
                        <a:cubicBezTo>
                          <a:pt x="2720595" y="44947"/>
                          <a:pt x="2722863" y="48895"/>
                          <a:pt x="2723390" y="53637"/>
                        </a:cubicBezTo>
                        <a:cubicBezTo>
                          <a:pt x="2724950" y="58649"/>
                          <a:pt x="2724455" y="61864"/>
                          <a:pt x="2724480" y="66586"/>
                        </a:cubicBezTo>
                        <a:cubicBezTo>
                          <a:pt x="2720204" y="200879"/>
                          <a:pt x="2718596" y="218199"/>
                          <a:pt x="2724480" y="362173"/>
                        </a:cubicBezTo>
                        <a:cubicBezTo>
                          <a:pt x="2724439" y="366607"/>
                          <a:pt x="2725231" y="370900"/>
                          <a:pt x="2723390" y="375122"/>
                        </a:cubicBezTo>
                        <a:cubicBezTo>
                          <a:pt x="2721905" y="380132"/>
                          <a:pt x="2721231" y="384045"/>
                          <a:pt x="2719575" y="387727"/>
                        </a:cubicBezTo>
                        <a:cubicBezTo>
                          <a:pt x="2717727" y="391410"/>
                          <a:pt x="2715451" y="395584"/>
                          <a:pt x="2713309" y="399261"/>
                        </a:cubicBezTo>
                        <a:cubicBezTo>
                          <a:pt x="2711492" y="403139"/>
                          <a:pt x="2707634" y="406836"/>
                          <a:pt x="2705136" y="409337"/>
                        </a:cubicBezTo>
                        <a:cubicBezTo>
                          <a:pt x="2702374" y="412632"/>
                          <a:pt x="2698372" y="414116"/>
                          <a:pt x="2695055" y="417612"/>
                        </a:cubicBezTo>
                        <a:cubicBezTo>
                          <a:pt x="2690886" y="420615"/>
                          <a:pt x="2686971" y="423169"/>
                          <a:pt x="2683340" y="423700"/>
                        </a:cubicBezTo>
                        <a:cubicBezTo>
                          <a:pt x="2680044" y="425173"/>
                          <a:pt x="2675390" y="426568"/>
                          <a:pt x="2670807" y="427688"/>
                        </a:cubicBezTo>
                        <a:cubicBezTo>
                          <a:pt x="2665603" y="427969"/>
                          <a:pt x="2661796" y="428108"/>
                          <a:pt x="2658002" y="428760"/>
                        </a:cubicBezTo>
                        <a:cubicBezTo>
                          <a:pt x="2465615" y="401551"/>
                          <a:pt x="2355295" y="451241"/>
                          <a:pt x="2087986" y="428760"/>
                        </a:cubicBezTo>
                        <a:cubicBezTo>
                          <a:pt x="1820677" y="406279"/>
                          <a:pt x="1529660" y="450402"/>
                          <a:pt x="1388422" y="428760"/>
                        </a:cubicBezTo>
                        <a:cubicBezTo>
                          <a:pt x="1247184" y="407118"/>
                          <a:pt x="923477" y="455597"/>
                          <a:pt x="766587" y="428760"/>
                        </a:cubicBezTo>
                        <a:cubicBezTo>
                          <a:pt x="609697" y="401923"/>
                          <a:pt x="410877" y="420110"/>
                          <a:pt x="67022" y="428760"/>
                        </a:cubicBezTo>
                        <a:cubicBezTo>
                          <a:pt x="62355" y="428420"/>
                          <a:pt x="59005" y="427965"/>
                          <a:pt x="53944" y="427688"/>
                        </a:cubicBezTo>
                        <a:cubicBezTo>
                          <a:pt x="49782" y="425696"/>
                          <a:pt x="46050" y="425610"/>
                          <a:pt x="41412" y="423700"/>
                        </a:cubicBezTo>
                        <a:cubicBezTo>
                          <a:pt x="37519" y="422138"/>
                          <a:pt x="33575" y="420736"/>
                          <a:pt x="29969" y="417612"/>
                        </a:cubicBezTo>
                        <a:cubicBezTo>
                          <a:pt x="26740" y="414910"/>
                          <a:pt x="22882" y="412528"/>
                          <a:pt x="19888" y="409337"/>
                        </a:cubicBezTo>
                        <a:cubicBezTo>
                          <a:pt x="16712" y="406345"/>
                          <a:pt x="14172" y="402127"/>
                          <a:pt x="11170" y="399261"/>
                        </a:cubicBezTo>
                        <a:cubicBezTo>
                          <a:pt x="9344" y="395354"/>
                          <a:pt x="7383" y="391473"/>
                          <a:pt x="4904" y="387727"/>
                        </a:cubicBezTo>
                        <a:cubicBezTo>
                          <a:pt x="4167" y="384230"/>
                          <a:pt x="2793" y="379969"/>
                          <a:pt x="1362" y="375122"/>
                        </a:cubicBezTo>
                        <a:cubicBezTo>
                          <a:pt x="-404" y="370226"/>
                          <a:pt x="-156" y="366382"/>
                          <a:pt x="0" y="36217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C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1ECCBE-CD40-3800-28C2-3BE48E42DF11}"/>
              </a:ext>
            </a:extLst>
          </p:cNvPr>
          <p:cNvSpPr txBox="1"/>
          <p:nvPr/>
        </p:nvSpPr>
        <p:spPr>
          <a:xfrm rot="20890217">
            <a:off x="3836827" y="2915791"/>
            <a:ext cx="3320418" cy="492443"/>
          </a:xfrm>
          <a:prstGeom prst="rect">
            <a:avLst/>
          </a:prstGeom>
          <a:solidFill>
            <a:srgbClr val="FFFFFF">
              <a:alpha val="30196"/>
            </a:srgbClr>
          </a:solidFill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SourceCodePro"/>
                <a:ea typeface="SourceCodePro"/>
              </a:rPr>
              <a:t>Convicted of UB</a:t>
            </a:r>
            <a:endParaRPr lang="en-US" sz="3200" b="0" u="none" strike="noStrike" dirty="0">
              <a:solidFill>
                <a:srgbClr val="C00000"/>
              </a:solidFill>
              <a:effectLst/>
              <a:uFillTx/>
              <a:latin typeface="SourceCodePro"/>
              <a:ea typeface="SourceCodePro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063A3A2-5B7B-0272-6A29-61E2CE432CE0}"/>
              </a:ext>
            </a:extLst>
          </p:cNvPr>
          <p:cNvSpPr txBox="1">
            <a:spLocks/>
          </p:cNvSpPr>
          <p:nvPr/>
        </p:nvSpPr>
        <p:spPr>
          <a:xfrm>
            <a:off x="7368662" y="196166"/>
            <a:ext cx="5282219" cy="149452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Head*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 =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-&gt;next;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if 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current_head.CAS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(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,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next_head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))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	return </a:t>
            </a:r>
            <a:r>
              <a:rPr lang="en-US" sz="20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old_head</a:t>
            </a:r>
            <a:r>
              <a:rPr lang="en-US" sz="2000" dirty="0">
                <a:solidFill>
                  <a:schemeClr val="tx2">
                    <a:lumMod val="90000"/>
                    <a:lumOff val="10000"/>
                  </a:schemeClr>
                </a:solidFill>
                <a:latin typeface="SourceCodePro"/>
                <a:ea typeface="SourceCodePro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29330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1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2E1B-3DA1-BB78-6504-56665CCEA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780FA-0F9A-5755-5FD0-2C1A082E8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9" y="185420"/>
            <a:ext cx="5205191" cy="6321287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7C42D6E-85A6-4975-C8BD-2C80D2FD5C65}"/>
              </a:ext>
            </a:extLst>
          </p:cNvPr>
          <p:cNvSpPr txBox="1">
            <a:spLocks/>
          </p:cNvSpPr>
          <p:nvPr/>
        </p:nvSpPr>
        <p:spPr>
          <a:xfrm>
            <a:off x="5860631" y="465593"/>
            <a:ext cx="5141530" cy="547793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Default choice should be mutex or proven concurrent container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lock-free trail there is a bunch existing proven algorithm to explore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may find your way by exploring those:</a:t>
            </a:r>
          </a:p>
          <a:p>
            <a:r>
              <a:rPr lang="en-US" dirty="0"/>
              <a:t>tagged/versioned heads</a:t>
            </a:r>
          </a:p>
          <a:p>
            <a:r>
              <a:rPr lang="en-US" dirty="0"/>
              <a:t>hazard pointers</a:t>
            </a:r>
          </a:p>
          <a:p>
            <a:r>
              <a:rPr lang="en-US" dirty="0"/>
              <a:t>epochs/RCU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95D2C8-0924-F2C8-F4E9-C7F2BAB8E5CC}"/>
              </a:ext>
            </a:extLst>
          </p:cNvPr>
          <p:cNvSpPr txBox="1"/>
          <p:nvPr/>
        </p:nvSpPr>
        <p:spPr>
          <a:xfrm>
            <a:off x="1515533" y="465593"/>
            <a:ext cx="36025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The ABA </a:t>
            </a:r>
            <a:r>
              <a:rPr lang="en-US" sz="2400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Dragon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2B5DEA-3DC7-E34A-C530-12C4299BC502}"/>
              </a:ext>
            </a:extLst>
          </p:cNvPr>
          <p:cNvSpPr txBox="1"/>
          <p:nvPr/>
        </p:nvSpPr>
        <p:spPr>
          <a:xfrm>
            <a:off x="1229352" y="3541034"/>
            <a:ext cx="4461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CAS algorithms that treat the same value as unchanged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44B99C-BE6D-9E65-42F6-63DB23EA8F8E}"/>
              </a:ext>
            </a:extLst>
          </p:cNvPr>
          <p:cNvSpPr txBox="1"/>
          <p:nvPr/>
        </p:nvSpPr>
        <p:spPr>
          <a:xfrm>
            <a:off x="1229352" y="4265854"/>
            <a:ext cx="40792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stale CAS succeeds after a pointer leaves and returns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5EF65E-AF74-B6DE-15F6-0C4E0C4FDBE1}"/>
              </a:ext>
            </a:extLst>
          </p:cNvPr>
          <p:cNvSpPr txBox="1"/>
          <p:nvPr/>
        </p:nvSpPr>
        <p:spPr>
          <a:xfrm>
            <a:off x="1229352" y="5690439"/>
            <a:ext cx="37363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track identity and reclaim nodes safely or use a mutex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E080DF-AC69-3CAD-7AB1-A9B021212AFC}"/>
              </a:ext>
            </a:extLst>
          </p:cNvPr>
          <p:cNvSpPr txBox="1"/>
          <p:nvPr/>
        </p:nvSpPr>
        <p:spPr>
          <a:xfrm>
            <a:off x="1229352" y="4965273"/>
            <a:ext cx="442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every atomic comparison is truthful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7B099AA-D54E-9497-6411-103661CA3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352" y="1127524"/>
            <a:ext cx="3525528" cy="209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41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99DDA-9432-0D27-51C5-56A7C5EF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414F8-59B4-14B4-F0E2-B5A65F455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200" cy="1325563"/>
          </a:xfrm>
        </p:spPr>
        <p:txBody>
          <a:bodyPr/>
          <a:lstStyle/>
          <a:p>
            <a:r>
              <a:rPr lang="en-US" b="1" dirty="0">
                <a:latin typeface="Fraunces-72pt-SemiBold-NonWonky"/>
              </a:rPr>
              <a:t>Zookeeper rule #5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4F2AD-6CEB-E1A7-384D-52883700DA5F}"/>
              </a:ext>
            </a:extLst>
          </p:cNvPr>
          <p:cNvSpPr txBox="1"/>
          <p:nvPr/>
        </p:nvSpPr>
        <p:spPr>
          <a:xfrm>
            <a:off x="838199" y="2922897"/>
            <a:ext cx="10913533" cy="156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Prefer proven components over clever local inventions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Demand a measured reason for concurrency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If you cannot explain the guarantees, step back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F865C-ED5C-5F53-E00F-D25AC8F02738}"/>
              </a:ext>
            </a:extLst>
          </p:cNvPr>
          <p:cNvSpPr txBox="1"/>
          <p:nvPr/>
        </p:nvSpPr>
        <p:spPr>
          <a:xfrm>
            <a:off x="838200" y="1614196"/>
            <a:ext cx="8017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The Dragon was only a glimpse beyond the marked paths.  </a:t>
            </a:r>
          </a:p>
          <a:p>
            <a:r>
              <a:rPr lang="en-US" sz="2200" i="1" dirty="0">
                <a:latin typeface="SourceSans3ExtraLight"/>
              </a:rPr>
              <a:t>Advanced concurrency has more traps than one talk can cage.</a:t>
            </a:r>
          </a:p>
        </p:txBody>
      </p:sp>
    </p:spTree>
    <p:extLst>
      <p:ext uri="{BB962C8B-B14F-4D97-AF65-F5344CB8AC3E}">
        <p14:creationId xmlns:p14="http://schemas.microsoft.com/office/powerpoint/2010/main" val="217233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5F3E8-A918-71B5-5972-99589E76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D77A-F986-7AEA-619D-652887F46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raunces-72pt-SemiBold-NonWonky"/>
              </a:rPr>
              <a:t>What happened?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6AF52-3617-B2B5-9615-22BFB6E8773B}"/>
              </a:ext>
            </a:extLst>
          </p:cNvPr>
          <p:cNvSpPr txBox="1"/>
          <p:nvPr/>
        </p:nvSpPr>
        <p:spPr>
          <a:xfrm>
            <a:off x="838199" y="1690688"/>
            <a:ext cx="11260667" cy="46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/>
              <a:t>Wrong count</a:t>
            </a:r>
            <a:r>
              <a:rPr lang="en-US" sz="2200" dirty="0"/>
              <a:t> 		shared read-modify-write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Crash</a:t>
            </a:r>
            <a:r>
              <a:rPr lang="en-US" sz="2200" dirty="0"/>
              <a:t> 			a thread outlived what it touched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Silence		</a:t>
            </a:r>
            <a:r>
              <a:rPr lang="en-US" sz="2200" dirty="0"/>
              <a:t>waiting for the wrong event or circular locking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Slow but correct</a:t>
            </a:r>
            <a:r>
              <a:rPr lang="en-US" sz="2200" dirty="0"/>
              <a:t> 	serialization or cache coherence ate the speedup</a:t>
            </a:r>
          </a:p>
          <a:p>
            <a:pPr>
              <a:lnSpc>
                <a:spcPct val="150000"/>
              </a:lnSpc>
            </a:pPr>
            <a:r>
              <a:rPr lang="en-US" sz="2200" b="1" dirty="0"/>
              <a:t>Déjà vu</a:t>
            </a:r>
            <a:r>
              <a:rPr lang="en-US" sz="2200" dirty="0"/>
              <a:t> 		the same pointer value hid a changed generation</a:t>
            </a:r>
          </a:p>
          <a:p>
            <a:pPr>
              <a:lnSpc>
                <a:spcPct val="150000"/>
              </a:lnSpc>
            </a:pPr>
            <a:endParaRPr lang="en-US" sz="2200" dirty="0"/>
          </a:p>
          <a:p>
            <a:pPr algn="ctr">
              <a:lnSpc>
                <a:spcPct val="150000"/>
              </a:lnSpc>
            </a:pPr>
            <a:r>
              <a:rPr lang="en-US" sz="2200" dirty="0"/>
              <a:t>The code often looked reasonable.</a:t>
            </a:r>
          </a:p>
          <a:p>
            <a:pPr algn="ctr">
              <a:lnSpc>
                <a:spcPct val="150000"/>
              </a:lnSpc>
            </a:pPr>
            <a:endParaRPr lang="en-US" sz="2200" dirty="0"/>
          </a:p>
          <a:p>
            <a:pPr algn="ctr">
              <a:lnSpc>
                <a:spcPct val="150000"/>
              </a:lnSpc>
            </a:pPr>
            <a:r>
              <a:rPr lang="en-US" sz="2200" dirty="0"/>
              <a:t>The interleaving, lifetime, and hardware told the truth.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62537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768C-83D2-89AF-4B44-CF36FCE89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7E50E-DD2E-5C56-63E1-31229264F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8200" cy="1325563"/>
          </a:xfrm>
        </p:spPr>
        <p:txBody>
          <a:bodyPr/>
          <a:lstStyle/>
          <a:p>
            <a:r>
              <a:rPr lang="en-US" b="1" dirty="0">
                <a:latin typeface="Fraunces-72pt-SemiBold-NonWonky"/>
              </a:rPr>
              <a:t>Before you spawn the thread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7DC45D-8CEA-844E-8272-96CDA7B5A292}"/>
              </a:ext>
            </a:extLst>
          </p:cNvPr>
          <p:cNvSpPr txBox="1"/>
          <p:nvPr/>
        </p:nvSpPr>
        <p:spPr>
          <a:xfrm>
            <a:off x="838199" y="2922897"/>
            <a:ext cx="10913533" cy="410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What does this thread own?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What state is shared?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What protects the whole invariant?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What keeps every referenced object alive?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What guarantees progress and shutdown?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How will we prove the concurrency helped?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lnSpc>
                <a:spcPct val="150000"/>
              </a:lnSpc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0771F-478B-E3C3-3202-DEE05CA13FBE}"/>
              </a:ext>
            </a:extLst>
          </p:cNvPr>
          <p:cNvSpPr txBox="1"/>
          <p:nvPr/>
        </p:nvSpPr>
        <p:spPr>
          <a:xfrm>
            <a:off x="838200" y="1614196"/>
            <a:ext cx="80179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SourceSans3ExtraLight"/>
              </a:rPr>
              <a:t>Once upon a time, a developer was about to spawn a thread.  </a:t>
            </a:r>
          </a:p>
          <a:p>
            <a:r>
              <a:rPr lang="en-US" sz="2200" i="1" dirty="0">
                <a:latin typeface="SourceSans3ExtraLight"/>
              </a:rPr>
              <a:t>This time, they stopped and asked who owned what.</a:t>
            </a:r>
          </a:p>
        </p:txBody>
      </p:sp>
    </p:spTree>
    <p:extLst>
      <p:ext uri="{BB962C8B-B14F-4D97-AF65-F5344CB8AC3E}">
        <p14:creationId xmlns:p14="http://schemas.microsoft.com/office/powerpoint/2010/main" val="76820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6C63F-1526-C47D-713A-3B7542F0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6459-6B70-2DCE-D369-97C5640097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A1A1A"/>
                </a:solidFill>
                <a:latin typeface="Fraunces-72pt-SemiBold-NonWonky"/>
                <a:ea typeface="Fraunces-72pt-SemiBold-NonWonky"/>
              </a:rPr>
              <a:t>Thank you!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7E24E-88F0-26EF-84D2-511E43F9C0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b="1" dirty="0">
              <a:solidFill>
                <a:srgbClr val="1A1A1A"/>
              </a:solidFill>
              <a:latin typeface="SourceSans3ExtraLight"/>
              <a:ea typeface="SourceSans3ExtraLight"/>
            </a:endParaRPr>
          </a:p>
          <a:p>
            <a:endParaRPr lang="en-US" b="1" dirty="0">
              <a:solidFill>
                <a:srgbClr val="1A1A1A"/>
              </a:solidFill>
              <a:latin typeface="SourceSans3ExtraLight"/>
              <a:ea typeface="SourceSans3ExtraLight"/>
            </a:endParaRPr>
          </a:p>
          <a:p>
            <a:r>
              <a:rPr lang="en-US" b="1" dirty="0">
                <a:solidFill>
                  <a:srgbClr val="1A1A1A"/>
                </a:solidFill>
                <a:latin typeface="SourceSans3ExtraLight"/>
                <a:ea typeface="SourceSans3ExtraLight"/>
              </a:rPr>
              <a:t>Jana Machutová</a:t>
            </a:r>
            <a:endParaRPr lang="en-US" dirty="0">
              <a:solidFill>
                <a:srgbClr val="000000"/>
              </a:solidFill>
              <a:latin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55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19031</TotalTime>
  <Words>3971</Words>
  <Application>Microsoft Office PowerPoint</Application>
  <PresentationFormat>Widescreen</PresentationFormat>
  <Paragraphs>643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4" baseType="lpstr">
      <vt:lpstr>Aptos</vt:lpstr>
      <vt:lpstr>Aptos Display</vt:lpstr>
      <vt:lpstr>Arial</vt:lpstr>
      <vt:lpstr>Fraunces-72pt-SemiBold-NonWonky</vt:lpstr>
      <vt:lpstr>SourceCodePro</vt:lpstr>
      <vt:lpstr>SourceSans3</vt:lpstr>
      <vt:lpstr>SourceSans3ExtraLight</vt:lpstr>
      <vt:lpstr>Times New Roman</vt:lpstr>
      <vt:lpstr>Office Theme</vt:lpstr>
      <vt:lpstr>Once Upon a Thread</vt:lpstr>
      <vt:lpstr>Once upon a time…</vt:lpstr>
      <vt:lpstr>What happened?</vt:lpstr>
      <vt:lpstr>Welcome to the monster ZOO</vt:lpstr>
      <vt:lpstr>Zookeeper rule #1</vt:lpstr>
      <vt:lpstr>How to read a monster card</vt:lpstr>
      <vt:lpstr>Zone 1: The Petting ZOO </vt:lpstr>
      <vt:lpstr>The Greedy Goat</vt:lpstr>
      <vt:lpstr>The Greedy Goat</vt:lpstr>
      <vt:lpstr>The Greedy Goat</vt:lpstr>
      <vt:lpstr>The Greedy Goat</vt:lpstr>
      <vt:lpstr>The Greedy Goat</vt:lpstr>
      <vt:lpstr>PowerPoint Presentation</vt:lpstr>
      <vt:lpstr>Zone 2: The House of Illusions</vt:lpstr>
      <vt:lpstr>The Rabbit Hat</vt:lpstr>
      <vt:lpstr>The Rabbit Hat</vt:lpstr>
      <vt:lpstr>The Rabbit Hat</vt:lpstr>
      <vt:lpstr>The Rabbit Hat</vt:lpstr>
      <vt:lpstr>The Rabbit Hat</vt:lpstr>
      <vt:lpstr>PowerPoint Presentation</vt:lpstr>
      <vt:lpstr>The Phantom Bellringer</vt:lpstr>
      <vt:lpstr>The Phantom Bellringer</vt:lpstr>
      <vt:lpstr>The Phantom Bellringer</vt:lpstr>
      <vt:lpstr>The Phantom Bellringer</vt:lpstr>
      <vt:lpstr>PowerPoint Presentation</vt:lpstr>
      <vt:lpstr>Zookeeper rule #2</vt:lpstr>
      <vt:lpstr>Zone 3: The Ruins</vt:lpstr>
      <vt:lpstr>The Runaway Ferret</vt:lpstr>
      <vt:lpstr>The Runaway Ferret</vt:lpstr>
      <vt:lpstr>The Runaway Ferret</vt:lpstr>
      <vt:lpstr>PowerPoint Presentation</vt:lpstr>
      <vt:lpstr>The Scavenger Jackal</vt:lpstr>
      <vt:lpstr>The Scavenger Jackal</vt:lpstr>
      <vt:lpstr>The Scavenger Jackal</vt:lpstr>
      <vt:lpstr>PowerPoint Presentation</vt:lpstr>
      <vt:lpstr>Zookeeper rule #3</vt:lpstr>
      <vt:lpstr>Zone 4: The Crossing</vt:lpstr>
      <vt:lpstr>The Gallant Reindeer</vt:lpstr>
      <vt:lpstr>The Gallant Reindeer</vt:lpstr>
      <vt:lpstr>The Gallant Reindeer</vt:lpstr>
      <vt:lpstr>The Gallant Reindeer</vt:lpstr>
      <vt:lpstr>PowerPoint Presentation</vt:lpstr>
      <vt:lpstr>Zone 5: Performance Aviary</vt:lpstr>
      <vt:lpstr>The Turnstile Tern</vt:lpstr>
      <vt:lpstr>The Turnstile Tern</vt:lpstr>
      <vt:lpstr>PowerPoint Presentation</vt:lpstr>
      <vt:lpstr>The Next-Door Sparrows</vt:lpstr>
      <vt:lpstr>The Next-Door Sparrows</vt:lpstr>
      <vt:lpstr>The Next-Door Sparrows</vt:lpstr>
      <vt:lpstr>The Next-Door Sparrows</vt:lpstr>
      <vt:lpstr>PowerPoint Presentation</vt:lpstr>
      <vt:lpstr>Zookeeper rule #4</vt:lpstr>
      <vt:lpstr>Zone 6: Dragon’s Lair</vt:lpstr>
      <vt:lpstr>The Final Boss: The ABA Dragon</vt:lpstr>
      <vt:lpstr>The ABA Dragon</vt:lpstr>
      <vt:lpstr>The ABA Dragon</vt:lpstr>
      <vt:lpstr>The ABA Dragon</vt:lpstr>
      <vt:lpstr>The ABA Dragon</vt:lpstr>
      <vt:lpstr>The ABA Dragon</vt:lpstr>
      <vt:lpstr>The ABA Dragon</vt:lpstr>
      <vt:lpstr>PowerPoint Presentation</vt:lpstr>
      <vt:lpstr>Zookeeper rule #5</vt:lpstr>
      <vt:lpstr>What happened?</vt:lpstr>
      <vt:lpstr>Before you spawn the thread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Jana Machutová</dc:creator>
  <cp:lastModifiedBy>Jana Machutová</cp:lastModifiedBy>
  <cp:revision>85</cp:revision>
  <cp:lastPrinted>2026-09-07T14:28:19Z</cp:lastPrinted>
  <dcterms:created xsi:type="dcterms:W3CDTF">2026-07-24T07:52:37Z</dcterms:created>
  <dcterms:modified xsi:type="dcterms:W3CDTF">2026-09-08T09:00:03Z</dcterms:modified>
</cp:coreProperties>
</file>