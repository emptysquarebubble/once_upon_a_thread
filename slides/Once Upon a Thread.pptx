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56" r:id="rId2"/>
    <p:sldId id="258" r:id="rId3"/>
    <p:sldId id="259" r:id="rId4"/>
    <p:sldId id="268" r:id="rId5"/>
    <p:sldId id="261" r:id="rId6"/>
    <p:sldId id="262" r:id="rId7"/>
    <p:sldId id="263" r:id="rId8"/>
    <p:sldId id="265" r:id="rId9"/>
    <p:sldId id="264" r:id="rId10"/>
    <p:sldId id="266" r:id="rId11"/>
    <p:sldId id="269" r:id="rId12"/>
    <p:sldId id="267" r:id="rId13"/>
    <p:sldId id="271" r:id="rId14"/>
    <p:sldId id="272" r:id="rId15"/>
    <p:sldId id="275" r:id="rId16"/>
    <p:sldId id="273" r:id="rId17"/>
    <p:sldId id="274" r:id="rId18"/>
    <p:sldId id="276" r:id="rId19"/>
    <p:sldId id="328" r:id="rId20"/>
    <p:sldId id="278" r:id="rId21"/>
    <p:sldId id="279" r:id="rId22"/>
    <p:sldId id="281" r:id="rId23"/>
    <p:sldId id="282" r:id="rId24"/>
    <p:sldId id="329" r:id="rId25"/>
    <p:sldId id="284" r:id="rId26"/>
    <p:sldId id="285" r:id="rId27"/>
    <p:sldId id="286" r:id="rId28"/>
    <p:sldId id="287" r:id="rId29"/>
    <p:sldId id="291" r:id="rId30"/>
    <p:sldId id="330" r:id="rId31"/>
    <p:sldId id="289" r:id="rId32"/>
    <p:sldId id="290" r:id="rId33"/>
    <p:sldId id="336" r:id="rId34"/>
    <p:sldId id="331" r:id="rId35"/>
    <p:sldId id="293" r:id="rId36"/>
    <p:sldId id="294" r:id="rId37"/>
    <p:sldId id="295" r:id="rId38"/>
    <p:sldId id="296" r:id="rId39"/>
    <p:sldId id="297" r:id="rId40"/>
    <p:sldId id="298" r:id="rId41"/>
    <p:sldId id="332" r:id="rId42"/>
    <p:sldId id="300" r:id="rId43"/>
    <p:sldId id="301" r:id="rId44"/>
    <p:sldId id="302" r:id="rId45"/>
    <p:sldId id="333" r:id="rId46"/>
    <p:sldId id="304" r:id="rId47"/>
    <p:sldId id="305" r:id="rId48"/>
    <p:sldId id="307" r:id="rId49"/>
    <p:sldId id="308" r:id="rId50"/>
    <p:sldId id="334" r:id="rId51"/>
    <p:sldId id="324" r:id="rId52"/>
    <p:sldId id="310" r:id="rId53"/>
    <p:sldId id="311" r:id="rId54"/>
    <p:sldId id="312" r:id="rId55"/>
    <p:sldId id="313" r:id="rId56"/>
    <p:sldId id="314" r:id="rId57"/>
    <p:sldId id="317" r:id="rId58"/>
    <p:sldId id="315" r:id="rId59"/>
    <p:sldId id="337" r:id="rId60"/>
    <p:sldId id="335" r:id="rId61"/>
    <p:sldId id="325" r:id="rId62"/>
    <p:sldId id="323" r:id="rId63"/>
    <p:sldId id="326" r:id="rId64"/>
    <p:sldId id="327" r:id="rId65"/>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0282" autoAdjust="0"/>
  </p:normalViewPr>
  <p:slideViewPr>
    <p:cSldViewPr snapToGrid="0">
      <p:cViewPr varScale="1">
        <p:scale>
          <a:sx n="83" d="100"/>
          <a:sy n="83" d="100"/>
        </p:scale>
        <p:origin x="86" y="1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143375" y="0"/>
            <a:ext cx="3170238" cy="481013"/>
          </a:xfrm>
          <a:prstGeom prst="rect">
            <a:avLst/>
          </a:prstGeom>
        </p:spPr>
        <p:txBody>
          <a:bodyPr vert="horz" lIns="91440" tIns="45720" rIns="91440" bIns="45720" rtlCol="0"/>
          <a:lstStyle>
            <a:lvl1pPr algn="r">
              <a:defRPr sz="1200"/>
            </a:lvl1pPr>
          </a:lstStyle>
          <a:p>
            <a:fld id="{B40460E6-C925-482C-86D4-86EF657833B1}" type="datetimeFigureOut">
              <a:rPr lang="en-US" smtClean="0"/>
              <a:t>23-Sep-26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31838" y="4621213"/>
            <a:ext cx="5851525" cy="37798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143375" y="9120188"/>
            <a:ext cx="3170238" cy="481012"/>
          </a:xfrm>
          <a:prstGeom prst="rect">
            <a:avLst/>
          </a:prstGeom>
        </p:spPr>
        <p:txBody>
          <a:bodyPr vert="horz" lIns="91440" tIns="45720" rIns="91440" bIns="45720" rtlCol="0" anchor="b"/>
          <a:lstStyle>
            <a:lvl1pPr algn="r">
              <a:defRPr sz="1200"/>
            </a:lvl1pPr>
          </a:lstStyle>
          <a:p>
            <a:fld id="{B63B2EA1-C2D6-44B7-A9F5-02BE58F1EB01}" type="slidenum">
              <a:rPr lang="en-US" smtClean="0"/>
              <a:t>‹#›</a:t>
            </a:fld>
            <a:endParaRPr lang="en-US"/>
          </a:p>
        </p:txBody>
      </p:sp>
    </p:spTree>
    <p:extLst>
      <p:ext uri="{BB962C8B-B14F-4D97-AF65-F5344CB8AC3E}">
        <p14:creationId xmlns:p14="http://schemas.microsoft.com/office/powerpoint/2010/main" val="2106433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Welcome to the concurrency monster zoo.</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talk is a tour of monsters that appear</a:t>
            </a:r>
          </a:p>
          <a:p>
            <a:r>
              <a:rPr lang="en-US" sz="1200" b="0" kern="1200" dirty="0">
                <a:solidFill>
                  <a:schemeClr val="tx1"/>
                </a:solidFill>
                <a:effectLst/>
                <a:latin typeface="+mn-lt"/>
                <a:ea typeface="+mn-ea"/>
                <a:cs typeface="+mn-cs"/>
              </a:rPr>
              <a:t>when you turn a single-threaded program into a multithreaded one. </a:t>
            </a:r>
          </a:p>
          <a:p>
            <a:endParaRPr lang="en-US" sz="1200" b="0" kern="1200" dirty="0">
              <a:solidFill>
                <a:schemeClr val="tx1"/>
              </a:solidFill>
              <a:effectLst/>
              <a:latin typeface="+mn-lt"/>
              <a:ea typeface="+mn-ea"/>
              <a:cs typeface="+mn-cs"/>
            </a:endParaRPr>
          </a:p>
          <a:p>
            <a:r>
              <a:rPr lang="en-US" dirty="0"/>
              <a:t>We’ll learn to recognize their symptoms, understand why they hide so well, and look at practical ways to tame them.</a:t>
            </a:r>
          </a:p>
        </p:txBody>
      </p:sp>
      <p:sp>
        <p:nvSpPr>
          <p:cNvPr id="4" name="Slide Number Placeholder 3"/>
          <p:cNvSpPr>
            <a:spLocks noGrp="1"/>
          </p:cNvSpPr>
          <p:nvPr>
            <p:ph type="sldNum" sz="quarter" idx="5"/>
          </p:nvPr>
        </p:nvSpPr>
        <p:spPr/>
        <p:txBody>
          <a:bodyPr/>
          <a:lstStyle/>
          <a:p>
            <a:fld id="{B63B2EA1-C2D6-44B7-A9F5-02BE58F1EB01}" type="slidenum">
              <a:rPr lang="en-US" smtClean="0"/>
              <a:t>1</a:t>
            </a:fld>
            <a:endParaRPr lang="en-US"/>
          </a:p>
        </p:txBody>
      </p:sp>
    </p:spTree>
    <p:extLst>
      <p:ext uri="{BB962C8B-B14F-4D97-AF65-F5344CB8AC3E}">
        <p14:creationId xmlns:p14="http://schemas.microsoft.com/office/powerpoint/2010/main" val="129498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Once upon a time, a developer spawned a thread. He </a:t>
            </a:r>
            <a:r>
              <a:rPr lang="en-US" dirty="0"/>
              <a:t>was building a zoo. Nice one  for families and friends. </a:t>
            </a:r>
          </a:p>
          <a:p>
            <a:endParaRPr lang="en-US" dirty="0"/>
          </a:p>
          <a:p>
            <a:r>
              <a:rPr lang="en-US" dirty="0"/>
              <a:t>Then he decided to be fast and cool, so he added another thread.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And the first result was perfect. So the second one. So are the next thousand.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But then one run admitted more visitors than it released. </a:t>
            </a:r>
          </a:p>
          <a:p>
            <a:r>
              <a:rPr lang="en-US" sz="1200" b="0" kern="1200" dirty="0">
                <a:solidFill>
                  <a:schemeClr val="tx1"/>
                </a:solidFill>
                <a:effectLst/>
                <a:latin typeface="+mn-lt"/>
                <a:ea typeface="+mn-ea"/>
                <a:cs typeface="+mn-cs"/>
              </a:rPr>
              <a:t>Another released more visitors than it admitted. </a:t>
            </a:r>
          </a:p>
          <a:p>
            <a:r>
              <a:rPr lang="en-US" sz="1200" b="0" kern="1200" dirty="0">
                <a:solidFill>
                  <a:schemeClr val="tx1"/>
                </a:solidFill>
                <a:effectLst/>
                <a:latin typeface="+mn-lt"/>
                <a:ea typeface="+mn-ea"/>
                <a:cs typeface="+mn-cs"/>
              </a:rPr>
              <a:t>Another stopped making</a:t>
            </a:r>
          </a:p>
          <a:p>
            <a:r>
              <a:rPr lang="en-US" sz="1200" b="0" kern="1200" dirty="0">
                <a:solidFill>
                  <a:schemeClr val="tx1"/>
                </a:solidFill>
                <a:effectLst/>
                <a:latin typeface="+mn-lt"/>
                <a:ea typeface="+mn-ea"/>
                <a:cs typeface="+mn-cs"/>
              </a:rPr>
              <a:t>Progress</a:t>
            </a:r>
          </a:p>
          <a:p>
            <a:r>
              <a:rPr lang="en-US" sz="1200" b="0" kern="1200" dirty="0">
                <a:solidFill>
                  <a:schemeClr val="tx1"/>
                </a:solidFill>
                <a:effectLst/>
                <a:latin typeface="+mn-lt"/>
                <a:ea typeface="+mn-ea"/>
                <a:cs typeface="+mn-cs"/>
              </a:rPr>
              <a:t>Another crashed after closing time. </a:t>
            </a:r>
          </a:p>
          <a:p>
            <a:r>
              <a:rPr lang="en-US" sz="1200" b="0" kern="1200" dirty="0">
                <a:solidFill>
                  <a:schemeClr val="tx1"/>
                </a:solidFill>
                <a:effectLst/>
                <a:latin typeface="+mn-lt"/>
                <a:ea typeface="+mn-ea"/>
                <a:cs typeface="+mn-cs"/>
              </a:rPr>
              <a:t>And the very next run was perfect again.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final green result</a:t>
            </a:r>
          </a:p>
          <a:p>
            <a:r>
              <a:rPr lang="en-US" sz="1200" b="0" kern="1200" dirty="0">
                <a:solidFill>
                  <a:schemeClr val="tx1"/>
                </a:solidFill>
                <a:effectLst/>
                <a:latin typeface="+mn-lt"/>
                <a:ea typeface="+mn-ea"/>
                <a:cs typeface="+mn-cs"/>
              </a:rPr>
              <a:t>is not reassurance. It is camouflage.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We will spend this talk learning which monster ate which ticket.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a:t>
            </a:fld>
            <a:endParaRPr lang="en-US"/>
          </a:p>
        </p:txBody>
      </p:sp>
    </p:spTree>
    <p:extLst>
      <p:ext uri="{BB962C8B-B14F-4D97-AF65-F5344CB8AC3E}">
        <p14:creationId xmlns:p14="http://schemas.microsoft.com/office/powerpoint/2010/main" val="400069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Welcome to the monster zoo — </a:t>
            </a:r>
          </a:p>
          <a:p>
            <a:r>
              <a:rPr lang="en-US" sz="1200" b="0" kern="1200" dirty="0">
                <a:solidFill>
                  <a:schemeClr val="tx1"/>
                </a:solidFill>
                <a:effectLst/>
                <a:latin typeface="+mn-lt"/>
                <a:ea typeface="+mn-ea"/>
                <a:cs typeface="+mn-cs"/>
              </a:rPr>
              <a:t>Today’s tour has six enclosures.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We start in the petting zoo, </a:t>
            </a:r>
          </a:p>
          <a:p>
            <a:r>
              <a:rPr lang="en-US" sz="1200" b="0" kern="1200" dirty="0">
                <a:solidFill>
                  <a:schemeClr val="tx1"/>
                </a:solidFill>
                <a:effectLst/>
                <a:latin typeface="+mn-lt"/>
                <a:ea typeface="+mn-ea"/>
                <a:cs typeface="+mn-cs"/>
              </a:rPr>
              <a:t>Walk through the house of illusions </a:t>
            </a:r>
          </a:p>
          <a:p>
            <a:r>
              <a:rPr lang="en-US" sz="1200" b="0" kern="1200" dirty="0">
                <a:solidFill>
                  <a:schemeClr val="tx1"/>
                </a:solidFill>
                <a:effectLst/>
                <a:latin typeface="+mn-lt"/>
                <a:ea typeface="+mn-ea"/>
                <a:cs typeface="+mn-cs"/>
              </a:rPr>
              <a:t>and the ruins, </a:t>
            </a:r>
          </a:p>
          <a:p>
            <a:r>
              <a:rPr lang="en-US" sz="1200" b="0" kern="1200" dirty="0">
                <a:solidFill>
                  <a:schemeClr val="tx1"/>
                </a:solidFill>
                <a:effectLst/>
                <a:latin typeface="+mn-lt"/>
                <a:ea typeface="+mn-ea"/>
                <a:cs typeface="+mn-cs"/>
              </a:rPr>
              <a:t>pause at a busy crossing, </a:t>
            </a:r>
          </a:p>
          <a:p>
            <a:r>
              <a:rPr lang="en-US" sz="1200" b="0" kern="1200" dirty="0">
                <a:solidFill>
                  <a:schemeClr val="tx1"/>
                </a:solidFill>
                <a:effectLst/>
                <a:latin typeface="+mn-lt"/>
                <a:ea typeface="+mn-ea"/>
                <a:cs typeface="+mn-cs"/>
              </a:rPr>
              <a:t>Visit the performance aviary, </a:t>
            </a:r>
          </a:p>
          <a:p>
            <a:r>
              <a:rPr lang="en-US" sz="1200" b="0" kern="1200" dirty="0">
                <a:solidFill>
                  <a:schemeClr val="tx1"/>
                </a:solidFill>
                <a:effectLst/>
                <a:latin typeface="+mn-lt"/>
                <a:ea typeface="+mn-ea"/>
                <a:cs typeface="+mn-cs"/>
              </a:rPr>
              <a:t>and finish in the dragon’s cave.</a:t>
            </a:r>
          </a:p>
          <a:p>
            <a:endParaRPr lang="en-US" dirty="0"/>
          </a:p>
          <a:p>
            <a:r>
              <a:rPr lang="en-US" sz="1200" b="0" kern="1200" dirty="0">
                <a:solidFill>
                  <a:schemeClr val="tx1"/>
                </a:solidFill>
                <a:effectLst/>
                <a:latin typeface="+mn-lt"/>
                <a:ea typeface="+mn-ea"/>
                <a:cs typeface="+mn-cs"/>
              </a:rPr>
              <a:t>please keep your hands inside the critical</a:t>
            </a:r>
          </a:p>
          <a:p>
            <a:r>
              <a:rPr lang="en-US" sz="1200" b="0" kern="1200" dirty="0">
                <a:solidFill>
                  <a:schemeClr val="tx1"/>
                </a:solidFill>
                <a:effectLst/>
                <a:latin typeface="+mn-lt"/>
                <a:ea typeface="+mn-ea"/>
                <a:cs typeface="+mn-cs"/>
              </a:rPr>
              <a:t>section. </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a:t>
            </a:fld>
            <a:endParaRPr lang="en-US"/>
          </a:p>
        </p:txBody>
      </p:sp>
    </p:spTree>
    <p:extLst>
      <p:ext uri="{BB962C8B-B14F-4D97-AF65-F5344CB8AC3E}">
        <p14:creationId xmlns:p14="http://schemas.microsoft.com/office/powerpoint/2010/main" val="254148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begin the monster hunt, we need one important rule: concurrency bugs do not appear on every run.</a:t>
            </a:r>
          </a:p>
          <a:p>
            <a:endParaRPr lang="en-US" dirty="0"/>
          </a:p>
          <a:p>
            <a:r>
              <a:rPr lang="en-US" sz="1200" b="0" kern="1200" dirty="0">
                <a:solidFill>
                  <a:schemeClr val="tx1"/>
                </a:solidFill>
                <a:effectLst/>
                <a:latin typeface="+mn-lt"/>
                <a:ea typeface="+mn-ea"/>
                <a:cs typeface="+mn-cs"/>
              </a:rPr>
              <a:t>A concurrency bug is a possible interleaving, not a promise that every run will fail. </a:t>
            </a:r>
          </a:p>
          <a:p>
            <a:r>
              <a:rPr lang="en-US" sz="1200" b="0" kern="1200" dirty="0">
                <a:solidFill>
                  <a:schemeClr val="tx1"/>
                </a:solidFill>
                <a:effectLst/>
                <a:latin typeface="+mn-lt"/>
                <a:ea typeface="+mn-ea"/>
                <a:cs typeface="+mn-cs"/>
              </a:rPr>
              <a:t>Tests sample a few schedules; production samples many more.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Logging, debuggers, machine load, and core count all change timing. </a:t>
            </a:r>
          </a:p>
          <a:p>
            <a:r>
              <a:rPr lang="en-US" sz="1200" b="0" kern="1200" dirty="0">
                <a:solidFill>
                  <a:schemeClr val="tx1"/>
                </a:solidFill>
                <a:effectLst/>
                <a:latin typeface="+mn-lt"/>
                <a:ea typeface="+mn-ea"/>
                <a:cs typeface="+mn-cs"/>
              </a:rPr>
              <a:t>“It works on my machine” means only that this machine did not choose the revealing schedule.</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a:t>
            </a:fld>
            <a:endParaRPr lang="en-US"/>
          </a:p>
        </p:txBody>
      </p:sp>
    </p:spTree>
    <p:extLst>
      <p:ext uri="{BB962C8B-B14F-4D97-AF65-F5344CB8AC3E}">
        <p14:creationId xmlns:p14="http://schemas.microsoft.com/office/powerpoint/2010/main" val="24137530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we uncover a monster, we earn its monster card</a:t>
            </a:r>
            <a:r>
              <a:rPr lang="en-US" sz="1200" b="0" kern="1200" dirty="0">
                <a:solidFill>
                  <a:schemeClr val="tx1"/>
                </a:solidFill>
                <a:effectLst/>
                <a:latin typeface="+mn-lt"/>
                <a:ea typeface="+mn-ea"/>
                <a:cs typeface="+mn-cs"/>
              </a:rPr>
              <a: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Each monster card answers four questions. Where does it live? </a:t>
            </a:r>
          </a:p>
          <a:p>
            <a:r>
              <a:rPr lang="en-US" sz="1200" b="0" kern="1200" dirty="0">
                <a:solidFill>
                  <a:schemeClr val="tx1"/>
                </a:solidFill>
                <a:effectLst/>
                <a:latin typeface="+mn-lt"/>
                <a:ea typeface="+mn-ea"/>
                <a:cs typeface="+mn-cs"/>
              </a:rPr>
              <a:t>What does it do? </a:t>
            </a:r>
          </a:p>
          <a:p>
            <a:r>
              <a:rPr lang="en-US" sz="1200" b="0" kern="1200" dirty="0">
                <a:solidFill>
                  <a:schemeClr val="tx1"/>
                </a:solidFill>
                <a:effectLst/>
                <a:latin typeface="+mn-lt"/>
                <a:ea typeface="+mn-ea"/>
                <a:cs typeface="+mn-cs"/>
              </a:rPr>
              <a:t>Why does it look harmless? </a:t>
            </a:r>
          </a:p>
          <a:p>
            <a:r>
              <a:rPr lang="en-US" sz="1200" b="0" kern="1200" dirty="0">
                <a:solidFill>
                  <a:schemeClr val="tx1"/>
                </a:solidFill>
                <a:effectLst/>
                <a:latin typeface="+mn-lt"/>
                <a:ea typeface="+mn-ea"/>
                <a:cs typeface="+mn-cs"/>
              </a:rPr>
              <a:t>How do we tame it?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last answer sounds promising, but keep in mind that there is no universal primitive that makes arbitrary</a:t>
            </a:r>
          </a:p>
          <a:p>
            <a:r>
              <a:rPr lang="en-US" sz="1200" b="0" kern="1200" dirty="0">
                <a:solidFill>
                  <a:schemeClr val="tx1"/>
                </a:solidFill>
                <a:effectLst/>
                <a:latin typeface="+mn-lt"/>
                <a:ea typeface="+mn-ea"/>
                <a:cs typeface="+mn-cs"/>
              </a:rPr>
              <a:t>concurrent code safe.</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a:t>
            </a:fld>
            <a:endParaRPr lang="en-US"/>
          </a:p>
        </p:txBody>
      </p:sp>
    </p:spTree>
    <p:extLst>
      <p:ext uri="{BB962C8B-B14F-4D97-AF65-F5344CB8AC3E}">
        <p14:creationId xmlns:p14="http://schemas.microsoft.com/office/powerpoint/2010/main" val="3769115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first monsters are small, common, and easy to underestimate. Most developers</a:t>
            </a:r>
          </a:p>
          <a:p>
            <a:r>
              <a:rPr lang="en-US" sz="1200" b="0" kern="1200" dirty="0">
                <a:solidFill>
                  <a:schemeClr val="tx1"/>
                </a:solidFill>
                <a:effectLst/>
                <a:latin typeface="+mn-lt"/>
                <a:ea typeface="+mn-ea"/>
                <a:cs typeface="+mn-cs"/>
              </a:rPr>
              <a:t>have met them, and many have accidentally taken one home.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We start with the simplest shared counter.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6</a:t>
            </a:fld>
            <a:endParaRPr lang="en-US"/>
          </a:p>
        </p:txBody>
      </p:sp>
    </p:spTree>
    <p:extLst>
      <p:ext uri="{BB962C8B-B14F-4D97-AF65-F5344CB8AC3E}">
        <p14:creationId xmlns:p14="http://schemas.microsoft.com/office/powerpoint/2010/main" val="17128937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Every petting zoo has one animal that looks harmless until you turn your back.</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goat eats leaves, sandwiches, shoelaces, and occasionally part of the fence.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It rarely eats everything. It takes just enough that, at first glance, nothing</a:t>
            </a:r>
          </a:p>
          <a:p>
            <a:r>
              <a:rPr lang="en-US" sz="1200" b="0" kern="1200" dirty="0">
                <a:solidFill>
                  <a:schemeClr val="tx1"/>
                </a:solidFill>
                <a:effectLst/>
                <a:latin typeface="+mn-lt"/>
                <a:ea typeface="+mn-ea"/>
                <a:cs typeface="+mn-cs"/>
              </a:rPr>
              <a:t>appears to be missing.</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7</a:t>
            </a:fld>
            <a:endParaRPr lang="en-US"/>
          </a:p>
        </p:txBody>
      </p:sp>
    </p:spTree>
    <p:extLst>
      <p:ext uri="{BB962C8B-B14F-4D97-AF65-F5344CB8AC3E}">
        <p14:creationId xmlns:p14="http://schemas.microsoft.com/office/powerpoint/2010/main" val="13724698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zoo has two gates and one visitor counter.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north-gate thread admits ten</a:t>
            </a:r>
          </a:p>
          <a:p>
            <a:r>
              <a:rPr lang="en-US" sz="1200" b="0" kern="1200" dirty="0">
                <a:solidFill>
                  <a:schemeClr val="tx1"/>
                </a:solidFill>
                <a:effectLst/>
                <a:latin typeface="+mn-lt"/>
                <a:ea typeface="+mn-ea"/>
                <a:cs typeface="+mn-cs"/>
              </a:rPr>
              <a:t>thousand visitors and increments the counter for each one.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south-gate thread does exactly the same.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Both `</a:t>
            </a:r>
            <a:r>
              <a:rPr lang="en-US" sz="1200" b="0" kern="1200" dirty="0" err="1">
                <a:solidFill>
                  <a:schemeClr val="tx1"/>
                </a:solidFill>
                <a:effectLst/>
                <a:latin typeface="+mn-lt"/>
                <a:ea typeface="+mn-ea"/>
                <a:cs typeface="+mn-cs"/>
              </a:rPr>
              <a:t>jthread`s</a:t>
            </a:r>
            <a:r>
              <a:rPr lang="en-US" sz="1200" b="0" kern="1200" dirty="0">
                <a:solidFill>
                  <a:schemeClr val="tx1"/>
                </a:solidFill>
                <a:effectLst/>
                <a:latin typeface="+mn-lt"/>
                <a:ea typeface="+mn-ea"/>
                <a:cs typeface="+mn-cs"/>
              </a:rPr>
              <a:t> finish before we print — their destructors join.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Nothing looks mysterious: ten thousand plus ten thousand</a:t>
            </a:r>
          </a:p>
          <a:p>
            <a:r>
              <a:rPr lang="en-US" sz="1200" b="0" kern="1200" dirty="0">
                <a:solidFill>
                  <a:schemeClr val="tx1"/>
                </a:solidFill>
                <a:effectLst/>
                <a:latin typeface="+mn-lt"/>
                <a:ea typeface="+mn-ea"/>
                <a:cs typeface="+mn-cs"/>
              </a:rPr>
              <a:t>should be twenty thousand.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8</a:t>
            </a:fld>
            <a:endParaRPr lang="en-US"/>
          </a:p>
        </p:txBody>
      </p:sp>
    </p:spTree>
    <p:extLst>
      <p:ext uri="{BB962C8B-B14F-4D97-AF65-F5344CB8AC3E}">
        <p14:creationId xmlns:p14="http://schemas.microsoft.com/office/powerpoint/2010/main" val="39224883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arithmetic has one answer, but the program does not.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One run reports eleven thousand, </a:t>
            </a:r>
          </a:p>
          <a:p>
            <a:r>
              <a:rPr lang="en-US" sz="1200" b="0" kern="1200" dirty="0">
                <a:solidFill>
                  <a:schemeClr val="tx1"/>
                </a:solidFill>
                <a:effectLst/>
                <a:latin typeface="+mn-lt"/>
                <a:ea typeface="+mn-ea"/>
                <a:cs typeface="+mn-cs"/>
              </a:rPr>
              <a:t>another nineteen thousand, </a:t>
            </a:r>
          </a:p>
          <a:p>
            <a:r>
              <a:rPr lang="en-US" sz="1200" b="0" kern="1200" dirty="0">
                <a:solidFill>
                  <a:schemeClr val="tx1"/>
                </a:solidFill>
                <a:effectLst/>
                <a:latin typeface="+mn-lt"/>
                <a:ea typeface="+mn-ea"/>
                <a:cs typeface="+mn-cs"/>
              </a:rPr>
              <a:t>another something in between.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Nobody left through a secret gate, yet the count keeps changing. </a:t>
            </a:r>
          </a:p>
          <a:p>
            <a:r>
              <a:rPr lang="en-US" sz="1200" b="0" kern="1200" dirty="0">
                <a:solidFill>
                  <a:schemeClr val="tx1"/>
                </a:solidFill>
                <a:effectLst/>
                <a:latin typeface="+mn-lt"/>
                <a:ea typeface="+mn-ea"/>
                <a:cs typeface="+mn-cs"/>
              </a:rPr>
              <a:t>The symptom is not random arithmetic; something happens while both gates update the same counter.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9</a:t>
            </a:fld>
            <a:endParaRPr lang="en-US"/>
          </a:p>
        </p:txBody>
      </p:sp>
    </p:spTree>
    <p:extLst>
      <p:ext uri="{BB962C8B-B14F-4D97-AF65-F5344CB8AC3E}">
        <p14:creationId xmlns:p14="http://schemas.microsoft.com/office/powerpoint/2010/main" val="551116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we freeze both gates to find out what's going on.</a:t>
            </a:r>
          </a:p>
          <a:p>
            <a:endParaRPr lang="en-US" sz="1200" b="0" kern="1200" dirty="0">
              <a:solidFill>
                <a:schemeClr val="tx1"/>
              </a:solidFill>
              <a:effectLst/>
              <a:latin typeface="+mn-lt"/>
              <a:ea typeface="+mn-ea"/>
              <a:cs typeface="+mn-cs"/>
            </a:endParaRPr>
          </a:p>
          <a:p>
            <a:r>
              <a:rPr lang="en-US" dirty="0"/>
              <a:t>The counter contains 67. North reads 67 and admits three visitors, so it computes 70. </a:t>
            </a:r>
          </a:p>
          <a:p>
            <a:endParaRPr lang="en-US" dirty="0"/>
          </a:p>
          <a:p>
            <a:r>
              <a:rPr lang="en-US" dirty="0"/>
              <a:t>Before it stores the result, South also reads 67, admits one visitor, and computes 68.</a:t>
            </a:r>
          </a:p>
          <a:p>
            <a:endParaRPr lang="en-US" dirty="0"/>
          </a:p>
          <a:p>
            <a:r>
              <a:rPr lang="en-US" dirty="0"/>
              <a:t>Both calculations are correct, but both started from the same old value. Whichever store happens last overwrites the other. Four visitors entered, but only one gate’s update survives </a:t>
            </a:r>
          </a:p>
          <a:p>
            <a:endParaRPr lang="en-US" dirty="0"/>
          </a:p>
          <a:p>
            <a:r>
              <a:rPr lang="en-US" sz="1200" b="0" kern="1200" dirty="0">
                <a:solidFill>
                  <a:schemeClr val="tx1"/>
                </a:solidFill>
                <a:effectLst/>
                <a:latin typeface="+mn-lt"/>
                <a:ea typeface="+mn-ea"/>
                <a:cs typeface="+mn-cs"/>
              </a:rPr>
              <a:t>That is the bite the goat took.</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10</a:t>
            </a:fld>
            <a:endParaRPr lang="en-US"/>
          </a:p>
        </p:txBody>
      </p:sp>
    </p:spTree>
    <p:extLst>
      <p:ext uri="{BB962C8B-B14F-4D97-AF65-F5344CB8AC3E}">
        <p14:creationId xmlns:p14="http://schemas.microsoft.com/office/powerpoint/2010/main" val="1164428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we can name it. Two threads perform conflicting </a:t>
            </a:r>
            <a:r>
              <a:rPr lang="en-US" sz="1200" b="0" kern="1200" dirty="0" err="1">
                <a:solidFill>
                  <a:schemeClr val="tx1"/>
                </a:solidFill>
                <a:effectLst/>
                <a:latin typeface="+mn-lt"/>
                <a:ea typeface="+mn-ea"/>
                <a:cs typeface="+mn-cs"/>
              </a:rPr>
              <a:t>unsynchronised</a:t>
            </a:r>
            <a:r>
              <a:rPr lang="en-US" sz="1200" b="0" kern="1200" dirty="0">
                <a:solidFill>
                  <a:schemeClr val="tx1"/>
                </a:solidFill>
                <a:effectLst/>
                <a:latin typeface="+mn-lt"/>
                <a:ea typeface="+mn-ea"/>
                <a:cs typeface="+mn-cs"/>
              </a:rPr>
              <a:t> accesses to</a:t>
            </a:r>
          </a:p>
          <a:p>
            <a:r>
              <a:rPr lang="en-US" sz="1200" b="0" kern="1200" dirty="0">
                <a:solidFill>
                  <a:schemeClr val="tx1"/>
                </a:solidFill>
                <a:effectLst/>
                <a:latin typeface="+mn-lt"/>
                <a:ea typeface="+mn-ea"/>
                <a:cs typeface="+mn-cs"/>
              </a:rPr>
              <a:t>the same integer: this is a data race, and in C++ a data race is undefined</a:t>
            </a:r>
          </a:p>
          <a:p>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Which means t</a:t>
            </a:r>
            <a:r>
              <a:rPr lang="en-US" dirty="0"/>
              <a:t>his lost update is one possible outcome, but C++ does not promise such a polite failure. Because in case of undefined </a:t>
            </a:r>
            <a:r>
              <a:rPr lang="en-US" dirty="0" err="1"/>
              <a:t>behaviour</a:t>
            </a:r>
            <a:r>
              <a:rPr lang="en-US" dirty="0"/>
              <a:t> compiler owes us neither a smaller count nor a crash nor any other predictable result</a:t>
            </a:r>
          </a:p>
        </p:txBody>
      </p:sp>
      <p:sp>
        <p:nvSpPr>
          <p:cNvPr id="4" name="Slide Number Placeholder 3"/>
          <p:cNvSpPr>
            <a:spLocks noGrp="1"/>
          </p:cNvSpPr>
          <p:nvPr>
            <p:ph type="sldNum" sz="quarter" idx="5"/>
          </p:nvPr>
        </p:nvSpPr>
        <p:spPr/>
        <p:txBody>
          <a:bodyPr/>
          <a:lstStyle/>
          <a:p>
            <a:fld id="{B63B2EA1-C2D6-44B7-A9F5-02BE58F1EB01}" type="slidenum">
              <a:rPr lang="en-US" smtClean="0"/>
              <a:t>11</a:t>
            </a:fld>
            <a:endParaRPr lang="en-US"/>
          </a:p>
        </p:txBody>
      </p:sp>
    </p:spTree>
    <p:extLst>
      <p:ext uri="{BB962C8B-B14F-4D97-AF65-F5344CB8AC3E}">
        <p14:creationId xmlns:p14="http://schemas.microsoft.com/office/powerpoint/2010/main" val="15434356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the whole case. </a:t>
            </a:r>
          </a:p>
          <a:p>
            <a:r>
              <a:rPr lang="en-US" sz="1200" b="0" kern="1200" dirty="0">
                <a:solidFill>
                  <a:schemeClr val="tx1"/>
                </a:solidFill>
                <a:effectLst/>
                <a:latin typeface="+mn-lt"/>
                <a:ea typeface="+mn-ea"/>
                <a:cs typeface="+mn-cs"/>
              </a:rPr>
              <a:t>Habitat: an </a:t>
            </a:r>
            <a:r>
              <a:rPr lang="en-US" sz="1200" b="0" kern="1200" dirty="0" err="1">
                <a:solidFill>
                  <a:schemeClr val="tx1"/>
                </a:solidFill>
                <a:effectLst/>
                <a:latin typeface="+mn-lt"/>
                <a:ea typeface="+mn-ea"/>
                <a:cs typeface="+mn-cs"/>
              </a:rPr>
              <a:t>unsynchronised</a:t>
            </a:r>
            <a:r>
              <a:rPr lang="en-US" sz="1200" b="0" kern="1200" dirty="0">
                <a:solidFill>
                  <a:schemeClr val="tx1"/>
                </a:solidFill>
                <a:effectLst/>
                <a:latin typeface="+mn-lt"/>
                <a:ea typeface="+mn-ea"/>
                <a:cs typeface="+mn-cs"/>
              </a:rPr>
              <a:t> non-atomic</a:t>
            </a:r>
          </a:p>
          <a:p>
            <a:r>
              <a:rPr lang="en-US" sz="1200" b="0" kern="1200" dirty="0">
                <a:solidFill>
                  <a:schemeClr val="tx1"/>
                </a:solidFill>
                <a:effectLst/>
                <a:latin typeface="+mn-lt"/>
                <a:ea typeface="+mn-ea"/>
                <a:cs typeface="+mn-cs"/>
              </a:rPr>
              <a:t>read-modify-write. </a:t>
            </a:r>
          </a:p>
          <a:p>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lost updates — and, more importantly, undefined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the goat gets hungrier as traffic rises. Camouflage: a reasonable</a:t>
            </a:r>
          </a:p>
          <a:p>
            <a:r>
              <a:rPr lang="en-US" sz="1200" b="0" kern="1200" dirty="0">
                <a:solidFill>
                  <a:schemeClr val="tx1"/>
                </a:solidFill>
                <a:effectLst/>
                <a:latin typeface="+mn-lt"/>
                <a:ea typeface="+mn-ea"/>
                <a:cs typeface="+mn-cs"/>
              </a:rPr>
              <a:t>results and thousands of successful runs.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this independent counter, make the</a:t>
            </a:r>
          </a:p>
          <a:p>
            <a:r>
              <a:rPr lang="en-US" sz="1200" b="0" kern="1200" dirty="0">
                <a:solidFill>
                  <a:schemeClr val="tx1"/>
                </a:solidFill>
                <a:effectLst/>
                <a:latin typeface="+mn-lt"/>
                <a:ea typeface="+mn-ea"/>
                <a:cs typeface="+mn-cs"/>
              </a:rPr>
              <a:t>increment one atomic read-modify-write. A mutex would also work; the atomic is</a:t>
            </a:r>
          </a:p>
          <a:p>
            <a:r>
              <a:rPr lang="en-US" sz="1200" b="0" kern="1200" dirty="0">
                <a:solidFill>
                  <a:schemeClr val="tx1"/>
                </a:solidFill>
                <a:effectLst/>
                <a:latin typeface="+mn-lt"/>
                <a:ea typeface="+mn-ea"/>
                <a:cs typeface="+mn-cs"/>
              </a:rPr>
              <a:t>simply the smallest tool that matches this invariant.</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take the wrong lesson and replace every field with an atomic. One safe operation does not automatically make a safe decision. But that is different</a:t>
            </a:r>
          </a:p>
          <a:p>
            <a:r>
              <a:rPr lang="en-US" sz="1200" b="0" kern="1200" dirty="0">
                <a:solidFill>
                  <a:schemeClr val="tx1"/>
                </a:solidFill>
                <a:effectLst/>
                <a:latin typeface="+mn-lt"/>
                <a:ea typeface="+mn-ea"/>
                <a:cs typeface="+mn-cs"/>
              </a:rPr>
              <a:t>monster.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12</a:t>
            </a:fld>
            <a:endParaRPr lang="en-US"/>
          </a:p>
        </p:txBody>
      </p:sp>
    </p:spTree>
    <p:extLst>
      <p:ext uri="{BB962C8B-B14F-4D97-AF65-F5344CB8AC3E}">
        <p14:creationId xmlns:p14="http://schemas.microsoft.com/office/powerpoint/2010/main" val="21254064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That explains our first clue: the wrong count came from competing updates.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we investigate code where every individual operation is safe yet the decision built from those operations is not.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illusion is believing that individually safe operations automatically compose into a safe decision. </a:t>
            </a:r>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13</a:t>
            </a:fld>
            <a:endParaRPr lang="en-US"/>
          </a:p>
        </p:txBody>
      </p:sp>
    </p:spTree>
    <p:extLst>
      <p:ext uri="{BB962C8B-B14F-4D97-AF65-F5344CB8AC3E}">
        <p14:creationId xmlns:p14="http://schemas.microsoft.com/office/powerpoint/2010/main" val="11579678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You know the old magic trick: the magician shows us an empty hat, reaches</a:t>
            </a:r>
          </a:p>
          <a:p>
            <a:r>
              <a:rPr lang="en-US" sz="1200" b="0" kern="1200" dirty="0">
                <a:solidFill>
                  <a:schemeClr val="tx1"/>
                </a:solidFill>
                <a:effectLst/>
                <a:latin typeface="+mn-lt"/>
                <a:ea typeface="+mn-ea"/>
                <a:cs typeface="+mn-cs"/>
              </a:rPr>
              <a:t>inside, and pulls out a rabbit. Then another rabbit. Then flowers, scarves, and</a:t>
            </a:r>
          </a:p>
          <a:p>
            <a:r>
              <a:rPr lang="en-US" sz="1200" b="0" kern="1200" dirty="0">
                <a:solidFill>
                  <a:schemeClr val="tx1"/>
                </a:solidFill>
                <a:effectLst/>
                <a:latin typeface="+mn-lt"/>
                <a:ea typeface="+mn-ea"/>
                <a:cs typeface="+mn-cs"/>
              </a:rPr>
              <a:t>something far too large to have fitted inside. The audience learns one rule:</a:t>
            </a:r>
          </a:p>
          <a:p>
            <a:r>
              <a:rPr lang="en-US" sz="1200" b="0" kern="1200" dirty="0">
                <a:solidFill>
                  <a:schemeClr val="tx1"/>
                </a:solidFill>
                <a:effectLst/>
                <a:latin typeface="+mn-lt"/>
                <a:ea typeface="+mn-ea"/>
                <a:cs typeface="+mn-cs"/>
              </a:rPr>
              <a:t>whenever a hand reaches into the hat, something wonderful will come out.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Our zoo has such a hat. The visitors trust the trick. Let us see whether the</a:t>
            </a:r>
          </a:p>
          <a:p>
            <a:r>
              <a:rPr lang="en-US" sz="1200" b="0" kern="1200" dirty="0">
                <a:solidFill>
                  <a:schemeClr val="tx1"/>
                </a:solidFill>
                <a:effectLst/>
                <a:latin typeface="+mn-lt"/>
                <a:ea typeface="+mn-ea"/>
                <a:cs typeface="+mn-cs"/>
              </a:rPr>
              <a:t>hat deserves that trust.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14</a:t>
            </a:fld>
            <a:endParaRPr lang="en-US"/>
          </a:p>
        </p:txBody>
      </p:sp>
    </p:spTree>
    <p:extLst>
      <p:ext uri="{BB962C8B-B14F-4D97-AF65-F5344CB8AC3E}">
        <p14:creationId xmlns:p14="http://schemas.microsoft.com/office/powerpoint/2010/main" val="2084668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hat is a queue protected by one mutex. </a:t>
            </a:r>
          </a:p>
          <a:p>
            <a:r>
              <a:rPr lang="en-US" sz="1200" b="0" kern="1200" dirty="0">
                <a:solidFill>
                  <a:schemeClr val="tx1"/>
                </a:solidFill>
                <a:effectLst/>
                <a:latin typeface="+mn-lt"/>
                <a:ea typeface="+mn-ea"/>
                <a:cs typeface="+mn-cs"/>
              </a:rPr>
              <a:t>Than we have a code very similar to the one with goat. But this time we are clever.</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is_hat_empty</a:t>
            </a:r>
            <a:r>
              <a:rPr lang="en-US" sz="1200" b="0" kern="1200" dirty="0">
                <a:solidFill>
                  <a:schemeClr val="tx1"/>
                </a:solidFill>
                <a:effectLst/>
                <a:latin typeface="+mn-lt"/>
                <a:ea typeface="+mn-ea"/>
                <a:cs typeface="+mn-cs"/>
              </a:rPr>
              <a:t>()` locks the mutex,</a:t>
            </a:r>
          </a:p>
          <a:p>
            <a:r>
              <a:rPr lang="en-US" sz="1200" b="0" kern="1200" dirty="0">
                <a:solidFill>
                  <a:schemeClr val="tx1"/>
                </a:solidFill>
                <a:effectLst/>
                <a:latin typeface="+mn-lt"/>
                <a:ea typeface="+mn-ea"/>
                <a:cs typeface="+mn-cs"/>
              </a:rPr>
              <a:t>looks inside, returns the answer, and unlocks. </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hat_pop</a:t>
            </a:r>
            <a:r>
              <a:rPr lang="en-US" sz="1200" b="0" kern="1200" dirty="0">
                <a:solidFill>
                  <a:schemeClr val="tx1"/>
                </a:solidFill>
                <a:effectLst/>
                <a:latin typeface="+mn-lt"/>
                <a:ea typeface="+mn-ea"/>
                <a:cs typeface="+mn-cs"/>
              </a:rPr>
              <a:t>()` locks the same</a:t>
            </a:r>
          </a:p>
          <a:p>
            <a:r>
              <a:rPr lang="en-US" sz="1200" b="0" kern="1200" dirty="0">
                <a:solidFill>
                  <a:schemeClr val="tx1"/>
                </a:solidFill>
                <a:effectLst/>
                <a:latin typeface="+mn-lt"/>
                <a:ea typeface="+mn-ea"/>
                <a:cs typeface="+mn-cs"/>
              </a:rPr>
              <a:t>mutex, takes the rabbit at the front, removes it, and unlocks. </a:t>
            </a:r>
          </a:p>
          <a:p>
            <a:r>
              <a:rPr lang="en-US" sz="1200" b="0" kern="1200" dirty="0">
                <a:solidFill>
                  <a:schemeClr val="tx1"/>
                </a:solidFill>
                <a:effectLst/>
                <a:latin typeface="+mn-lt"/>
                <a:ea typeface="+mn-ea"/>
                <a:cs typeface="+mn-cs"/>
              </a:rPr>
              <a:t>The visitor code first asks whether the hat is empty and, if the answer is no, pulls one rabbit.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Each function is short. Each function uses the same lock. Each function looks</a:t>
            </a:r>
          </a:p>
          <a:p>
            <a:r>
              <a:rPr lang="en-US" sz="1200" b="0" kern="1200" dirty="0">
                <a:solidFill>
                  <a:schemeClr val="tx1"/>
                </a:solidFill>
                <a:effectLst/>
                <a:latin typeface="+mn-lt"/>
                <a:ea typeface="+mn-ea"/>
                <a:cs typeface="+mn-cs"/>
              </a:rPr>
              <a:t>thread-safe. What could possibly go wrong?</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15</a:t>
            </a:fld>
            <a:endParaRPr lang="en-US"/>
          </a:p>
        </p:txBody>
      </p:sp>
    </p:spTree>
    <p:extLst>
      <p:ext uri="{BB962C8B-B14F-4D97-AF65-F5344CB8AC3E}">
        <p14:creationId xmlns:p14="http://schemas.microsoft.com/office/powerpoint/2010/main" val="3314263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three children arrive, and every child wants one rabbit to pet. There are</a:t>
            </a:r>
          </a:p>
          <a:p>
            <a:r>
              <a:rPr lang="en-US" sz="1200" b="0" kern="1200" dirty="0">
                <a:solidFill>
                  <a:schemeClr val="tx1"/>
                </a:solidFill>
                <a:effectLst/>
                <a:latin typeface="+mn-lt"/>
                <a:ea typeface="+mn-ea"/>
                <a:cs typeface="+mn-cs"/>
              </a:rPr>
              <a:t>two rabbits in the hat. </a:t>
            </a:r>
          </a:p>
          <a:p>
            <a:r>
              <a:rPr lang="en-US" sz="1200" b="0" kern="1200" dirty="0">
                <a:solidFill>
                  <a:schemeClr val="tx1"/>
                </a:solidFill>
                <a:effectLst/>
                <a:latin typeface="+mn-lt"/>
                <a:ea typeface="+mn-ea"/>
                <a:cs typeface="+mn-cs"/>
              </a:rPr>
              <a:t>The first child asks, “Is the hat empty?” No. The second asks. Still no. Before either reaches inside, the third child asks.</a:t>
            </a:r>
          </a:p>
          <a:p>
            <a:r>
              <a:rPr lang="en-US" sz="1200" b="0" kern="1200" dirty="0">
                <a:solidFill>
                  <a:schemeClr val="tx1"/>
                </a:solidFill>
                <a:effectLst/>
                <a:latin typeface="+mn-lt"/>
                <a:ea typeface="+mn-ea"/>
                <a:cs typeface="+mn-cs"/>
              </a:rPr>
              <a:t>There are still two rabbits, so the honest answer is again no.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Every check returned the truth. All three children now believe the trick has</a:t>
            </a:r>
          </a:p>
          <a:p>
            <a:r>
              <a:rPr lang="en-US" sz="1200" b="0" kern="1200" dirty="0">
                <a:solidFill>
                  <a:schemeClr val="tx1"/>
                </a:solidFill>
                <a:effectLst/>
                <a:latin typeface="+mn-lt"/>
                <a:ea typeface="+mn-ea"/>
                <a:cs typeface="+mn-cs"/>
              </a:rPr>
              <a:t>promised them a rabbit.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16</a:t>
            </a:fld>
            <a:endParaRPr lang="en-US"/>
          </a:p>
        </p:txBody>
      </p:sp>
    </p:spTree>
    <p:extLst>
      <p:ext uri="{BB962C8B-B14F-4D97-AF65-F5344CB8AC3E}">
        <p14:creationId xmlns:p14="http://schemas.microsoft.com/office/powerpoint/2010/main" val="13833105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first child reaches in and takes a rabbit. The second takes the last one.</a:t>
            </a:r>
          </a:p>
          <a:p>
            <a:r>
              <a:rPr lang="en-US" sz="1200" b="0" kern="1200" dirty="0">
                <a:solidFill>
                  <a:schemeClr val="tx1"/>
                </a:solidFill>
                <a:effectLst/>
                <a:latin typeface="+mn-lt"/>
                <a:ea typeface="+mn-ea"/>
                <a:cs typeface="+mn-cs"/>
              </a:rPr>
              <a:t>The third child reaches into an empty hat. The child is disappointed, but our</a:t>
            </a:r>
          </a:p>
          <a:p>
            <a:r>
              <a:rPr lang="en-US" sz="1200" b="0" kern="1200" dirty="0">
                <a:solidFill>
                  <a:schemeClr val="tx1"/>
                </a:solidFill>
                <a:effectLst/>
                <a:latin typeface="+mn-lt"/>
                <a:ea typeface="+mn-ea"/>
                <a:cs typeface="+mn-cs"/>
              </a:rPr>
              <a:t>program has a larger problem: `</a:t>
            </a:r>
            <a:r>
              <a:rPr lang="en-US" sz="1200" b="0" kern="1200" dirty="0" err="1">
                <a:solidFill>
                  <a:schemeClr val="tx1"/>
                </a:solidFill>
                <a:effectLst/>
                <a:latin typeface="+mn-lt"/>
                <a:ea typeface="+mn-ea"/>
                <a:cs typeface="+mn-cs"/>
              </a:rPr>
              <a:t>hat_pop</a:t>
            </a:r>
            <a:r>
              <a:rPr lang="en-US" sz="1200" b="0" kern="1200" dirty="0">
                <a:solidFill>
                  <a:schemeClr val="tx1"/>
                </a:solidFill>
                <a:effectLst/>
                <a:latin typeface="+mn-lt"/>
                <a:ea typeface="+mn-ea"/>
                <a:cs typeface="+mn-cs"/>
              </a:rPr>
              <a:t>()` calls `front()` and `pop()` on an</a:t>
            </a:r>
          </a:p>
          <a:p>
            <a:r>
              <a:rPr lang="en-US" sz="1200" b="0" kern="1200" dirty="0">
                <a:solidFill>
                  <a:schemeClr val="tx1"/>
                </a:solidFill>
                <a:effectLst/>
                <a:latin typeface="+mn-lt"/>
                <a:ea typeface="+mn-ea"/>
                <a:cs typeface="+mn-cs"/>
              </a:rPr>
              <a:t>empty `std::queue`. Their precondition is violated, so the program has</a:t>
            </a:r>
          </a:p>
          <a:p>
            <a:r>
              <a:rPr lang="en-US" sz="1200" b="0" kern="1200" dirty="0">
                <a:solidFill>
                  <a:schemeClr val="tx1"/>
                </a:solidFill>
                <a:effectLst/>
                <a:latin typeface="+mn-lt"/>
                <a:ea typeface="+mn-ea"/>
                <a:cs typeface="+mn-cs"/>
              </a:rPr>
              <a:t>undefined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and may crash.</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 rabbit vanished by magic. No thread bypassed the mutex. Every individual</a:t>
            </a:r>
          </a:p>
          <a:p>
            <a:r>
              <a:rPr lang="en-US" sz="1200" b="0" kern="1200" dirty="0">
                <a:solidFill>
                  <a:schemeClr val="tx1"/>
                </a:solidFill>
                <a:effectLst/>
                <a:latin typeface="+mn-lt"/>
                <a:ea typeface="+mn-ea"/>
                <a:cs typeface="+mn-cs"/>
              </a:rPr>
              <a:t>function was locked correctly. The promise simply expired between asking the</a:t>
            </a:r>
          </a:p>
          <a:p>
            <a:r>
              <a:rPr lang="en-US" sz="1200" b="0" kern="1200" dirty="0">
                <a:solidFill>
                  <a:schemeClr val="tx1"/>
                </a:solidFill>
                <a:effectLst/>
                <a:latin typeface="+mn-lt"/>
                <a:ea typeface="+mn-ea"/>
                <a:cs typeface="+mn-cs"/>
              </a:rPr>
              <a:t>question and acting on the answer.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17</a:t>
            </a:fld>
            <a:endParaRPr lang="en-US"/>
          </a:p>
        </p:txBody>
      </p:sp>
    </p:spTree>
    <p:extLst>
      <p:ext uri="{BB962C8B-B14F-4D97-AF65-F5344CB8AC3E}">
        <p14:creationId xmlns:p14="http://schemas.microsoft.com/office/powerpoint/2010/main" val="33471115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name the pattern: check-then-act. It is a logical race across two individually protected operations. </a:t>
            </a:r>
          </a:p>
          <a:p>
            <a:r>
              <a:rPr lang="en-US" sz="1200" b="0" kern="1200" dirty="0">
                <a:solidFill>
                  <a:schemeClr val="tx1"/>
                </a:solidFill>
                <a:effectLst/>
                <a:latin typeface="+mn-lt"/>
                <a:ea typeface="+mn-ea"/>
                <a:cs typeface="+mn-cs"/>
              </a:rPr>
              <a:t>The bug lives in the unlocked gap, so</a:t>
            </a:r>
          </a:p>
          <a:p>
            <a:r>
              <a:rPr lang="en-US" sz="1200" b="0" kern="1200" dirty="0">
                <a:solidFill>
                  <a:schemeClr val="tx1"/>
                </a:solidFill>
                <a:effectLst/>
                <a:latin typeface="+mn-lt"/>
                <a:ea typeface="+mn-ea"/>
                <a:cs typeface="+mn-cs"/>
              </a:rPr>
              <a:t>polishing either method in isolation cannot fix it. </a:t>
            </a:r>
          </a:p>
          <a:p>
            <a:r>
              <a:rPr lang="en-US" sz="1200" b="0" kern="1200" dirty="0">
                <a:solidFill>
                  <a:schemeClr val="tx1"/>
                </a:solidFill>
                <a:effectLst/>
                <a:latin typeface="+mn-lt"/>
                <a:ea typeface="+mn-ea"/>
                <a:cs typeface="+mn-cs"/>
              </a:rPr>
              <a:t>The interface must expose the</a:t>
            </a:r>
          </a:p>
          <a:p>
            <a:r>
              <a:rPr lang="en-US" sz="1200" b="0" kern="1200" dirty="0">
                <a:solidFill>
                  <a:schemeClr val="tx1"/>
                </a:solidFill>
                <a:effectLst/>
                <a:latin typeface="+mn-lt"/>
                <a:ea typeface="+mn-ea"/>
                <a:cs typeface="+mn-cs"/>
              </a:rPr>
              <a:t>operation the caller needs as one transaction: try to take a rabbit.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18</a:t>
            </a:fld>
            <a:endParaRPr lang="en-US"/>
          </a:p>
        </p:txBody>
      </p:sp>
    </p:spTree>
    <p:extLst>
      <p:ext uri="{BB962C8B-B14F-4D97-AF65-F5344CB8AC3E}">
        <p14:creationId xmlns:p14="http://schemas.microsoft.com/office/powerpoint/2010/main" val="3102006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the unlocked gap as the habitat, </a:t>
            </a:r>
          </a:p>
          <a:p>
            <a:r>
              <a:rPr lang="en-US" sz="1200" b="0" kern="1200" dirty="0">
                <a:solidFill>
                  <a:schemeClr val="tx1"/>
                </a:solidFill>
                <a:effectLst/>
                <a:latin typeface="+mn-lt"/>
                <a:ea typeface="+mn-ea"/>
                <a:cs typeface="+mn-cs"/>
              </a:rPr>
              <a:t>an invalid action as the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a:t>
            </a:r>
          </a:p>
          <a:p>
            <a:r>
              <a:rPr lang="en-US" sz="1200" b="0" kern="1200" dirty="0">
                <a:solidFill>
                  <a:schemeClr val="tx1"/>
                </a:solidFill>
                <a:effectLst/>
                <a:latin typeface="+mn-lt"/>
                <a:ea typeface="+mn-ea"/>
                <a:cs typeface="+mn-cs"/>
              </a:rPr>
              <a:t>and individually thread-safe methods as the camouflage.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Tame it by moving the question and action under one lock and returning an optional</a:t>
            </a:r>
          </a:p>
          <a:p>
            <a:r>
              <a:rPr lang="en-US" sz="1200" b="0" kern="1200" dirty="0">
                <a:solidFill>
                  <a:schemeClr val="tx1"/>
                </a:solidFill>
                <a:effectLst/>
                <a:latin typeface="+mn-lt"/>
                <a:ea typeface="+mn-ea"/>
                <a:cs typeface="+mn-cs"/>
              </a:rPr>
              <a:t>result.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function now says exactly what the visitor needs: try to pull one rabbit.</a:t>
            </a:r>
          </a:p>
        </p:txBody>
      </p:sp>
      <p:sp>
        <p:nvSpPr>
          <p:cNvPr id="4" name="Slide Number Placeholder 3"/>
          <p:cNvSpPr>
            <a:spLocks noGrp="1"/>
          </p:cNvSpPr>
          <p:nvPr>
            <p:ph type="sldNum" sz="quarter" idx="5"/>
          </p:nvPr>
        </p:nvSpPr>
        <p:spPr/>
        <p:txBody>
          <a:bodyPr/>
          <a:lstStyle/>
          <a:p>
            <a:fld id="{B63B2EA1-C2D6-44B7-A9F5-02BE58F1EB01}" type="slidenum">
              <a:rPr lang="en-US" smtClean="0"/>
              <a:t>19</a:t>
            </a:fld>
            <a:endParaRPr lang="en-US"/>
          </a:p>
        </p:txBody>
      </p:sp>
    </p:spTree>
    <p:extLst>
      <p:ext uri="{BB962C8B-B14F-4D97-AF65-F5344CB8AC3E}">
        <p14:creationId xmlns:p14="http://schemas.microsoft.com/office/powerpoint/2010/main" val="4064218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Somewhere above the loading dock lives a bellringer. </a:t>
            </a:r>
          </a:p>
          <a:p>
            <a:r>
              <a:rPr lang="en-US" sz="1200" b="0" kern="1200" dirty="0">
                <a:solidFill>
                  <a:schemeClr val="tx1"/>
                </a:solidFill>
                <a:effectLst/>
                <a:latin typeface="+mn-lt"/>
                <a:ea typeface="+mn-ea"/>
                <a:cs typeface="+mn-cs"/>
              </a:rPr>
              <a:t>He should notify about new deliveries but does not really understand his job properly. </a:t>
            </a:r>
          </a:p>
          <a:p>
            <a:r>
              <a:rPr lang="en-US" sz="1200" b="0" kern="1200" dirty="0">
                <a:solidFill>
                  <a:schemeClr val="tx1"/>
                </a:solidFill>
                <a:effectLst/>
                <a:latin typeface="+mn-lt"/>
                <a:ea typeface="+mn-ea"/>
                <a:cs typeface="+mn-cs"/>
              </a:rPr>
              <a:t>Sometimes he rings in the middle of the night just for the fun.</a:t>
            </a:r>
          </a:p>
          <a:p>
            <a:r>
              <a:rPr lang="en-US" sz="1200" b="0" kern="1200" dirty="0">
                <a:solidFill>
                  <a:schemeClr val="tx1"/>
                </a:solidFill>
                <a:effectLst/>
                <a:latin typeface="+mn-lt"/>
                <a:ea typeface="+mn-ea"/>
                <a:cs typeface="+mn-cs"/>
              </a:rPr>
              <a:t>Sometimes a delivery arrives, he rings with great enthusiasm, but nobody is</a:t>
            </a:r>
          </a:p>
          <a:p>
            <a:r>
              <a:rPr lang="en-US" sz="1200" b="0" kern="1200" dirty="0">
                <a:solidFill>
                  <a:schemeClr val="tx1"/>
                </a:solidFill>
                <a:effectLst/>
                <a:latin typeface="+mn-lt"/>
                <a:ea typeface="+mn-ea"/>
                <a:cs typeface="+mn-cs"/>
              </a:rPr>
              <a:t>there to hear him. </a:t>
            </a:r>
          </a:p>
          <a:p>
            <a:r>
              <a:rPr lang="en-US" sz="1200" b="0" kern="1200" dirty="0">
                <a:solidFill>
                  <a:schemeClr val="tx1"/>
                </a:solidFill>
                <a:effectLst/>
                <a:latin typeface="+mn-lt"/>
                <a:ea typeface="+mn-ea"/>
                <a:cs typeface="+mn-cs"/>
              </a:rPr>
              <a:t>He doesn't remember anything in the morning.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stocker has been told only one thing: when the bell rings, go to the dock.</a:t>
            </a:r>
          </a:p>
          <a:p>
            <a:r>
              <a:rPr lang="en-US" sz="1200" b="0" kern="1200" dirty="0">
                <a:solidFill>
                  <a:schemeClr val="tx1"/>
                </a:solidFill>
                <a:effectLst/>
                <a:latin typeface="+mn-lt"/>
                <a:ea typeface="+mn-ea"/>
                <a:cs typeface="+mn-cs"/>
              </a:rPr>
              <a:t>This arrangement feels traditional. It is not especially reliable.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20</a:t>
            </a:fld>
            <a:endParaRPr lang="en-US"/>
          </a:p>
        </p:txBody>
      </p:sp>
    </p:spTree>
    <p:extLst>
      <p:ext uri="{BB962C8B-B14F-4D97-AF65-F5344CB8AC3E}">
        <p14:creationId xmlns:p14="http://schemas.microsoft.com/office/powerpoint/2010/main" val="12574973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Here is the machinery. Shared state is a queue of deliveries, protected by</a:t>
            </a:r>
          </a:p>
          <a:p>
            <a:r>
              <a:rPr lang="en-US" sz="1200" b="0" kern="1200" dirty="0">
                <a:solidFill>
                  <a:schemeClr val="tx1"/>
                </a:solidFill>
                <a:effectLst/>
                <a:latin typeface="+mn-lt"/>
                <a:ea typeface="+mn-ea"/>
                <a:cs typeface="+mn-cs"/>
              </a:rPr>
              <a:t>mutex `m`. The condition variable is our bell.</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night_stocker</a:t>
            </a:r>
            <a:r>
              <a:rPr lang="en-US" sz="1200" b="0" kern="1200" dirty="0">
                <a:solidFill>
                  <a:schemeClr val="tx1"/>
                </a:solidFill>
                <a:effectLst/>
                <a:latin typeface="+mn-lt"/>
                <a:ea typeface="+mn-ea"/>
                <a:cs typeface="+mn-cs"/>
              </a:rPr>
              <a:t>()` waits for the bell a then immediately takes the first crate. </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delivery_truck</a:t>
            </a:r>
            <a:r>
              <a:rPr lang="en-US" sz="1200" b="0" kern="1200" dirty="0">
                <a:solidFill>
                  <a:schemeClr val="tx1"/>
                </a:solidFill>
                <a:effectLst/>
                <a:latin typeface="+mn-lt"/>
                <a:ea typeface="+mn-ea"/>
                <a:cs typeface="+mn-cs"/>
              </a:rPr>
              <a:t>()` locks the same mutex, adds a crate, unlocks, and</a:t>
            </a:r>
          </a:p>
          <a:p>
            <a:r>
              <a:rPr lang="en-US" sz="1200" b="0" kern="1200" dirty="0">
                <a:solidFill>
                  <a:schemeClr val="tx1"/>
                </a:solidFill>
                <a:effectLst/>
                <a:latin typeface="+mn-lt"/>
                <a:ea typeface="+mn-ea"/>
                <a:cs typeface="+mn-cs"/>
              </a:rPr>
              <a:t>notifies one waiter. </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 the friendly schedule the stocker waits first, the truck arrives second, and the wake corresponds to a real crate. The code looks like a direct translation of the story.</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21</a:t>
            </a:fld>
            <a:endParaRPr lang="en-US"/>
          </a:p>
        </p:txBody>
      </p:sp>
    </p:spTree>
    <p:extLst>
      <p:ext uri="{BB962C8B-B14F-4D97-AF65-F5344CB8AC3E}">
        <p14:creationId xmlns:p14="http://schemas.microsoft.com/office/powerpoint/2010/main" val="5761987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First the bell rings when no truck has arrived. Just for fun.</a:t>
            </a:r>
          </a:p>
          <a:p>
            <a:r>
              <a:rPr lang="en-US" sz="1200" b="0" kern="1200" dirty="0">
                <a:solidFill>
                  <a:schemeClr val="tx1"/>
                </a:solidFill>
                <a:effectLst/>
                <a:latin typeface="+mn-lt"/>
                <a:ea typeface="+mn-ea"/>
                <a:cs typeface="+mn-cs"/>
              </a:rPr>
              <a:t>In C++ terms, a</a:t>
            </a:r>
            <a:r>
              <a:rPr lang="en-US" dirty="0"/>
              <a:t> condition-variable wait may return even though nobody notified it. That is a spurious wakeup.</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Our stocker wakes, assumes</a:t>
            </a:r>
          </a:p>
          <a:p>
            <a:r>
              <a:rPr lang="en-US" sz="1200" b="0" kern="1200" dirty="0">
                <a:solidFill>
                  <a:schemeClr val="tx1"/>
                </a:solidFill>
                <a:effectLst/>
                <a:latin typeface="+mn-lt"/>
                <a:ea typeface="+mn-ea"/>
                <a:cs typeface="+mn-cs"/>
              </a:rPr>
              <a:t>a crate exists, and reaches into an empty queue. That is the first failure.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Correct code must inspect the shared state after every wake, regardless of why</a:t>
            </a:r>
          </a:p>
          <a:p>
            <a:r>
              <a:rPr lang="en-US" sz="1200" b="0" kern="1200" dirty="0">
                <a:solidFill>
                  <a:schemeClr val="tx1"/>
                </a:solidFill>
                <a:effectLst/>
                <a:latin typeface="+mn-lt"/>
                <a:ea typeface="+mn-ea"/>
                <a:cs typeface="+mn-cs"/>
              </a:rPr>
              <a:t>the thread resumed.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22</a:t>
            </a:fld>
            <a:endParaRPr lang="en-US"/>
          </a:p>
        </p:txBody>
      </p:sp>
    </p:spTree>
    <p:extLst>
      <p:ext uri="{BB962C8B-B14F-4D97-AF65-F5344CB8AC3E}">
        <p14:creationId xmlns:p14="http://schemas.microsoft.com/office/powerpoint/2010/main" val="41477728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the bell rings for a real delivery but too early. The truck stores the</a:t>
            </a:r>
          </a:p>
          <a:p>
            <a:r>
              <a:rPr lang="en-US" sz="1200" b="0" kern="1200" dirty="0">
                <a:solidFill>
                  <a:schemeClr val="tx1"/>
                </a:solidFill>
                <a:effectLst/>
                <a:latin typeface="+mn-lt"/>
                <a:ea typeface="+mn-ea"/>
                <a:cs typeface="+mn-cs"/>
              </a:rPr>
              <a:t>crate and notifies before the stocker's shift begins.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Condition variables do not preserve notifications for future waiters.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When the stocker finally calls `wait`, the crate is already present, the old notify is gone, and the stocker can sleep beside waiting work forever.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lost-wakeup schedule.</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23</a:t>
            </a:fld>
            <a:endParaRPr lang="en-US"/>
          </a:p>
        </p:txBody>
      </p:sp>
    </p:spTree>
    <p:extLst>
      <p:ext uri="{BB962C8B-B14F-4D97-AF65-F5344CB8AC3E}">
        <p14:creationId xmlns:p14="http://schemas.microsoft.com/office/powerpoint/2010/main" val="3485448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a wait without a state predicate as the habitat. </a:t>
            </a:r>
          </a:p>
          <a:p>
            <a:r>
              <a:rPr lang="en-US" sz="1200" b="0" kern="1200" dirty="0">
                <a:solidFill>
                  <a:schemeClr val="tx1"/>
                </a:solidFill>
                <a:effectLst/>
                <a:latin typeface="+mn-lt"/>
                <a:ea typeface="+mn-ea"/>
                <a:cs typeface="+mn-cs"/>
              </a:rPr>
              <a:t>Its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is either waking for no useful reason or sleeping through real work.</a:t>
            </a:r>
          </a:p>
          <a:p>
            <a:r>
              <a:rPr lang="en-US" sz="1200" b="0" kern="1200" dirty="0">
                <a:solidFill>
                  <a:schemeClr val="tx1"/>
                </a:solidFill>
                <a:effectLst/>
                <a:latin typeface="+mn-lt"/>
                <a:ea typeface="+mn-ea"/>
                <a:cs typeface="+mn-cs"/>
              </a:rPr>
              <a:t>Its camouflage is the friendly schedule where the waiter always arrives first.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predicate form solves both plots. While holding the mutex, it checks the</a:t>
            </a:r>
          </a:p>
          <a:p>
            <a:r>
              <a:rPr lang="en-US" sz="1200" b="0" kern="1200" dirty="0">
                <a:solidFill>
                  <a:schemeClr val="tx1"/>
                </a:solidFill>
                <a:effectLst/>
                <a:latin typeface="+mn-lt"/>
                <a:ea typeface="+mn-ea"/>
                <a:cs typeface="+mn-cs"/>
              </a:rPr>
              <a:t>durable fact: the queue is not empty. If the crate arrived early, it does not</a:t>
            </a:r>
          </a:p>
          <a:p>
            <a:r>
              <a:rPr lang="en-US" sz="1200" b="0" kern="1200" dirty="0">
                <a:solidFill>
                  <a:schemeClr val="tx1"/>
                </a:solidFill>
                <a:effectLst/>
                <a:latin typeface="+mn-lt"/>
                <a:ea typeface="+mn-ea"/>
                <a:cs typeface="+mn-cs"/>
              </a:rPr>
              <a:t>sleep. After any wake, it checks again. We wait for state, not for a bell.</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24</a:t>
            </a:fld>
            <a:endParaRPr lang="en-US"/>
          </a:p>
        </p:txBody>
      </p:sp>
    </p:spTree>
    <p:extLst>
      <p:ext uri="{BB962C8B-B14F-4D97-AF65-F5344CB8AC3E}">
        <p14:creationId xmlns:p14="http://schemas.microsoft.com/office/powerpoint/2010/main" val="32699339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25</a:t>
            </a:fld>
            <a:endParaRPr lang="en-US"/>
          </a:p>
        </p:txBody>
      </p:sp>
    </p:spTree>
    <p:extLst>
      <p:ext uri="{BB962C8B-B14F-4D97-AF65-F5344CB8AC3E}">
        <p14:creationId xmlns:p14="http://schemas.microsoft.com/office/powerpoint/2010/main" val="40639245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We have explained stale decisions and mysterious waiting. The next clue is</a:t>
            </a:r>
          </a:p>
          <a:p>
            <a:r>
              <a:rPr lang="en-US" sz="1200" b="0" kern="1200" dirty="0">
                <a:solidFill>
                  <a:schemeClr val="tx1"/>
                </a:solidFill>
                <a:effectLst/>
                <a:latin typeface="+mn-lt"/>
                <a:ea typeface="+mn-ea"/>
                <a:cs typeface="+mn-cs"/>
              </a:rPr>
              <a:t>the crash. Synchronization can control access only while an object exists.</a:t>
            </a:r>
          </a:p>
          <a:p>
            <a:r>
              <a:rPr lang="en-US" sz="1200" b="0" kern="1200" dirty="0">
                <a:solidFill>
                  <a:schemeClr val="tx1"/>
                </a:solidFill>
                <a:effectLst/>
                <a:latin typeface="+mn-lt"/>
                <a:ea typeface="+mn-ea"/>
                <a:cs typeface="+mn-cs"/>
              </a:rPr>
              <a:t>The monsters in the ruins break lifetime.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26</a:t>
            </a:fld>
            <a:endParaRPr lang="en-US"/>
          </a:p>
        </p:txBody>
      </p:sp>
    </p:spTree>
    <p:extLst>
      <p:ext uri="{BB962C8B-B14F-4D97-AF65-F5344CB8AC3E}">
        <p14:creationId xmlns:p14="http://schemas.microsoft.com/office/powerpoint/2010/main" val="151438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ruins have a ferret enclosure - or at least they did yesterday. A ferret</a:t>
            </a:r>
          </a:p>
          <a:p>
            <a:r>
              <a:rPr lang="en-US" sz="1200" b="0" kern="1200" dirty="0">
                <a:solidFill>
                  <a:schemeClr val="tx1"/>
                </a:solidFill>
                <a:effectLst/>
                <a:latin typeface="+mn-lt"/>
                <a:ea typeface="+mn-ea"/>
                <a:cs typeface="+mn-cs"/>
              </a:rPr>
              <a:t>can fit through any opening, disappear before feeding time is over, and return</a:t>
            </a:r>
          </a:p>
          <a:p>
            <a:r>
              <a:rPr lang="en-US" sz="1200" b="0" kern="1200" dirty="0">
                <a:solidFill>
                  <a:schemeClr val="tx1"/>
                </a:solidFill>
                <a:effectLst/>
                <a:latin typeface="+mn-lt"/>
                <a:ea typeface="+mn-ea"/>
                <a:cs typeface="+mn-cs"/>
              </a:rPr>
              <a:t>after the keeper has locked the gate and gone home. The empty enclosure looks</a:t>
            </a:r>
          </a:p>
          <a:p>
            <a:r>
              <a:rPr lang="en-US" sz="1200" b="0" kern="1200" dirty="0">
                <a:solidFill>
                  <a:schemeClr val="tx1"/>
                </a:solidFill>
                <a:effectLst/>
                <a:latin typeface="+mn-lt"/>
                <a:ea typeface="+mn-ea"/>
                <a:cs typeface="+mn-cs"/>
              </a:rPr>
              <a:t>peaceful. Somewhere outside it, chewing continues.</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27</a:t>
            </a:fld>
            <a:endParaRPr lang="en-US"/>
          </a:p>
        </p:txBody>
      </p:sp>
    </p:spTree>
    <p:extLst>
      <p:ext uri="{BB962C8B-B14F-4D97-AF65-F5344CB8AC3E}">
        <p14:creationId xmlns:p14="http://schemas.microsoft.com/office/powerpoint/2010/main" val="12306898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manage_zoo</a:t>
            </a:r>
            <a:r>
              <a:rPr lang="en-US" sz="1200" b="0" kern="1200" dirty="0">
                <a:solidFill>
                  <a:schemeClr val="tx1"/>
                </a:solidFill>
                <a:effectLst/>
                <a:latin typeface="+mn-lt"/>
                <a:ea typeface="+mn-ea"/>
                <a:cs typeface="+mn-cs"/>
              </a:rPr>
              <a:t>()` loads an `menu` for today. It starts a keeper thread and feeds it by `menu`.</a:t>
            </a:r>
          </a:p>
          <a:p>
            <a:endParaRPr lang="en-US" sz="1200" b="0" kern="1200" dirty="0">
              <a:solidFill>
                <a:schemeClr val="tx1"/>
              </a:solidFill>
              <a:effectLst/>
              <a:latin typeface="+mn-lt"/>
              <a:ea typeface="+mn-ea"/>
              <a:cs typeface="+mn-cs"/>
            </a:endParaRPr>
          </a:p>
          <a:p>
            <a:r>
              <a:rPr lang="en-US" dirty="0"/>
              <a:t>The capture is by value, so what escaped?</a:t>
            </a:r>
          </a:p>
          <a:p>
            <a:endParaRPr lang="en-US" dirty="0"/>
          </a:p>
          <a:p>
            <a:r>
              <a:rPr lang="en-US" dirty="0"/>
              <a:t>The captured value is only a </a:t>
            </a:r>
            <a:r>
              <a:rPr lang="en-US" sz="1200" kern="1200" dirty="0" err="1">
                <a:solidFill>
                  <a:schemeClr val="tx1"/>
                </a:solidFill>
                <a:latin typeface="+mn-lt"/>
                <a:ea typeface="+mn-ea"/>
                <a:cs typeface="+mn-cs"/>
              </a:rPr>
              <a:t>string_view</a:t>
            </a:r>
            <a:r>
              <a:rPr lang="en-US" dirty="0"/>
              <a:t>. That copies an address and a length; it does not copy the characters. </a:t>
            </a:r>
          </a:p>
          <a:p>
            <a:endParaRPr lang="en-US" dirty="0"/>
          </a:p>
          <a:p>
            <a:r>
              <a:rPr lang="en-US" dirty="0"/>
              <a:t>Detaching the thread allows that borrowed view to escape from the lifetime of the string</a:t>
            </a:r>
          </a:p>
        </p:txBody>
      </p:sp>
      <p:sp>
        <p:nvSpPr>
          <p:cNvPr id="4" name="Slide Number Placeholder 3"/>
          <p:cNvSpPr>
            <a:spLocks noGrp="1"/>
          </p:cNvSpPr>
          <p:nvPr>
            <p:ph type="sldNum" sz="quarter" idx="5"/>
          </p:nvPr>
        </p:nvSpPr>
        <p:spPr/>
        <p:txBody>
          <a:bodyPr/>
          <a:lstStyle/>
          <a:p>
            <a:fld id="{B63B2EA1-C2D6-44B7-A9F5-02BE58F1EB01}" type="slidenum">
              <a:rPr lang="en-US" smtClean="0"/>
              <a:t>28</a:t>
            </a:fld>
            <a:endParaRPr lang="en-US"/>
          </a:p>
        </p:txBody>
      </p:sp>
    </p:spTree>
    <p:extLst>
      <p:ext uri="{BB962C8B-B14F-4D97-AF65-F5344CB8AC3E}">
        <p14:creationId xmlns:p14="http://schemas.microsoft.com/office/powerpoint/2010/main" val="21223293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Capturing by value copied the `</a:t>
            </a:r>
            <a:r>
              <a:rPr lang="en-US" sz="1200" b="0" kern="1200" dirty="0" err="1">
                <a:solidFill>
                  <a:schemeClr val="tx1"/>
                </a:solidFill>
                <a:effectLst/>
                <a:latin typeface="+mn-lt"/>
                <a:ea typeface="+mn-ea"/>
                <a:cs typeface="+mn-cs"/>
              </a:rPr>
              <a:t>string_view</a:t>
            </a:r>
            <a:r>
              <a:rPr lang="en-US" sz="1200" b="0" kern="1200" dirty="0">
                <a:solidFill>
                  <a:schemeClr val="tx1"/>
                </a:solidFill>
                <a:effectLst/>
                <a:latin typeface="+mn-lt"/>
                <a:ea typeface="+mn-ea"/>
                <a:cs typeface="+mn-cs"/>
              </a:rPr>
              <a:t>` object, not the characters it refers to. </a:t>
            </a:r>
          </a:p>
          <a:p>
            <a:r>
              <a:rPr lang="en-US" sz="1200" b="0" kern="1200" dirty="0">
                <a:solidFill>
                  <a:schemeClr val="tx1"/>
                </a:solidFill>
                <a:effectLst/>
                <a:latin typeface="+mn-lt"/>
                <a:ea typeface="+mn-ea"/>
                <a:cs typeface="+mn-cs"/>
              </a:rPr>
              <a:t>Detaching is what allows the work to outlive the menu and turns the</a:t>
            </a:r>
          </a:p>
          <a:p>
            <a:r>
              <a:rPr lang="en-US" sz="1200" b="0" kern="1200" dirty="0">
                <a:solidFill>
                  <a:schemeClr val="tx1"/>
                </a:solidFill>
                <a:effectLst/>
                <a:latin typeface="+mn-lt"/>
                <a:ea typeface="+mn-ea"/>
                <a:cs typeface="+mn-cs"/>
              </a:rPr>
              <a:t>borrowed capture into use-after-lifetime.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It may crash immediately, </a:t>
            </a:r>
          </a:p>
          <a:p>
            <a:r>
              <a:rPr lang="en-US" sz="1200" b="0" kern="1200" dirty="0">
                <a:solidFill>
                  <a:schemeClr val="tx1"/>
                </a:solidFill>
                <a:effectLst/>
                <a:latin typeface="+mn-lt"/>
                <a:ea typeface="+mn-ea"/>
                <a:cs typeface="+mn-cs"/>
              </a:rPr>
              <a:t>read a different object's bytes, </a:t>
            </a:r>
          </a:p>
          <a:p>
            <a:r>
              <a:rPr lang="en-US" sz="1200" b="0" kern="1200" dirty="0">
                <a:solidFill>
                  <a:schemeClr val="tx1"/>
                </a:solidFill>
                <a:effectLst/>
                <a:latin typeface="+mn-lt"/>
                <a:ea typeface="+mn-ea"/>
                <a:cs typeface="+mn-cs"/>
              </a:rPr>
              <a:t>or make that new occupant fail later.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crash is the friendly outcome; silent reuse is the camouflage.</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29</a:t>
            </a:fld>
            <a:endParaRPr lang="en-US"/>
          </a:p>
        </p:txBody>
      </p:sp>
    </p:spTree>
    <p:extLst>
      <p:ext uri="{BB962C8B-B14F-4D97-AF65-F5344CB8AC3E}">
        <p14:creationId xmlns:p14="http://schemas.microsoft.com/office/powerpoint/2010/main" val="31756500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detached work and borrowed captures as the habitat,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read through dead or repurposed storage as the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and “captured by value” as the camouflage.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Tame both lifetimes: capture an owning copy of the data the thread will actually read, and let a `</a:t>
            </a:r>
            <a:r>
              <a:rPr lang="en-US" sz="1200" b="0" kern="1200" dirty="0" err="1">
                <a:solidFill>
                  <a:schemeClr val="tx1"/>
                </a:solidFill>
                <a:effectLst/>
                <a:latin typeface="+mn-lt"/>
                <a:ea typeface="+mn-ea"/>
                <a:cs typeface="+mn-cs"/>
              </a:rPr>
              <a:t>jthread</a:t>
            </a:r>
            <a:r>
              <a:rPr lang="en-US" sz="1200" b="0" kern="1200" dirty="0">
                <a:solidFill>
                  <a:schemeClr val="tx1"/>
                </a:solidFill>
                <a:effectLst/>
                <a:latin typeface="+mn-lt"/>
                <a:ea typeface="+mn-ea"/>
                <a:cs typeface="+mn-cs"/>
              </a:rPr>
              <a:t>` own and join the execution.</a:t>
            </a:r>
          </a:p>
          <a:p>
            <a:endParaRPr lang="en-US" sz="1200" b="0" kern="1200" dirty="0">
              <a:solidFill>
                <a:schemeClr val="tx1"/>
              </a:solidFill>
              <a:effectLst/>
              <a:latin typeface="+mn-lt"/>
              <a:ea typeface="+mn-ea"/>
              <a:cs typeface="+mn-cs"/>
            </a:endParaRPr>
          </a:p>
          <a:p>
            <a:r>
              <a:rPr lang="en-US" dirty="0"/>
              <a:t>Now the lambda owns the actual string, not a view. Moving leaves the outer string valid but unspecified; assigning tomorrow’s menu to it does not affect the string owned by the lambda. </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B63B2EA1-C2D6-44B7-A9F5-02BE58F1EB01}" type="slidenum">
              <a:rPr lang="en-US" smtClean="0"/>
              <a:t>30</a:t>
            </a:fld>
            <a:endParaRPr lang="en-US"/>
          </a:p>
        </p:txBody>
      </p:sp>
    </p:spTree>
    <p:extLst>
      <p:ext uri="{BB962C8B-B14F-4D97-AF65-F5344CB8AC3E}">
        <p14:creationId xmlns:p14="http://schemas.microsoft.com/office/powerpoint/2010/main" val="33946760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Ferret escaped in time: a detached thread carried a borrowed view beyond</a:t>
            </a:r>
          </a:p>
          <a:p>
            <a:r>
              <a:rPr lang="en-US" sz="1200" b="0" kern="1200" dirty="0">
                <a:solidFill>
                  <a:schemeClr val="tx1"/>
                </a:solidFill>
                <a:effectLst/>
                <a:latin typeface="+mn-lt"/>
                <a:ea typeface="+mn-ea"/>
                <a:cs typeface="+mn-cs"/>
              </a:rPr>
              <a:t>the viewed string's lifetime.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Jackal fails differently. No</a:t>
            </a:r>
          </a:p>
          <a:p>
            <a:r>
              <a:rPr lang="en-US" sz="1200" b="0" kern="1200" dirty="0">
                <a:solidFill>
                  <a:schemeClr val="tx1"/>
                </a:solidFill>
                <a:effectLst/>
                <a:latin typeface="+mn-lt"/>
                <a:ea typeface="+mn-ea"/>
                <a:cs typeface="+mn-cs"/>
              </a:rPr>
              <a:t>thread needs to keep running. </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Scavenger Jackal and his keeper respect their </a:t>
            </a:r>
            <a:r>
              <a:rPr lang="en-US" sz="1200" b="0" kern="1200" dirty="0" err="1">
                <a:solidFill>
                  <a:schemeClr val="tx1"/>
                </a:solidFill>
                <a:effectLst/>
                <a:latin typeface="+mn-lt"/>
                <a:ea typeface="+mn-ea"/>
                <a:cs typeface="+mn-cs"/>
              </a:rPr>
              <a:t>rutines</a:t>
            </a:r>
            <a:r>
              <a:rPr lang="en-US" sz="1200" b="0" kern="1200" dirty="0">
                <a:solidFill>
                  <a:schemeClr val="tx1"/>
                </a:solidFill>
                <a:effectLst/>
                <a:latin typeface="+mn-lt"/>
                <a:ea typeface="+mn-ea"/>
                <a:cs typeface="+mn-cs"/>
              </a:rPr>
              <a:t>. While the keeper is busy, jackal simply watches where the food tray sits and commits the spot to memory.</a:t>
            </a:r>
          </a:p>
          <a:p>
            <a:r>
              <a:rPr lang="en-US" sz="1200" b="0" kern="1200" dirty="0">
                <a:solidFill>
                  <a:schemeClr val="tx1"/>
                </a:solidFill>
                <a:effectLst/>
                <a:latin typeface="+mn-lt"/>
                <a:ea typeface="+mn-ea"/>
                <a:cs typeface="+mn-cs"/>
              </a:rPr>
              <a:t> </a:t>
            </a:r>
          </a:p>
          <a:p>
            <a:r>
              <a:rPr lang="en-US" sz="1200" b="0" kern="1200" dirty="0">
                <a:solidFill>
                  <a:schemeClr val="tx1"/>
                </a:solidFill>
                <a:effectLst/>
                <a:latin typeface="+mn-lt"/>
                <a:ea typeface="+mn-ea"/>
                <a:cs typeface="+mn-cs"/>
              </a:rPr>
              <a:t>Weeks later, when the enclosure has been torn down and a balloon stand occupies the same corner, the keeper still arrives at dinner time with a meal for whoever is standing there.</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31</a:t>
            </a:fld>
            <a:endParaRPr lang="en-US"/>
          </a:p>
        </p:txBody>
      </p:sp>
    </p:spTree>
    <p:extLst>
      <p:ext uri="{BB962C8B-B14F-4D97-AF65-F5344CB8AC3E}">
        <p14:creationId xmlns:p14="http://schemas.microsoft.com/office/powerpoint/2010/main" val="714112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enclosure registers a feeding callback with the zoo. </a:t>
            </a:r>
          </a:p>
          <a:p>
            <a:r>
              <a:rPr lang="en-US" sz="1200" b="0" kern="1200" dirty="0">
                <a:solidFill>
                  <a:schemeClr val="tx1"/>
                </a:solidFill>
                <a:effectLst/>
                <a:latin typeface="+mn-lt"/>
                <a:ea typeface="+mn-ea"/>
                <a:cs typeface="+mn-cs"/>
              </a:rPr>
              <a:t>The lambda captures `this` and, when called, refills the enclosure's tray. </a:t>
            </a:r>
          </a:p>
          <a:p>
            <a:r>
              <a:rPr lang="en-US" sz="1200" b="0" kern="1200" dirty="0">
                <a:solidFill>
                  <a:schemeClr val="tx1"/>
                </a:solidFill>
                <a:effectLst/>
                <a:latin typeface="+mn-lt"/>
                <a:ea typeface="+mn-ea"/>
                <a:cs typeface="+mn-cs"/>
              </a:rPr>
              <a:t>The zoo stores that callback for later. </a:t>
            </a:r>
          </a:p>
          <a:p>
            <a:r>
              <a:rPr lang="en-US" sz="1200" b="0" kern="1200" dirty="0">
                <a:solidFill>
                  <a:schemeClr val="tx1"/>
                </a:solidFill>
                <a:effectLst/>
                <a:latin typeface="+mn-lt"/>
                <a:ea typeface="+mn-ea"/>
                <a:cs typeface="+mn-cs"/>
              </a:rPr>
              <a:t>This is common, compact code: the callback needs the enclosure, and `this` appears to identify it.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only the address at which the current object lives. Capturing `this`</a:t>
            </a:r>
          </a:p>
          <a:p>
            <a:r>
              <a:rPr lang="en-US" sz="1200" b="0" kern="1200" dirty="0">
                <a:solidFill>
                  <a:schemeClr val="tx1"/>
                </a:solidFill>
                <a:effectLst/>
                <a:latin typeface="+mn-lt"/>
                <a:ea typeface="+mn-ea"/>
                <a:cs typeface="+mn-cs"/>
              </a:rPr>
              <a:t>copies those address bits; it does not copy the object or extend its lifetime.</a:t>
            </a:r>
          </a:p>
          <a:p>
            <a:r>
              <a:rPr lang="en-US" sz="1200" b="0" kern="1200" dirty="0">
                <a:solidFill>
                  <a:schemeClr val="tx1"/>
                </a:solidFill>
                <a:effectLst/>
                <a:latin typeface="+mn-lt"/>
                <a:ea typeface="+mn-ea"/>
                <a:cs typeface="+mn-cs"/>
              </a:rPr>
              <a:t>When the enclosure closes, the zoo still remembers that callback and address.</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32</a:t>
            </a:fld>
            <a:endParaRPr lang="en-US"/>
          </a:p>
        </p:txBody>
      </p:sp>
    </p:spTree>
    <p:extLst>
      <p:ext uri="{BB962C8B-B14F-4D97-AF65-F5344CB8AC3E}">
        <p14:creationId xmlns:p14="http://schemas.microsoft.com/office/powerpoint/2010/main" val="8294876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Closing time arrives and the enclosure is destroyed, but the zoo still owns</a:t>
            </a:r>
          </a:p>
          <a:p>
            <a:r>
              <a:rPr lang="en-US" sz="1200" b="0" kern="1200" dirty="0">
                <a:solidFill>
                  <a:schemeClr val="tx1"/>
                </a:solidFill>
                <a:effectLst/>
                <a:latin typeface="+mn-lt"/>
                <a:ea typeface="+mn-ea"/>
                <a:cs typeface="+mn-cs"/>
              </a:rPr>
              <a:t>the callback. The pointer still contains the same address, but there is no</a:t>
            </a:r>
          </a:p>
          <a:p>
            <a:r>
              <a:rPr lang="en-US" sz="1200" b="0" kern="1200" dirty="0">
                <a:solidFill>
                  <a:schemeClr val="tx1"/>
                </a:solidFill>
                <a:effectLst/>
                <a:latin typeface="+mn-lt"/>
                <a:ea typeface="+mn-ea"/>
                <a:cs typeface="+mn-cs"/>
              </a:rPr>
              <a:t>live enclosure there. </a:t>
            </a:r>
          </a:p>
          <a:p>
            <a:r>
              <a:rPr lang="en-US" sz="1200" b="0" kern="1200" dirty="0">
                <a:solidFill>
                  <a:schemeClr val="tx1"/>
                </a:solidFill>
                <a:effectLst/>
                <a:latin typeface="+mn-lt"/>
                <a:ea typeface="+mn-ea"/>
                <a:cs typeface="+mn-cs"/>
              </a:rPr>
              <a:t>That is a dangling pointer: it remembers storage, not a living object.</a:t>
            </a:r>
          </a:p>
          <a:p>
            <a:r>
              <a:rPr lang="en-US" sz="1200" b="0" kern="1200" dirty="0">
                <a:solidFill>
                  <a:schemeClr val="tx1"/>
                </a:solidFill>
                <a:effectLst/>
                <a:latin typeface="+mn-lt"/>
                <a:ea typeface="+mn-ea"/>
                <a:cs typeface="+mn-cs"/>
              </a:rPr>
              <a:t>At the next feeding signal the callback evaluates `this-&gt;tray` and calls</a:t>
            </a:r>
          </a:p>
          <a:p>
            <a:r>
              <a:rPr lang="en-US" sz="1200" b="0" kern="1200" dirty="0">
                <a:solidFill>
                  <a:schemeClr val="tx1"/>
                </a:solidFill>
                <a:effectLst/>
                <a:latin typeface="+mn-lt"/>
                <a:ea typeface="+mn-ea"/>
                <a:cs typeface="+mn-cs"/>
              </a:rPr>
              <a:t>`refill()`. </a:t>
            </a:r>
          </a:p>
          <a:p>
            <a:r>
              <a:rPr lang="en-US" sz="1200" b="0" kern="1200" dirty="0">
                <a:solidFill>
                  <a:schemeClr val="tx1"/>
                </a:solidFill>
                <a:effectLst/>
                <a:latin typeface="+mn-lt"/>
                <a:ea typeface="+mn-ea"/>
                <a:cs typeface="+mn-cs"/>
              </a:rPr>
              <a:t>And so we have a use-after-lifetime and undefined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crash is again the friendly outcome. The darker plot is that the address is writable:</a:t>
            </a:r>
          </a:p>
          <a:p>
            <a:r>
              <a:rPr lang="en-US" sz="1200" b="0" kern="1200" dirty="0">
                <a:solidFill>
                  <a:schemeClr val="tx1"/>
                </a:solidFill>
                <a:effectLst/>
                <a:latin typeface="+mn-lt"/>
                <a:ea typeface="+mn-ea"/>
                <a:cs typeface="+mn-cs"/>
              </a:rPr>
              <a:t>the meal overwrites the balloon stand, the callback appears to succeed, and</a:t>
            </a:r>
          </a:p>
          <a:p>
            <a:r>
              <a:rPr lang="en-US" sz="1200" b="0" kern="1200" dirty="0">
                <a:solidFill>
                  <a:schemeClr val="tx1"/>
                </a:solidFill>
                <a:effectLst/>
                <a:latin typeface="+mn-lt"/>
                <a:ea typeface="+mn-ea"/>
                <a:cs typeface="+mn-cs"/>
              </a:rPr>
              <a:t>the unrelated stand fails later.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33</a:t>
            </a:fld>
            <a:endParaRPr lang="en-US"/>
          </a:p>
        </p:txBody>
      </p:sp>
    </p:spTree>
    <p:extLst>
      <p:ext uri="{BB962C8B-B14F-4D97-AF65-F5344CB8AC3E}">
        <p14:creationId xmlns:p14="http://schemas.microsoft.com/office/powerpoint/2010/main" val="141372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A `</a:t>
            </a:r>
            <a:r>
              <a:rPr lang="en-US" sz="1200" b="0" kern="1200" dirty="0" err="1">
                <a:solidFill>
                  <a:schemeClr val="tx1"/>
                </a:solidFill>
                <a:effectLst/>
                <a:latin typeface="+mn-lt"/>
                <a:ea typeface="+mn-ea"/>
                <a:cs typeface="+mn-cs"/>
              </a:rPr>
              <a:t>weak_ptr</a:t>
            </a:r>
            <a:r>
              <a:rPr lang="en-US" sz="1200" b="0" kern="1200" dirty="0">
                <a:solidFill>
                  <a:schemeClr val="tx1"/>
                </a:solidFill>
                <a:effectLst/>
                <a:latin typeface="+mn-lt"/>
                <a:ea typeface="+mn-ea"/>
                <a:cs typeface="+mn-cs"/>
              </a:rPr>
              <a:t>` remembers where the enclosure lived without keeping it alive.</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weak.lock</a:t>
            </a:r>
            <a:r>
              <a:rPr lang="en-US" sz="1200" b="0" kern="1200" dirty="0">
                <a:solidFill>
                  <a:schemeClr val="tx1"/>
                </a:solidFill>
                <a:effectLst/>
                <a:latin typeface="+mn-lt"/>
                <a:ea typeface="+mn-ea"/>
                <a:cs typeface="+mn-cs"/>
              </a:rPr>
              <a:t>()` asks whether anyone still owns a live object. If yes, you get</a:t>
            </a:r>
          </a:p>
          <a:p>
            <a:r>
              <a:rPr lang="en-US" sz="1200" b="0" kern="1200" dirty="0">
                <a:solidFill>
                  <a:schemeClr val="tx1"/>
                </a:solidFill>
                <a:effectLst/>
                <a:latin typeface="+mn-lt"/>
                <a:ea typeface="+mn-ea"/>
                <a:cs typeface="+mn-cs"/>
              </a:rPr>
              <a:t>a temporary `</a:t>
            </a:r>
            <a:r>
              <a:rPr lang="en-US" sz="1200" b="0" kern="1200" dirty="0" err="1">
                <a:solidFill>
                  <a:schemeClr val="tx1"/>
                </a:solidFill>
                <a:effectLst/>
                <a:latin typeface="+mn-lt"/>
                <a:ea typeface="+mn-ea"/>
                <a:cs typeface="+mn-cs"/>
              </a:rPr>
              <a:t>shared_ptr</a:t>
            </a:r>
            <a:r>
              <a:rPr lang="en-US" sz="1200" b="0" kern="1200" dirty="0">
                <a:solidFill>
                  <a:schemeClr val="tx1"/>
                </a:solidFill>
                <a:effectLst/>
                <a:latin typeface="+mn-lt"/>
                <a:ea typeface="+mn-ea"/>
                <a:cs typeface="+mn-cs"/>
              </a:rPr>
              <a:t>` for this invocation. If the enclosure has closed,</a:t>
            </a:r>
          </a:p>
          <a:p>
            <a:r>
              <a:rPr lang="en-US" sz="1200" b="0" kern="1200" dirty="0">
                <a:solidFill>
                  <a:schemeClr val="tx1"/>
                </a:solidFill>
                <a:effectLst/>
                <a:latin typeface="+mn-lt"/>
                <a:ea typeface="+mn-ea"/>
                <a:cs typeface="+mn-cs"/>
              </a:rPr>
              <a:t>`lock()` is empty and you skip the balloon stand.</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the fixes distinct from the Ferret. </a:t>
            </a:r>
            <a:r>
              <a:rPr lang="en-US" dirty="0"/>
              <a:t>Owning data and joining work tames the Ferret. It does not solve a stored callback. The Jackal needs a subscription-lifetime policy: unregister and drain, or capture weak ownership</a:t>
            </a:r>
          </a:p>
        </p:txBody>
      </p:sp>
      <p:sp>
        <p:nvSpPr>
          <p:cNvPr id="4" name="Slide Number Placeholder 3"/>
          <p:cNvSpPr>
            <a:spLocks noGrp="1"/>
          </p:cNvSpPr>
          <p:nvPr>
            <p:ph type="sldNum" sz="quarter" idx="5"/>
          </p:nvPr>
        </p:nvSpPr>
        <p:spPr/>
        <p:txBody>
          <a:bodyPr/>
          <a:lstStyle/>
          <a:p>
            <a:fld id="{B63B2EA1-C2D6-44B7-A9F5-02BE58F1EB01}" type="slidenum">
              <a:rPr lang="en-US" smtClean="0"/>
              <a:t>34</a:t>
            </a:fld>
            <a:endParaRPr lang="en-US"/>
          </a:p>
        </p:txBody>
      </p:sp>
    </p:spTree>
    <p:extLst>
      <p:ext uri="{BB962C8B-B14F-4D97-AF65-F5344CB8AC3E}">
        <p14:creationId xmlns:p14="http://schemas.microsoft.com/office/powerpoint/2010/main" val="8023120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Establish lifetime first, then synchronize shared access. A mutex cannot</a:t>
            </a:r>
          </a:p>
          <a:p>
            <a:r>
              <a:rPr lang="en-US" sz="1200" b="0" kern="1200" dirty="0">
                <a:solidFill>
                  <a:schemeClr val="tx1"/>
                </a:solidFill>
                <a:effectLst/>
                <a:latin typeface="+mn-lt"/>
                <a:ea typeface="+mn-ea"/>
                <a:cs typeface="+mn-cs"/>
              </a:rPr>
              <a:t>resurrect an object, and capturing `this` does not extend its lifetime. A</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weak_ptr</a:t>
            </a:r>
            <a:r>
              <a:rPr lang="en-US" sz="1200" b="0" kern="1200" dirty="0">
                <a:solidFill>
                  <a:schemeClr val="tx1"/>
                </a:solidFill>
                <a:effectLst/>
                <a:latin typeface="+mn-lt"/>
                <a:ea typeface="+mn-ea"/>
                <a:cs typeface="+mn-cs"/>
              </a:rPr>
              <a:t>` can be checked without keeping the object alive forever; an expired</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weak.lock</a:t>
            </a:r>
            <a:r>
              <a:rPr lang="en-US" sz="1200" b="0" kern="1200" dirty="0">
                <a:solidFill>
                  <a:schemeClr val="tx1"/>
                </a:solidFill>
                <a:effectLst/>
                <a:latin typeface="+mn-lt"/>
                <a:ea typeface="+mn-ea"/>
                <a:cs typeface="+mn-cs"/>
              </a:rPr>
              <a:t>()` turns a late callback into a no-op. For every asynchronous</a:t>
            </a:r>
          </a:p>
          <a:p>
            <a:r>
              <a:rPr lang="en-US" sz="1200" b="0" kern="1200" dirty="0">
                <a:solidFill>
                  <a:schemeClr val="tx1"/>
                </a:solidFill>
                <a:effectLst/>
                <a:latin typeface="+mn-lt"/>
                <a:ea typeface="+mn-ea"/>
                <a:cs typeface="+mn-cs"/>
              </a:rPr>
              <a:t>operation, identify who owns it, how it is cancelled, and what waits until its</a:t>
            </a:r>
          </a:p>
          <a:p>
            <a:r>
              <a:rPr lang="en-US" sz="1200" b="0" kern="1200" dirty="0">
                <a:solidFill>
                  <a:schemeClr val="tx1"/>
                </a:solidFill>
                <a:effectLst/>
                <a:latin typeface="+mn-lt"/>
                <a:ea typeface="+mn-ea"/>
                <a:cs typeface="+mn-cs"/>
              </a:rPr>
              <a:t>final callback has finished.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35</a:t>
            </a:fld>
            <a:endParaRPr lang="en-US"/>
          </a:p>
        </p:txBody>
      </p:sp>
    </p:spTree>
    <p:extLst>
      <p:ext uri="{BB962C8B-B14F-4D97-AF65-F5344CB8AC3E}">
        <p14:creationId xmlns:p14="http://schemas.microsoft.com/office/powerpoint/2010/main" val="14503282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Lifetime explains why a program crashes. Now we return to the program that</a:t>
            </a:r>
          </a:p>
          <a:p>
            <a:r>
              <a:rPr lang="en-US" sz="1200" b="0" kern="1200" dirty="0">
                <a:solidFill>
                  <a:schemeClr val="tx1"/>
                </a:solidFill>
                <a:effectLst/>
                <a:latin typeface="+mn-lt"/>
                <a:ea typeface="+mn-ea"/>
                <a:cs typeface="+mn-cs"/>
              </a:rPr>
              <a:t>remains alive but falls silent. Safe access is not the entire definition of</a:t>
            </a:r>
          </a:p>
          <a:p>
            <a:r>
              <a:rPr lang="en-US" sz="1200" b="0" kern="1200" dirty="0">
                <a:solidFill>
                  <a:schemeClr val="tx1"/>
                </a:solidFill>
                <a:effectLst/>
                <a:latin typeface="+mn-lt"/>
                <a:ea typeface="+mn-ea"/>
                <a:cs typeface="+mn-cs"/>
              </a:rPr>
              <a:t>correctness. Threads must also make progress. At the crossing, everybody</a:t>
            </a:r>
          </a:p>
          <a:p>
            <a:r>
              <a:rPr lang="en-US" sz="1200" b="0" kern="1200" dirty="0">
                <a:solidFill>
                  <a:schemeClr val="tx1"/>
                </a:solidFill>
                <a:effectLst/>
                <a:latin typeface="+mn-lt"/>
                <a:ea typeface="+mn-ea"/>
                <a:cs typeface="+mn-cs"/>
              </a:rPr>
              <a:t>follows a plausible local rule, yet the system as a whole can stop moving.</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36</a:t>
            </a:fld>
            <a:endParaRPr lang="en-US"/>
          </a:p>
        </p:txBody>
      </p:sp>
    </p:spTree>
    <p:extLst>
      <p:ext uri="{BB962C8B-B14F-4D97-AF65-F5344CB8AC3E}">
        <p14:creationId xmlns:p14="http://schemas.microsoft.com/office/powerpoint/2010/main" val="17721470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Gallant Reindeer are famous for discipline. They wait their turn, claim</a:t>
            </a:r>
          </a:p>
          <a:p>
            <a:r>
              <a:rPr lang="en-US" sz="1200" b="0" kern="1200" dirty="0">
                <a:solidFill>
                  <a:schemeClr val="tx1"/>
                </a:solidFill>
                <a:effectLst/>
                <a:latin typeface="+mn-lt"/>
                <a:ea typeface="+mn-ea"/>
                <a:cs typeface="+mn-cs"/>
              </a:rPr>
              <a:t>only the part of the bridge in front of them, and always step aside for another</a:t>
            </a:r>
          </a:p>
          <a:p>
            <a:r>
              <a:rPr lang="en-US" sz="1200" b="0" kern="1200" dirty="0" err="1">
                <a:solidFill>
                  <a:schemeClr val="tx1"/>
                </a:solidFill>
                <a:effectLst/>
                <a:latin typeface="+mn-lt"/>
                <a:ea typeface="+mn-ea"/>
                <a:cs typeface="+mn-cs"/>
              </a:rPr>
              <a:t>traveller</a:t>
            </a:r>
            <a:r>
              <a:rPr lang="en-US" sz="1200" b="0" kern="1200" dirty="0">
                <a:solidFill>
                  <a:schemeClr val="tx1"/>
                </a:solidFill>
                <a:effectLst/>
                <a:latin typeface="+mn-lt"/>
                <a:ea typeface="+mn-ea"/>
                <a:cs typeface="+mn-cs"/>
              </a:rPr>
              <a:t>. Every reindeer follows a rule that sounds polite and reasonable.</a:t>
            </a:r>
          </a:p>
          <a:p>
            <a:r>
              <a:rPr lang="en-US" sz="1200" b="0" kern="1200" dirty="0">
                <a:solidFill>
                  <a:schemeClr val="tx1"/>
                </a:solidFill>
                <a:effectLst/>
                <a:latin typeface="+mn-lt"/>
                <a:ea typeface="+mn-ea"/>
                <a:cs typeface="+mn-cs"/>
              </a:rPr>
              <a:t>Somehow the bridge still has terrible traffic.</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37</a:t>
            </a:fld>
            <a:endParaRPr lang="en-US"/>
          </a:p>
        </p:txBody>
      </p:sp>
    </p:spTree>
    <p:extLst>
      <p:ext uri="{BB962C8B-B14F-4D97-AF65-F5344CB8AC3E}">
        <p14:creationId xmlns:p14="http://schemas.microsoft.com/office/powerpoint/2010/main" val="23461714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bridge has two protected halves. A westbound reindeer locks the west half</a:t>
            </a:r>
          </a:p>
          <a:p>
            <a:r>
              <a:rPr lang="en-US" sz="1200" b="0" kern="1200" dirty="0">
                <a:solidFill>
                  <a:schemeClr val="tx1"/>
                </a:solidFill>
                <a:effectLst/>
                <a:latin typeface="+mn-lt"/>
                <a:ea typeface="+mn-ea"/>
                <a:cs typeface="+mn-cs"/>
              </a:rPr>
              <a:t>and then the east half. An eastbound reindeer takes the same locks in the</a:t>
            </a:r>
          </a:p>
          <a:p>
            <a:r>
              <a:rPr lang="en-US" sz="1200" b="0" kern="1200" dirty="0">
                <a:solidFill>
                  <a:schemeClr val="tx1"/>
                </a:solidFill>
                <a:effectLst/>
                <a:latin typeface="+mn-lt"/>
                <a:ea typeface="+mn-ea"/>
                <a:cs typeface="+mn-cs"/>
              </a:rPr>
              <a:t>opposite order. Either function works perfectly when it runs alone.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send both together. Each acquires its near half and waits for the far</a:t>
            </a:r>
          </a:p>
          <a:p>
            <a:r>
              <a:rPr lang="en-US" sz="1200" b="0" kern="1200" dirty="0">
                <a:solidFill>
                  <a:schemeClr val="tx1"/>
                </a:solidFill>
                <a:effectLst/>
                <a:latin typeface="+mn-lt"/>
                <a:ea typeface="+mn-ea"/>
                <a:cs typeface="+mn-cs"/>
              </a:rPr>
              <a:t>half, which the other owns. Neither can cross; neither can release the lock</a:t>
            </a:r>
          </a:p>
          <a:p>
            <a:r>
              <a:rPr lang="en-US" sz="1200" b="0" kern="1200" dirty="0">
                <a:solidFill>
                  <a:schemeClr val="tx1"/>
                </a:solidFill>
                <a:effectLst/>
                <a:latin typeface="+mn-lt"/>
                <a:ea typeface="+mn-ea"/>
                <a:cs typeface="+mn-cs"/>
              </a:rPr>
              <a:t>the other needs. The silent symptom is a program that remains alive but never</a:t>
            </a:r>
          </a:p>
          <a:p>
            <a:r>
              <a:rPr lang="en-US" sz="1200" b="0" kern="1200" dirty="0">
                <a:solidFill>
                  <a:schemeClr val="tx1"/>
                </a:solidFill>
                <a:effectLst/>
                <a:latin typeface="+mn-lt"/>
                <a:ea typeface="+mn-ea"/>
                <a:cs typeface="+mn-cs"/>
              </a:rPr>
              <a:t>advances. This </a:t>
            </a:r>
            <a:r>
              <a:rPr lang="en-US" sz="1200" b="0" kern="1200" dirty="0" err="1">
                <a:solidFill>
                  <a:schemeClr val="tx1"/>
                </a:solidFill>
                <a:effectLst/>
                <a:latin typeface="+mn-lt"/>
                <a:ea typeface="+mn-ea"/>
                <a:cs typeface="+mn-cs"/>
              </a:rPr>
              <a:t>neverending</a:t>
            </a:r>
            <a:r>
              <a:rPr lang="en-US" sz="1200" b="0" kern="1200" dirty="0">
                <a:solidFill>
                  <a:schemeClr val="tx1"/>
                </a:solidFill>
                <a:effectLst/>
                <a:latin typeface="+mn-lt"/>
                <a:ea typeface="+mn-ea"/>
                <a:cs typeface="+mn-cs"/>
              </a:rPr>
              <a:t> wait is deadlock.</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38</a:t>
            </a:fld>
            <a:endParaRPr lang="en-US"/>
          </a:p>
        </p:txBody>
      </p:sp>
    </p:spTree>
    <p:extLst>
      <p:ext uri="{BB962C8B-B14F-4D97-AF65-F5344CB8AC3E}">
        <p14:creationId xmlns:p14="http://schemas.microsoft.com/office/powerpoint/2010/main" val="37175530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next rule tries to be kinder. Take the near half, </a:t>
            </a:r>
          </a:p>
          <a:p>
            <a:r>
              <a:rPr lang="en-US" sz="1200" b="0" kern="1200" dirty="0">
                <a:solidFill>
                  <a:schemeClr val="tx1"/>
                </a:solidFill>
                <a:effectLst/>
                <a:latin typeface="+mn-lt"/>
                <a:ea typeface="+mn-ea"/>
                <a:cs typeface="+mn-cs"/>
              </a:rPr>
              <a:t>try the far half, and</a:t>
            </a:r>
          </a:p>
          <a:p>
            <a:r>
              <a:rPr lang="en-US" sz="1200" b="0" kern="1200" dirty="0">
                <a:solidFill>
                  <a:schemeClr val="tx1"/>
                </a:solidFill>
                <a:effectLst/>
                <a:latin typeface="+mn-lt"/>
                <a:ea typeface="+mn-ea"/>
                <a:cs typeface="+mn-cs"/>
              </a:rPr>
              <a:t>if it is occupied, retreat and try again. </a:t>
            </a:r>
          </a:p>
          <a:p>
            <a:r>
              <a:rPr lang="en-US" sz="1200" b="0" kern="1200" dirty="0">
                <a:solidFill>
                  <a:schemeClr val="tx1"/>
                </a:solidFill>
                <a:effectLst/>
                <a:latin typeface="+mn-lt"/>
                <a:ea typeface="+mn-ea"/>
                <a:cs typeface="+mn-cs"/>
              </a:rPr>
              <a:t>No reindeer waits while holding both</a:t>
            </a:r>
          </a:p>
          <a:p>
            <a:r>
              <a:rPr lang="en-US" sz="1200" b="0" kern="1200" dirty="0">
                <a:solidFill>
                  <a:schemeClr val="tx1"/>
                </a:solidFill>
                <a:effectLst/>
                <a:latin typeface="+mn-lt"/>
                <a:ea typeface="+mn-ea"/>
                <a:cs typeface="+mn-cs"/>
              </a:rPr>
              <a:t>sides.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two </a:t>
            </a:r>
            <a:r>
              <a:rPr lang="en-US" sz="1200" b="0" kern="1200" dirty="0" err="1">
                <a:solidFill>
                  <a:schemeClr val="tx1"/>
                </a:solidFill>
                <a:effectLst/>
                <a:latin typeface="+mn-lt"/>
                <a:ea typeface="+mn-ea"/>
                <a:cs typeface="+mn-cs"/>
              </a:rPr>
              <a:t>travellers</a:t>
            </a:r>
            <a:r>
              <a:rPr lang="en-US" sz="1200" b="0" kern="1200" dirty="0">
                <a:solidFill>
                  <a:schemeClr val="tx1"/>
                </a:solidFill>
                <a:effectLst/>
                <a:latin typeface="+mn-lt"/>
                <a:ea typeface="+mn-ea"/>
                <a:cs typeface="+mn-cs"/>
              </a:rPr>
              <a:t> meet, retreat, bow, and retry at the same rhythm. Threads</a:t>
            </a:r>
          </a:p>
          <a:p>
            <a:r>
              <a:rPr lang="en-US" sz="1200" b="0" kern="1200" dirty="0">
                <a:solidFill>
                  <a:schemeClr val="tx1"/>
                </a:solidFill>
                <a:effectLst/>
                <a:latin typeface="+mn-lt"/>
                <a:ea typeface="+mn-ea"/>
                <a:cs typeface="+mn-cs"/>
              </a:rPr>
              <a:t>are running and locks keep changing hands, but nobody crosses. </a:t>
            </a:r>
          </a:p>
          <a:p>
            <a:r>
              <a:rPr lang="en-US" sz="1200" b="0" kern="1200" dirty="0">
                <a:solidFill>
                  <a:schemeClr val="tx1"/>
                </a:solidFill>
                <a:effectLst/>
                <a:latin typeface="+mn-lt"/>
                <a:ea typeface="+mn-ea"/>
                <a:cs typeface="+mn-cs"/>
              </a:rPr>
              <a:t>The symptom is high activity with no useful work. That is </a:t>
            </a:r>
            <a:r>
              <a:rPr lang="en-US" sz="1200" b="0" kern="1200" dirty="0" err="1">
                <a:solidFill>
                  <a:schemeClr val="tx1"/>
                </a:solidFill>
                <a:effectLst/>
                <a:latin typeface="+mn-lt"/>
                <a:ea typeface="+mn-ea"/>
                <a:cs typeface="+mn-cs"/>
              </a:rPr>
              <a:t>livelock</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39</a:t>
            </a:fld>
            <a:endParaRPr lang="en-US"/>
          </a:p>
        </p:txBody>
      </p:sp>
    </p:spTree>
    <p:extLst>
      <p:ext uri="{BB962C8B-B14F-4D97-AF65-F5344CB8AC3E}">
        <p14:creationId xmlns:p14="http://schemas.microsoft.com/office/powerpoint/2010/main" val="31863421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Explain entering code</a:t>
            </a:r>
          </a:p>
          <a:p>
            <a:r>
              <a:rPr lang="en-US" sz="1200" b="0" kern="1200" dirty="0">
                <a:solidFill>
                  <a:schemeClr val="tx1"/>
                </a:solidFill>
                <a:effectLst/>
                <a:latin typeface="+mn-lt"/>
                <a:ea typeface="+mn-ea"/>
                <a:cs typeface="+mn-cs"/>
              </a:rPr>
              <a:t>Explain leaving code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final rule allows reindeer to join traffic already moving in their</a:t>
            </a:r>
          </a:p>
          <a:p>
            <a:r>
              <a:rPr lang="en-US" sz="1200" b="0" kern="1200" dirty="0">
                <a:solidFill>
                  <a:schemeClr val="tx1"/>
                </a:solidFill>
                <a:effectLst/>
                <a:latin typeface="+mn-lt"/>
                <a:ea typeface="+mn-ea"/>
                <a:cs typeface="+mn-cs"/>
              </a:rPr>
              <a:t>direction. This looks efficient: westbound animals form a convoy and the</a:t>
            </a:r>
          </a:p>
          <a:p>
            <a:r>
              <a:rPr lang="en-US" sz="1200" b="0" kern="1200" dirty="0">
                <a:solidFill>
                  <a:schemeClr val="tx1"/>
                </a:solidFill>
                <a:effectLst/>
                <a:latin typeface="+mn-lt"/>
                <a:ea typeface="+mn-ea"/>
                <a:cs typeface="+mn-cs"/>
              </a:rPr>
              <a:t>bridge stays busy.</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place one eastbound cub at the gate. Every time the bridge is nearly empty,</a:t>
            </a:r>
          </a:p>
          <a:p>
            <a:r>
              <a:rPr lang="en-US" sz="1200" b="0" kern="1200" dirty="0">
                <a:solidFill>
                  <a:schemeClr val="tx1"/>
                </a:solidFill>
                <a:effectLst/>
                <a:latin typeface="+mn-lt"/>
                <a:ea typeface="+mn-ea"/>
                <a:cs typeface="+mn-cs"/>
              </a:rPr>
              <a:t>another westbound reindeer joins. Traffic moves, counters increase, and the</a:t>
            </a:r>
          </a:p>
          <a:p>
            <a:r>
              <a:rPr lang="en-US" sz="1200" b="0" kern="1200" dirty="0">
                <a:solidFill>
                  <a:schemeClr val="tx1"/>
                </a:solidFill>
                <a:effectLst/>
                <a:latin typeface="+mn-lt"/>
                <a:ea typeface="+mn-ea"/>
                <a:cs typeface="+mn-cs"/>
              </a:rPr>
              <a:t>system looks healthy — except the cub can wait forever. Progress for the</a:t>
            </a:r>
          </a:p>
          <a:p>
            <a:r>
              <a:rPr lang="en-US" sz="1200" b="0" kern="1200" dirty="0">
                <a:solidFill>
                  <a:schemeClr val="tx1"/>
                </a:solidFill>
                <a:effectLst/>
                <a:latin typeface="+mn-lt"/>
                <a:ea typeface="+mn-ea"/>
                <a:cs typeface="+mn-cs"/>
              </a:rPr>
              <a:t>system without progress for one participant is starvation.</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40</a:t>
            </a:fld>
            <a:endParaRPr lang="en-US"/>
          </a:p>
        </p:txBody>
      </p:sp>
    </p:spTree>
    <p:extLst>
      <p:ext uri="{BB962C8B-B14F-4D97-AF65-F5344CB8AC3E}">
        <p14:creationId xmlns:p14="http://schemas.microsoft.com/office/powerpoint/2010/main" val="8247634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taming line lists three tools — lock order, block instead of retry, fair</a:t>
            </a:r>
          </a:p>
          <a:p>
            <a:r>
              <a:rPr lang="en-US" sz="1200" b="0" kern="1200" dirty="0">
                <a:solidFill>
                  <a:schemeClr val="tx1"/>
                </a:solidFill>
                <a:effectLst/>
                <a:latin typeface="+mn-lt"/>
                <a:ea typeface="+mn-ea"/>
                <a:cs typeface="+mn-cs"/>
              </a:rPr>
              <a:t>handoff — because the three plots are different.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bridge mostly needed one</a:t>
            </a:r>
          </a:p>
          <a:p>
            <a:r>
              <a:rPr lang="en-US" sz="1200" b="0" kern="1200" dirty="0">
                <a:solidFill>
                  <a:schemeClr val="tx1"/>
                </a:solidFill>
                <a:effectLst/>
                <a:latin typeface="+mn-lt"/>
                <a:ea typeface="+mn-ea"/>
                <a:cs typeface="+mn-cs"/>
              </a:rPr>
              <a:t>simpler design: both directions acquire the same two halves together with</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scoped_lock</a:t>
            </a:r>
            <a:r>
              <a:rPr lang="en-US" sz="1200" b="0" kern="1200" dirty="0">
                <a:solidFill>
                  <a:schemeClr val="tx1"/>
                </a:solidFill>
                <a:effectLst/>
                <a:latin typeface="+mn-lt"/>
                <a:ea typeface="+mn-ea"/>
                <a:cs typeface="+mn-cs"/>
              </a:rPr>
              <a:t>`. Notice that the calls list the mutexes in opposite orders. That</a:t>
            </a:r>
          </a:p>
          <a:p>
            <a:r>
              <a:rPr lang="en-US" sz="1200" b="0" kern="1200" dirty="0">
                <a:solidFill>
                  <a:schemeClr val="tx1"/>
                </a:solidFill>
                <a:effectLst/>
                <a:latin typeface="+mn-lt"/>
                <a:ea typeface="+mn-ea"/>
                <a:cs typeface="+mn-cs"/>
              </a:rPr>
              <a:t>is deliberate: `</a:t>
            </a:r>
            <a:r>
              <a:rPr lang="en-US" sz="1200" b="0" kern="1200" dirty="0" err="1">
                <a:solidFill>
                  <a:schemeClr val="tx1"/>
                </a:solidFill>
                <a:effectLst/>
                <a:latin typeface="+mn-lt"/>
                <a:ea typeface="+mn-ea"/>
                <a:cs typeface="+mn-cs"/>
              </a:rPr>
              <a:t>scoped_lock</a:t>
            </a:r>
            <a:r>
              <a:rPr lang="en-US" sz="1200" b="0" kern="1200" dirty="0">
                <a:solidFill>
                  <a:schemeClr val="tx1"/>
                </a:solidFill>
                <a:effectLst/>
                <a:latin typeface="+mn-lt"/>
                <a:ea typeface="+mn-ea"/>
                <a:cs typeface="+mn-cs"/>
              </a:rPr>
              <a:t>` uses the deadlock-avoidance algorithm of</a:t>
            </a:r>
          </a:p>
          <a:p>
            <a:r>
              <a:rPr lang="en-US" sz="1200" b="0" kern="1200" dirty="0">
                <a:solidFill>
                  <a:schemeClr val="tx1"/>
                </a:solidFill>
                <a:effectLst/>
                <a:latin typeface="+mn-lt"/>
                <a:ea typeface="+mn-ea"/>
                <a:cs typeface="+mn-cs"/>
              </a:rPr>
              <a:t>`std::lock`; safety does not depend on the caller picking one argument order.</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Simplicity is often the winning design. Against a complicated dance it can win</a:t>
            </a:r>
          </a:p>
          <a:p>
            <a:r>
              <a:rPr lang="en-US" sz="1200" b="0" kern="1200" dirty="0">
                <a:solidFill>
                  <a:schemeClr val="tx1"/>
                </a:solidFill>
                <a:effectLst/>
                <a:latin typeface="+mn-lt"/>
                <a:ea typeface="+mn-ea"/>
                <a:cs typeface="+mn-cs"/>
              </a:rPr>
              <a:t>the performance race too — fewer retries, state transitions, and wake-ups —</a:t>
            </a:r>
          </a:p>
          <a:p>
            <a:r>
              <a:rPr lang="en-US" sz="1200" b="0" kern="1200" dirty="0">
                <a:solidFill>
                  <a:schemeClr val="tx1"/>
                </a:solidFill>
                <a:effectLst/>
                <a:latin typeface="+mn-lt"/>
                <a:ea typeface="+mn-ea"/>
                <a:cs typeface="+mn-cs"/>
              </a:rPr>
              <a:t>until a measurement proves that the bridge needs a fancier admission policy.</a:t>
            </a:r>
          </a:p>
          <a:p>
            <a:r>
              <a:rPr lang="en-US" sz="1200" b="0" kern="1200" dirty="0">
                <a:solidFill>
                  <a:schemeClr val="tx1"/>
                </a:solidFill>
                <a:effectLst/>
                <a:latin typeface="+mn-lt"/>
                <a:ea typeface="+mn-ea"/>
                <a:cs typeface="+mn-cs"/>
              </a:rPr>
              <a:t>That sentence is the on-ramp to the aviary.</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41</a:t>
            </a:fld>
            <a:endParaRPr lang="en-US"/>
          </a:p>
        </p:txBody>
      </p:sp>
    </p:spTree>
    <p:extLst>
      <p:ext uri="{BB962C8B-B14F-4D97-AF65-F5344CB8AC3E}">
        <p14:creationId xmlns:p14="http://schemas.microsoft.com/office/powerpoint/2010/main" val="19336689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crossing solved the silence: protected memory is still useless if threads</a:t>
            </a:r>
          </a:p>
          <a:p>
            <a:r>
              <a:rPr lang="en-US" sz="1200" b="0" kern="1200" dirty="0">
                <a:solidFill>
                  <a:schemeClr val="tx1"/>
                </a:solidFill>
                <a:effectLst/>
                <a:latin typeface="+mn-lt"/>
                <a:ea typeface="+mn-ea"/>
                <a:cs typeface="+mn-cs"/>
              </a:rPr>
              <a:t>cannot progress. Our next program does progress and produces the right answer,</a:t>
            </a:r>
          </a:p>
          <a:p>
            <a:r>
              <a:rPr lang="en-US" sz="1200" b="0" kern="1200" dirty="0">
                <a:solidFill>
                  <a:schemeClr val="tx1"/>
                </a:solidFill>
                <a:effectLst/>
                <a:latin typeface="+mn-lt"/>
                <a:ea typeface="+mn-ea"/>
                <a:cs typeface="+mn-cs"/>
              </a:rPr>
              <a:t>but it is unexpectedly slow. The birds are correct — no updates are lost and</a:t>
            </a:r>
          </a:p>
          <a:p>
            <a:r>
              <a:rPr lang="en-US" sz="1200" b="0" kern="1200" dirty="0">
                <a:solidFill>
                  <a:schemeClr val="tx1"/>
                </a:solidFill>
                <a:effectLst/>
                <a:latin typeface="+mn-lt"/>
                <a:ea typeface="+mn-ea"/>
                <a:cs typeface="+mn-cs"/>
              </a:rPr>
              <a:t>nobody touches dead memory. Yet the concurrent version can still disappoint</a:t>
            </a:r>
          </a:p>
          <a:p>
            <a:r>
              <a:rPr lang="en-US" sz="1200" b="0" kern="1200" dirty="0">
                <a:solidFill>
                  <a:schemeClr val="tx1"/>
                </a:solidFill>
                <a:effectLst/>
                <a:latin typeface="+mn-lt"/>
                <a:ea typeface="+mn-ea"/>
                <a:cs typeface="+mn-cs"/>
              </a:rPr>
              <a:t>because of its speed. Correctness is</a:t>
            </a:r>
          </a:p>
          <a:p>
            <a:r>
              <a:rPr lang="en-US" sz="1200" b="0" kern="1200" dirty="0">
                <a:solidFill>
                  <a:schemeClr val="tx1"/>
                </a:solidFill>
                <a:effectLst/>
                <a:latin typeface="+mn-lt"/>
                <a:ea typeface="+mn-ea"/>
                <a:cs typeface="+mn-cs"/>
              </a:rPr>
              <a:t>mandatory; scalability must be measured.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42</a:t>
            </a:fld>
            <a:endParaRPr lang="en-US"/>
          </a:p>
        </p:txBody>
      </p:sp>
    </p:spTree>
    <p:extLst>
      <p:ext uri="{BB962C8B-B14F-4D97-AF65-F5344CB8AC3E}">
        <p14:creationId xmlns:p14="http://schemas.microsoft.com/office/powerpoint/2010/main" val="41680694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Turnstile Tern believes a well-run zoo needs one orderly gate. Aquarium</a:t>
            </a:r>
          </a:p>
          <a:p>
            <a:r>
              <a:rPr lang="en-US" sz="1200" b="0" kern="1200" dirty="0">
                <a:solidFill>
                  <a:schemeClr val="tx1"/>
                </a:solidFill>
                <a:effectLst/>
                <a:latin typeface="+mn-lt"/>
                <a:ea typeface="+mn-ea"/>
                <a:cs typeface="+mn-cs"/>
              </a:rPr>
              <a:t>visitors, carousel riders, ice-cream buyers — everyone queues at the same</a:t>
            </a:r>
          </a:p>
          <a:p>
            <a:r>
              <a:rPr lang="en-US" sz="1200" b="0" kern="1200" dirty="0">
                <a:solidFill>
                  <a:schemeClr val="tx1"/>
                </a:solidFill>
                <a:effectLst/>
                <a:latin typeface="+mn-lt"/>
                <a:ea typeface="+mn-ea"/>
                <a:cs typeface="+mn-cs"/>
              </a:rPr>
              <a:t>turnstile. Nobody pushes, nobody enters twice, and every ticket is counted.</a:t>
            </a:r>
          </a:p>
          <a:p>
            <a:r>
              <a:rPr lang="en-US" sz="1200" b="0" kern="1200" dirty="0">
                <a:solidFill>
                  <a:schemeClr val="tx1"/>
                </a:solidFill>
                <a:effectLst/>
                <a:latin typeface="+mn-lt"/>
                <a:ea typeface="+mn-ea"/>
                <a:cs typeface="+mn-cs"/>
              </a:rPr>
              <a:t>The Tern is extremely proud of this system.</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43</a:t>
            </a:fld>
            <a:endParaRPr lang="en-US"/>
          </a:p>
        </p:txBody>
      </p:sp>
    </p:spTree>
    <p:extLst>
      <p:ext uri="{BB962C8B-B14F-4D97-AF65-F5344CB8AC3E}">
        <p14:creationId xmlns:p14="http://schemas.microsoft.com/office/powerpoint/2010/main" val="1456288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code follows the Tern's rule. `</a:t>
            </a:r>
            <a:r>
              <a:rPr lang="en-US" sz="1200" b="0" kern="1200" dirty="0" err="1">
                <a:solidFill>
                  <a:schemeClr val="tx1"/>
                </a:solidFill>
                <a:effectLst/>
                <a:latin typeface="+mn-lt"/>
                <a:ea typeface="+mn-ea"/>
                <a:cs typeface="+mn-cs"/>
              </a:rPr>
              <a:t>visit_aquarium</a:t>
            </a:r>
            <a:r>
              <a:rPr lang="en-US" sz="1200" b="0" kern="1200" dirty="0">
                <a:solidFill>
                  <a:schemeClr val="tx1"/>
                </a:solidFill>
                <a:effectLst/>
                <a:latin typeface="+mn-lt"/>
                <a:ea typeface="+mn-ea"/>
                <a:cs typeface="+mn-cs"/>
              </a:rPr>
              <a:t>()` locks one mutex, updates the aquarium count, and let the visitor explore. </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ride_carousel</a:t>
            </a:r>
            <a:r>
              <a:rPr lang="en-US" sz="1200" b="0" kern="1200" dirty="0">
                <a:solidFill>
                  <a:schemeClr val="tx1"/>
                </a:solidFill>
                <a:effectLst/>
                <a:latin typeface="+mn-lt"/>
                <a:ea typeface="+mn-ea"/>
                <a:cs typeface="+mn-cs"/>
              </a:rPr>
              <a:t>()` takes the same mutex,</a:t>
            </a:r>
          </a:p>
          <a:p>
            <a:r>
              <a:rPr lang="en-US" sz="1200" b="0" kern="1200" dirty="0">
                <a:solidFill>
                  <a:schemeClr val="tx1"/>
                </a:solidFill>
                <a:effectLst/>
                <a:latin typeface="+mn-lt"/>
                <a:ea typeface="+mn-ea"/>
                <a:cs typeface="+mn-cs"/>
              </a:rPr>
              <a:t>updates a different count, and allows you to buy an ice cream. </a:t>
            </a:r>
          </a:p>
          <a:p>
            <a:r>
              <a:rPr lang="en-US" sz="1200" b="0" kern="1200" dirty="0">
                <a:solidFill>
                  <a:schemeClr val="tx1"/>
                </a:solidFill>
                <a:effectLst/>
                <a:latin typeface="+mn-lt"/>
                <a:ea typeface="+mn-ea"/>
                <a:cs typeface="+mn-cs"/>
              </a:rPr>
              <a:t>Every update is protected and</a:t>
            </a:r>
          </a:p>
          <a:p>
            <a:r>
              <a:rPr lang="en-US" sz="1200" b="0" kern="1200" dirty="0">
                <a:solidFill>
                  <a:schemeClr val="tx1"/>
                </a:solidFill>
                <a:effectLst/>
                <a:latin typeface="+mn-lt"/>
                <a:ea typeface="+mn-ea"/>
                <a:cs typeface="+mn-cs"/>
              </a:rPr>
              <a:t>the results are correct. Nothing crashes and no count is lost.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run both attractions together. A visitor choosing fish prevents another</a:t>
            </a:r>
          </a:p>
          <a:p>
            <a:r>
              <a:rPr lang="en-US" sz="1200" b="0" kern="1200" dirty="0">
                <a:solidFill>
                  <a:schemeClr val="tx1"/>
                </a:solidFill>
                <a:effectLst/>
                <a:latin typeface="+mn-lt"/>
                <a:ea typeface="+mn-ea"/>
                <a:cs typeface="+mn-cs"/>
              </a:rPr>
              <a:t>visitor from riding a carousel because unrelated work uses the same gate. The</a:t>
            </a:r>
          </a:p>
          <a:p>
            <a:r>
              <a:rPr lang="en-US" sz="1200" b="0" kern="1200" dirty="0">
                <a:solidFill>
                  <a:schemeClr val="tx1"/>
                </a:solidFill>
                <a:effectLst/>
                <a:latin typeface="+mn-lt"/>
                <a:ea typeface="+mn-ea"/>
                <a:cs typeface="+mn-cs"/>
              </a:rPr>
              <a:t>program is correct but slower than expected. This is </a:t>
            </a:r>
            <a:r>
              <a:rPr lang="en-US" sz="1200" b="0" kern="1200" dirty="0" err="1">
                <a:solidFill>
                  <a:schemeClr val="tx1"/>
                </a:solidFill>
                <a:effectLst/>
                <a:latin typeface="+mn-lt"/>
                <a:ea typeface="+mn-ea"/>
                <a:cs typeface="+mn-cs"/>
              </a:rPr>
              <a:t>oversynchronisation</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locking a larger scope or a larger set of invariants than correctness needs.</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44</a:t>
            </a:fld>
            <a:endParaRPr lang="en-US"/>
          </a:p>
        </p:txBody>
      </p:sp>
    </p:spTree>
    <p:extLst>
      <p:ext uri="{BB962C8B-B14F-4D97-AF65-F5344CB8AC3E}">
        <p14:creationId xmlns:p14="http://schemas.microsoft.com/office/powerpoint/2010/main" val="27118622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one lock around unrelated work as the habitat, accidental</a:t>
            </a:r>
          </a:p>
          <a:p>
            <a:r>
              <a:rPr lang="en-US" sz="1200" b="0" kern="1200" dirty="0">
                <a:solidFill>
                  <a:schemeClr val="tx1"/>
                </a:solidFill>
                <a:effectLst/>
                <a:latin typeface="+mn-lt"/>
                <a:ea typeface="+mn-ea"/>
                <a:cs typeface="+mn-cs"/>
              </a:rPr>
              <a:t>serialization as the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and perfect correctness as the camouflage.</a:t>
            </a:r>
          </a:p>
          <a:p>
            <a:r>
              <a:rPr lang="en-US" sz="1200" b="0" kern="1200" dirty="0">
                <a:solidFill>
                  <a:schemeClr val="tx1"/>
                </a:solidFill>
                <a:effectLst/>
                <a:latin typeface="+mn-lt"/>
                <a:ea typeface="+mn-ea"/>
                <a:cs typeface="+mn-cs"/>
              </a:rPr>
              <a:t>Tame it by aligning each lock with one meaningful invariant. Keep independent</a:t>
            </a:r>
          </a:p>
          <a:p>
            <a:r>
              <a:rPr lang="en-US" sz="1200" b="0" kern="1200" dirty="0">
                <a:solidFill>
                  <a:schemeClr val="tx1"/>
                </a:solidFill>
                <a:effectLst/>
                <a:latin typeface="+mn-lt"/>
                <a:ea typeface="+mn-ea"/>
                <a:cs typeface="+mn-cs"/>
              </a:rPr>
              <a:t>slow work outside only when it is not part of that invariant.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the clearest correct design, measure contention, and split only where the ownership model and evidence support it.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45</a:t>
            </a:fld>
            <a:endParaRPr lang="en-US"/>
          </a:p>
        </p:txBody>
      </p:sp>
    </p:spTree>
    <p:extLst>
      <p:ext uri="{BB962C8B-B14F-4D97-AF65-F5344CB8AC3E}">
        <p14:creationId xmlns:p14="http://schemas.microsoft.com/office/powerpoint/2010/main" val="35632807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There are sparrows building their own separate nests on one tree. No bird steals</a:t>
            </a:r>
          </a:p>
          <a:p>
            <a:r>
              <a:rPr lang="en-US" sz="1200" b="0" kern="1200" dirty="0">
                <a:solidFill>
                  <a:schemeClr val="tx1"/>
                </a:solidFill>
                <a:effectLst/>
                <a:latin typeface="+mn-lt"/>
                <a:ea typeface="+mn-ea"/>
                <a:cs typeface="+mn-cs"/>
              </a:rPr>
              <a:t>twigs, crosses a boundary, or touches another bird's nest. Yet whenever</a:t>
            </a:r>
          </a:p>
          <a:p>
            <a:r>
              <a:rPr lang="en-US" sz="1200" b="0" kern="1200" dirty="0">
                <a:solidFill>
                  <a:schemeClr val="tx1"/>
                </a:solidFill>
                <a:effectLst/>
                <a:latin typeface="+mn-lt"/>
                <a:ea typeface="+mn-ea"/>
                <a:cs typeface="+mn-cs"/>
              </a:rPr>
              <a:t>either middle sparrow lands, the branch shakes beneath several</a:t>
            </a:r>
          </a:p>
          <a:p>
            <a:r>
              <a:rPr lang="en-US" sz="1200" b="0" kern="1200" dirty="0">
                <a:solidFill>
                  <a:schemeClr val="tx1"/>
                </a:solidFill>
                <a:effectLst/>
                <a:latin typeface="+mn-lt"/>
                <a:ea typeface="+mn-ea"/>
                <a:cs typeface="+mn-cs"/>
              </a:rPr>
              <a:t>nests. The outer sparrows perform the same work and remain</a:t>
            </a:r>
          </a:p>
          <a:p>
            <a:r>
              <a:rPr lang="en-US" sz="1200" b="0" kern="1200" dirty="0">
                <a:solidFill>
                  <a:schemeClr val="tx1"/>
                </a:solidFill>
                <a:effectLst/>
                <a:latin typeface="+mn-lt"/>
                <a:ea typeface="+mn-ea"/>
                <a:cs typeface="+mn-cs"/>
              </a:rPr>
              <a:t>still. </a:t>
            </a:r>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46</a:t>
            </a:fld>
            <a:endParaRPr lang="en-US"/>
          </a:p>
        </p:txBody>
      </p:sp>
    </p:spTree>
    <p:extLst>
      <p:ext uri="{BB962C8B-B14F-4D97-AF65-F5344CB8AC3E}">
        <p14:creationId xmlns:p14="http://schemas.microsoft.com/office/powerpoint/2010/main" val="1826358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have four workers and four </a:t>
            </a:r>
            <a:r>
              <a:rPr lang="en-US" sz="1200" kern="1200" dirty="0">
                <a:solidFill>
                  <a:schemeClr val="tx1"/>
                </a:solidFill>
                <a:latin typeface="+mn-lt"/>
                <a:ea typeface="+mn-ea"/>
                <a:cs typeface="+mn-cs"/>
              </a:rPr>
              <a:t>Nest</a:t>
            </a:r>
            <a:r>
              <a:rPr lang="en-US" dirty="0"/>
              <a:t> objects. </a:t>
            </a:r>
          </a:p>
          <a:p>
            <a:r>
              <a:rPr lang="en-US" dirty="0"/>
              <a:t>Each worker increments only its own atomic counter. </a:t>
            </a:r>
          </a:p>
          <a:p>
            <a:r>
              <a:rPr lang="en-US" dirty="0"/>
              <a:t>No state is shared at the C++ object level, and there is no data race</a:t>
            </a:r>
          </a:p>
        </p:txBody>
      </p:sp>
      <p:sp>
        <p:nvSpPr>
          <p:cNvPr id="4" name="Slide Number Placeholder 3"/>
          <p:cNvSpPr>
            <a:spLocks noGrp="1"/>
          </p:cNvSpPr>
          <p:nvPr>
            <p:ph type="sldNum" sz="quarter" idx="5"/>
          </p:nvPr>
        </p:nvSpPr>
        <p:spPr/>
        <p:txBody>
          <a:bodyPr/>
          <a:lstStyle/>
          <a:p>
            <a:fld id="{B63B2EA1-C2D6-44B7-A9F5-02BE58F1EB01}" type="slidenum">
              <a:rPr lang="en-US" smtClean="0"/>
              <a:t>47</a:t>
            </a:fld>
            <a:endParaRPr lang="en-US"/>
          </a:p>
        </p:txBody>
      </p:sp>
    </p:spTree>
    <p:extLst>
      <p:ext uri="{BB962C8B-B14F-4D97-AF65-F5344CB8AC3E}">
        <p14:creationId xmlns:p14="http://schemas.microsoft.com/office/powerpoint/2010/main" val="24975585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result is correct, yet two workers take longer than other two. </a:t>
            </a:r>
          </a:p>
          <a:p>
            <a:r>
              <a:rPr lang="en-US" dirty="0"/>
              <a:t>If they never touch each other’s objects, what are they still sharing?</a:t>
            </a:r>
          </a:p>
        </p:txBody>
      </p:sp>
      <p:sp>
        <p:nvSpPr>
          <p:cNvPr id="4" name="Slide Number Placeholder 3"/>
          <p:cNvSpPr>
            <a:spLocks noGrp="1"/>
          </p:cNvSpPr>
          <p:nvPr>
            <p:ph type="sldNum" sz="quarter" idx="5"/>
          </p:nvPr>
        </p:nvSpPr>
        <p:spPr/>
        <p:txBody>
          <a:bodyPr/>
          <a:lstStyle/>
          <a:p>
            <a:fld id="{B63B2EA1-C2D6-44B7-A9F5-02BE58F1EB01}" type="slidenum">
              <a:rPr lang="en-US" smtClean="0"/>
              <a:t>48</a:t>
            </a:fld>
            <a:endParaRPr lang="en-US"/>
          </a:p>
        </p:txBody>
      </p:sp>
    </p:spTree>
    <p:extLst>
      <p:ext uri="{BB962C8B-B14F-4D97-AF65-F5344CB8AC3E}">
        <p14:creationId xmlns:p14="http://schemas.microsoft.com/office/powerpoint/2010/main" val="36201470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problem is, that the middle birds sits on the same branch.</a:t>
            </a:r>
          </a:p>
          <a:p>
            <a:r>
              <a:rPr lang="en-US" sz="1200" b="0" kern="1200" dirty="0">
                <a:solidFill>
                  <a:schemeClr val="tx1"/>
                </a:solidFill>
                <a:effectLst/>
                <a:latin typeface="+mn-lt"/>
                <a:ea typeface="+mn-ea"/>
                <a:cs typeface="+mn-cs"/>
              </a:rPr>
              <a:t>In our </a:t>
            </a:r>
            <a:r>
              <a:rPr lang="en-US" sz="1200" b="0" kern="1200" dirty="0" err="1">
                <a:solidFill>
                  <a:schemeClr val="tx1"/>
                </a:solidFill>
                <a:effectLst/>
                <a:latin typeface="+mn-lt"/>
                <a:ea typeface="+mn-ea"/>
                <a:cs typeface="+mn-cs"/>
              </a:rPr>
              <a:t>c++</a:t>
            </a:r>
            <a:r>
              <a:rPr lang="en-US" sz="1200" b="0" kern="1200" dirty="0">
                <a:solidFill>
                  <a:schemeClr val="tx1"/>
                </a:solidFill>
                <a:effectLst/>
                <a:latin typeface="+mn-lt"/>
                <a:ea typeface="+mn-ea"/>
                <a:cs typeface="+mn-cs"/>
              </a:rPr>
              <a:t> terminology on a same cache line. Rings a bell?</a:t>
            </a:r>
          </a:p>
          <a:p>
            <a:r>
              <a:rPr lang="en-US" sz="1200" b="0" kern="1200" dirty="0">
                <a:solidFill>
                  <a:schemeClr val="tx1"/>
                </a:solidFill>
                <a:effectLst/>
                <a:latin typeface="+mn-lt"/>
                <a:ea typeface="+mn-ea"/>
                <a:cs typeface="+mn-cs"/>
              </a:rPr>
              <a:t>memory is </a:t>
            </a:r>
            <a:r>
              <a:rPr lang="en-US" sz="1200" b="0" kern="1200" dirty="0" err="1">
                <a:solidFill>
                  <a:schemeClr val="tx1"/>
                </a:solidFill>
                <a:effectLst/>
                <a:latin typeface="+mn-lt"/>
                <a:ea typeface="+mn-ea"/>
                <a:cs typeface="+mn-cs"/>
              </a:rPr>
              <a:t>chaced</a:t>
            </a:r>
            <a:r>
              <a:rPr lang="en-US" sz="1200" b="0" kern="1200" dirty="0">
                <a:solidFill>
                  <a:schemeClr val="tx1"/>
                </a:solidFill>
                <a:effectLst/>
                <a:latin typeface="+mn-lt"/>
                <a:ea typeface="+mn-ea"/>
                <a:cs typeface="+mn-cs"/>
              </a:rPr>
              <a:t> by whole lines - commonly 64 bytes. If two hot counters</a:t>
            </a:r>
          </a:p>
          <a:p>
            <a:r>
              <a:rPr lang="en-US" sz="1200" b="0" kern="1200" dirty="0">
                <a:solidFill>
                  <a:schemeClr val="tx1"/>
                </a:solidFill>
                <a:effectLst/>
                <a:latin typeface="+mn-lt"/>
                <a:ea typeface="+mn-ea"/>
                <a:cs typeface="+mn-cs"/>
              </a:rPr>
              <a:t>sit in the same line, every write invalidates the other core’s copy of the</a:t>
            </a:r>
          </a:p>
          <a:p>
            <a:r>
              <a:rPr lang="en-US" sz="1200" b="0" i="1" kern="1200" dirty="0">
                <a:solidFill>
                  <a:schemeClr val="tx1"/>
                </a:solidFill>
                <a:effectLst/>
                <a:latin typeface="+mn-lt"/>
                <a:ea typeface="+mn-ea"/>
                <a:cs typeface="+mn-cs"/>
              </a:rPr>
              <a:t>*whole*</a:t>
            </a:r>
            <a:r>
              <a:rPr lang="en-US" sz="1200" b="0" kern="1200" dirty="0">
                <a:solidFill>
                  <a:schemeClr val="tx1"/>
                </a:solidFill>
                <a:effectLst/>
                <a:latin typeface="+mn-lt"/>
                <a:ea typeface="+mn-ea"/>
                <a:cs typeface="+mn-cs"/>
              </a:rPr>
              <a:t> line, even though the `Nest` objects are distinct.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Here the middle nests shares a line. </a:t>
            </a:r>
          </a:p>
          <a:p>
            <a:r>
              <a:rPr lang="en-US" dirty="0"/>
              <a:t>When one core writes its counter, it invalidates the other core’s copy of the whole line. </a:t>
            </a:r>
          </a:p>
          <a:p>
            <a:endParaRPr lang="en-US" dirty="0"/>
          </a:p>
          <a:p>
            <a:r>
              <a:rPr lang="en-US" dirty="0"/>
              <a:t>The line bounces between cores although the counters are logically independent. That is false sharing</a:t>
            </a:r>
          </a:p>
        </p:txBody>
      </p:sp>
      <p:sp>
        <p:nvSpPr>
          <p:cNvPr id="4" name="Slide Number Placeholder 3"/>
          <p:cNvSpPr>
            <a:spLocks noGrp="1"/>
          </p:cNvSpPr>
          <p:nvPr>
            <p:ph type="sldNum" sz="quarter" idx="5"/>
          </p:nvPr>
        </p:nvSpPr>
        <p:spPr/>
        <p:txBody>
          <a:bodyPr/>
          <a:lstStyle/>
          <a:p>
            <a:fld id="{B63B2EA1-C2D6-44B7-A9F5-02BE58F1EB01}" type="slidenum">
              <a:rPr lang="en-US" smtClean="0"/>
              <a:t>49</a:t>
            </a:fld>
            <a:endParaRPr lang="en-US"/>
          </a:p>
        </p:txBody>
      </p:sp>
    </p:spTree>
    <p:extLst>
      <p:ext uri="{BB962C8B-B14F-4D97-AF65-F5344CB8AC3E}">
        <p14:creationId xmlns:p14="http://schemas.microsoft.com/office/powerpoint/2010/main" val="41846323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slide uses `</a:t>
            </a:r>
            <a:r>
              <a:rPr lang="en-US" sz="1200" b="0" kern="1200" dirty="0" err="1">
                <a:solidFill>
                  <a:schemeClr val="tx1"/>
                </a:solidFill>
                <a:effectLst/>
                <a:latin typeface="+mn-lt"/>
                <a:ea typeface="+mn-ea"/>
                <a:cs typeface="+mn-cs"/>
              </a:rPr>
              <a:t>alignas</a:t>
            </a:r>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hardware_destructive_interference_size</a:t>
            </a:r>
            <a:r>
              <a:rPr lang="en-US" sz="1200" b="0" kern="1200" dirty="0">
                <a:solidFill>
                  <a:schemeClr val="tx1"/>
                </a:solidFill>
                <a:effectLst/>
                <a:latin typeface="+mn-lt"/>
                <a:ea typeface="+mn-ea"/>
                <a:cs typeface="+mn-cs"/>
              </a:rPr>
              <a:t>)` so each `Nest`</a:t>
            </a:r>
          </a:p>
          <a:p>
            <a:r>
              <a:rPr lang="en-US" sz="1200" b="0" kern="1200" dirty="0">
                <a:solidFill>
                  <a:schemeClr val="tx1"/>
                </a:solidFill>
                <a:effectLst/>
                <a:latin typeface="+mn-lt"/>
                <a:ea typeface="+mn-ea"/>
                <a:cs typeface="+mn-cs"/>
              </a:rPr>
              <a:t>is aligned to that implementation’s destructive size </a:t>
            </a:r>
          </a:p>
          <a:p>
            <a:r>
              <a:rPr lang="en-US" sz="1200" b="0" kern="1200" dirty="0">
                <a:solidFill>
                  <a:schemeClr val="tx1"/>
                </a:solidFill>
                <a:effectLst/>
                <a:latin typeface="+mn-lt"/>
                <a:ea typeface="+mn-ea"/>
                <a:cs typeface="+mn-cs"/>
              </a:rPr>
              <a:t>(Constructive interference size is for grouping data that </a:t>
            </a:r>
            <a:r>
              <a:rPr lang="en-US" sz="1200" b="0" i="1" kern="1200" dirty="0">
                <a:solidFill>
                  <a:schemeClr val="tx1"/>
                </a:solidFill>
                <a:effectLst/>
                <a:latin typeface="+mn-lt"/>
                <a:ea typeface="+mn-ea"/>
                <a:cs typeface="+mn-cs"/>
              </a:rPr>
              <a:t>*should*</a:t>
            </a:r>
            <a:r>
              <a:rPr lang="en-US" sz="1200" b="0" kern="1200" dirty="0">
                <a:solidFill>
                  <a:schemeClr val="tx1"/>
                </a:solidFill>
                <a:effectLst/>
                <a:latin typeface="+mn-lt"/>
                <a:ea typeface="+mn-ea"/>
                <a:cs typeface="+mn-cs"/>
              </a:rPr>
              <a:t> travel</a:t>
            </a:r>
          </a:p>
          <a:p>
            <a:r>
              <a:rPr lang="en-US" sz="1200" b="0" kern="1200" dirty="0">
                <a:solidFill>
                  <a:schemeClr val="tx1"/>
                </a:solidFill>
                <a:effectLst/>
                <a:latin typeface="+mn-lt"/>
                <a:ea typeface="+mn-ea"/>
                <a:cs typeface="+mn-cs"/>
              </a:rPr>
              <a:t>  together. Destructive is for keeping writers apart.). On a typical 64-byte</a:t>
            </a:r>
          </a:p>
          <a:p>
            <a:r>
              <a:rPr lang="en-US" sz="1200" b="0" kern="1200" dirty="0">
                <a:solidFill>
                  <a:schemeClr val="tx1"/>
                </a:solidFill>
                <a:effectLst/>
                <a:latin typeface="+mn-lt"/>
                <a:ea typeface="+mn-ea"/>
                <a:cs typeface="+mn-cs"/>
              </a:rPr>
              <a:t>implementation, array elements then occupy separate lines.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sprinkle</a:t>
            </a:r>
          </a:p>
          <a:p>
            <a:r>
              <a:rPr lang="en-US" sz="1200" b="0" kern="1200" dirty="0">
                <a:solidFill>
                  <a:schemeClr val="tx1"/>
                </a:solidFill>
                <a:effectLst/>
                <a:latin typeface="+mn-lt"/>
                <a:ea typeface="+mn-ea"/>
                <a:cs typeface="+mn-cs"/>
              </a:rPr>
              <a:t>this on every object: padding has its cost. Hot, small, densely packed</a:t>
            </a:r>
          </a:p>
          <a:p>
            <a:r>
              <a:rPr lang="en-US" sz="1200" b="0" kern="1200" dirty="0">
                <a:solidFill>
                  <a:schemeClr val="tx1"/>
                </a:solidFill>
                <a:effectLst/>
                <a:latin typeface="+mn-lt"/>
                <a:ea typeface="+mn-ea"/>
                <a:cs typeface="+mn-cs"/>
              </a:rPr>
              <a:t>writers are the usual suspects. Measure, change layout, measure again.</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50</a:t>
            </a:fld>
            <a:endParaRPr lang="en-US"/>
          </a:p>
        </p:txBody>
      </p:sp>
    </p:spTree>
    <p:extLst>
      <p:ext uri="{BB962C8B-B14F-4D97-AF65-F5344CB8AC3E}">
        <p14:creationId xmlns:p14="http://schemas.microsoft.com/office/powerpoint/2010/main" val="40366078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Correct does not mean scalable. Measure contention before replacing a clear</a:t>
            </a:r>
          </a:p>
          <a:p>
            <a:r>
              <a:rPr lang="en-US" sz="1200" b="0" kern="1200" dirty="0">
                <a:solidFill>
                  <a:schemeClr val="tx1"/>
                </a:solidFill>
                <a:effectLst/>
                <a:latin typeface="+mn-lt"/>
                <a:ea typeface="+mn-ea"/>
                <a:cs typeface="+mn-cs"/>
              </a:rPr>
              <a:t>design, keep lock scope aligned with the invariant, separate hot independent</a:t>
            </a:r>
          </a:p>
          <a:p>
            <a:r>
              <a:rPr lang="en-US" sz="1200" b="0" kern="1200" dirty="0">
                <a:solidFill>
                  <a:schemeClr val="tx1"/>
                </a:solidFill>
                <a:effectLst/>
                <a:latin typeface="+mn-lt"/>
                <a:ea typeface="+mn-ea"/>
                <a:cs typeface="+mn-cs"/>
              </a:rPr>
              <a:t>writes when measurements justify it, and compare with a simple baseline.</a:t>
            </a:r>
          </a:p>
          <a:p>
            <a:r>
              <a:rPr lang="en-US" sz="1200" b="0" kern="1200" dirty="0">
                <a:solidFill>
                  <a:schemeClr val="tx1"/>
                </a:solidFill>
                <a:effectLst/>
                <a:latin typeface="+mn-lt"/>
                <a:ea typeface="+mn-ea"/>
                <a:cs typeface="+mn-cs"/>
              </a:rPr>
              <a:t>Measure the machine, not the story in your head.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51</a:t>
            </a:fld>
            <a:endParaRPr lang="en-US"/>
          </a:p>
        </p:txBody>
      </p:sp>
    </p:spTree>
    <p:extLst>
      <p:ext uri="{BB962C8B-B14F-4D97-AF65-F5344CB8AC3E}">
        <p14:creationId xmlns:p14="http://schemas.microsoft.com/office/powerpoint/2010/main" val="2877960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We have reached the last enclosure. Nothing here races through an ordinary</a:t>
            </a:r>
          </a:p>
          <a:p>
            <a:r>
              <a:rPr lang="en-US" sz="1200" b="0" kern="1200" dirty="0">
                <a:solidFill>
                  <a:schemeClr val="tx1"/>
                </a:solidFill>
                <a:effectLst/>
                <a:latin typeface="+mn-lt"/>
                <a:ea typeface="+mn-ea"/>
                <a:cs typeface="+mn-cs"/>
              </a:rPr>
              <a:t>variable. No lock is forgotten. Every shared update can be atomic, and every</a:t>
            </a:r>
          </a:p>
          <a:p>
            <a:r>
              <a:rPr lang="en-US" sz="1200" b="0" kern="1200" dirty="0">
                <a:solidFill>
                  <a:schemeClr val="tx1"/>
                </a:solidFill>
                <a:effectLst/>
                <a:latin typeface="+mn-lt"/>
                <a:ea typeface="+mn-ea"/>
                <a:cs typeface="+mn-cs"/>
              </a:rPr>
              <a:t>comparison can tell the truth.</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Yet something still goes wrong.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Deep in this cave lives a creature that does not lie about what it sees. It</a:t>
            </a:r>
          </a:p>
          <a:p>
            <a:r>
              <a:rPr lang="en-US" sz="1200" b="0" kern="1200" dirty="0">
                <a:solidFill>
                  <a:schemeClr val="tx1"/>
                </a:solidFill>
                <a:effectLst/>
                <a:latin typeface="+mn-lt"/>
                <a:ea typeface="+mn-ea"/>
                <a:cs typeface="+mn-cs"/>
              </a:rPr>
              <a:t>waits until the world changes, puts the old face back, and lets us</a:t>
            </a:r>
          </a:p>
          <a:p>
            <a:r>
              <a:rPr lang="en-US" sz="1200" b="0" kern="1200" dirty="0">
                <a:solidFill>
                  <a:schemeClr val="tx1"/>
                </a:solidFill>
                <a:effectLst/>
                <a:latin typeface="+mn-lt"/>
                <a:ea typeface="+mn-ea"/>
                <a:cs typeface="+mn-cs"/>
              </a:rPr>
              <a:t>lie to ourselves about what that familiar face means.</a:t>
            </a:r>
          </a:p>
        </p:txBody>
      </p:sp>
      <p:sp>
        <p:nvSpPr>
          <p:cNvPr id="4" name="Slide Number Placeholder 3"/>
          <p:cNvSpPr>
            <a:spLocks noGrp="1"/>
          </p:cNvSpPr>
          <p:nvPr>
            <p:ph type="sldNum" sz="quarter" idx="5"/>
          </p:nvPr>
        </p:nvSpPr>
        <p:spPr/>
        <p:txBody>
          <a:bodyPr/>
          <a:lstStyle/>
          <a:p>
            <a:fld id="{B63B2EA1-C2D6-44B7-A9F5-02BE58F1EB01}" type="slidenum">
              <a:rPr lang="en-US" smtClean="0"/>
              <a:t>52</a:t>
            </a:fld>
            <a:endParaRPr lang="en-US"/>
          </a:p>
        </p:txBody>
      </p:sp>
    </p:spTree>
    <p:extLst>
      <p:ext uri="{BB962C8B-B14F-4D97-AF65-F5344CB8AC3E}">
        <p14:creationId xmlns:p14="http://schemas.microsoft.com/office/powerpoint/2010/main" val="33873028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Three headed dragon guards the gate. Two knights can attack only the</a:t>
            </a:r>
          </a:p>
          <a:p>
            <a:r>
              <a:rPr lang="en-US" sz="1200" b="0" kern="1200" dirty="0">
                <a:solidFill>
                  <a:schemeClr val="tx1"/>
                </a:solidFill>
                <a:effectLst/>
                <a:latin typeface="+mn-lt"/>
                <a:ea typeface="+mn-ea"/>
                <a:cs typeface="+mn-cs"/>
              </a:rPr>
              <a:t>head currently in front. Each knight looks at that head, remembers the one</a:t>
            </a:r>
          </a:p>
          <a:p>
            <a:r>
              <a:rPr lang="en-US" sz="1200" b="0" kern="1200" dirty="0">
                <a:solidFill>
                  <a:schemeClr val="tx1"/>
                </a:solidFill>
                <a:effectLst/>
                <a:latin typeface="+mn-lt"/>
                <a:ea typeface="+mn-ea"/>
                <a:cs typeface="+mn-cs"/>
              </a:rPr>
              <a:t>behind it, and prepares one clean atomic cut.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ABA Dragon has one spell. Cut away a head, fight on, and eventually an old</a:t>
            </a:r>
          </a:p>
          <a:p>
            <a:r>
              <a:rPr lang="en-US" sz="1200" b="0" kern="1200" dirty="0">
                <a:solidFill>
                  <a:schemeClr val="tx1"/>
                </a:solidFill>
                <a:effectLst/>
                <a:latin typeface="+mn-lt"/>
                <a:ea typeface="+mn-ea"/>
                <a:cs typeface="+mn-cs"/>
              </a:rPr>
              <a:t>head may grow back. To a tired knight it looks like the same head he has seen before. </a:t>
            </a:r>
          </a:p>
          <a:p>
            <a:r>
              <a:rPr lang="en-US" sz="1200" b="0" kern="1200" dirty="0">
                <a:solidFill>
                  <a:schemeClr val="tx1"/>
                </a:solidFill>
                <a:effectLst/>
                <a:latin typeface="+mn-lt"/>
                <a:ea typeface="+mn-ea"/>
                <a:cs typeface="+mn-cs"/>
              </a:rPr>
              <a:t>But the battle behind that face has moved 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is the promise of this final story: first the knights' atomic swords work</a:t>
            </a:r>
          </a:p>
          <a:p>
            <a:r>
              <a:rPr lang="en-US" sz="1200" b="0" kern="1200" dirty="0">
                <a:solidFill>
                  <a:schemeClr val="tx1"/>
                </a:solidFill>
                <a:effectLst/>
                <a:latin typeface="+mn-lt"/>
                <a:ea typeface="+mn-ea"/>
                <a:cs typeface="+mn-cs"/>
              </a:rPr>
              <a:t>exactly as designed. Then the Dragon gives one of them a perfectly truthful,</a:t>
            </a:r>
          </a:p>
          <a:p>
            <a:r>
              <a:rPr lang="en-US" sz="1200" b="0" kern="1200" dirty="0">
                <a:solidFill>
                  <a:schemeClr val="tx1"/>
                </a:solidFill>
                <a:effectLst/>
                <a:latin typeface="+mn-lt"/>
                <a:ea typeface="+mn-ea"/>
                <a:cs typeface="+mn-cs"/>
              </a:rPr>
              <a:t>fatally incomplete answer.</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53</a:t>
            </a:fld>
            <a:endParaRPr lang="en-US"/>
          </a:p>
        </p:txBody>
      </p:sp>
    </p:spTree>
    <p:extLst>
      <p:ext uri="{BB962C8B-B14F-4D97-AF65-F5344CB8AC3E}">
        <p14:creationId xmlns:p14="http://schemas.microsoft.com/office/powerpoint/2010/main" val="168568567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Here is the sword. `</a:t>
            </a:r>
            <a:r>
              <a:rPr lang="en-US" sz="1200" b="0" kern="1200" dirty="0" err="1">
                <a:solidFill>
                  <a:schemeClr val="tx1"/>
                </a:solidFill>
                <a:effectLst/>
                <a:latin typeface="+mn-lt"/>
                <a:ea typeface="+mn-ea"/>
                <a:cs typeface="+mn-cs"/>
              </a:rPr>
              <a:t>old_head</a:t>
            </a:r>
            <a:r>
              <a:rPr lang="en-US" sz="1200" b="0" kern="1200" dirty="0">
                <a:solidFill>
                  <a:schemeClr val="tx1"/>
                </a:solidFill>
                <a:effectLst/>
                <a:latin typeface="+mn-lt"/>
                <a:ea typeface="+mn-ea"/>
                <a:cs typeface="+mn-cs"/>
              </a:rPr>
              <a:t>` is the head the knight saw; </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next_head</a:t>
            </a:r>
            <a:r>
              <a:rPr lang="en-US" sz="1200" b="0" kern="1200" dirty="0">
                <a:solidFill>
                  <a:schemeClr val="tx1"/>
                </a:solidFill>
                <a:effectLst/>
                <a:latin typeface="+mn-lt"/>
                <a:ea typeface="+mn-ea"/>
                <a:cs typeface="+mn-cs"/>
              </a:rPr>
              <a:t>` is the head it intends to expose after the cut. </a:t>
            </a:r>
          </a:p>
          <a:p>
            <a:r>
              <a:rPr lang="en-US" sz="1200" b="0" kern="1200" dirty="0">
                <a:solidFill>
                  <a:schemeClr val="tx1"/>
                </a:solidFill>
                <a:effectLst/>
                <a:latin typeface="+mn-lt"/>
                <a:ea typeface="+mn-ea"/>
                <a:cs typeface="+mn-cs"/>
              </a:rPr>
              <a:t>Compare-and-swap asks one narrow</a:t>
            </a:r>
          </a:p>
          <a:p>
            <a:r>
              <a:rPr lang="en-US" sz="1200" b="0" kern="1200" dirty="0">
                <a:solidFill>
                  <a:schemeClr val="tx1"/>
                </a:solidFill>
                <a:effectLst/>
                <a:latin typeface="+mn-lt"/>
                <a:ea typeface="+mn-ea"/>
                <a:cs typeface="+mn-cs"/>
              </a:rPr>
              <a:t>question: “Is the gate still guarded by `</a:t>
            </a:r>
            <a:r>
              <a:rPr lang="en-US" sz="1200" b="0" kern="1200" dirty="0" err="1">
                <a:solidFill>
                  <a:schemeClr val="tx1"/>
                </a:solidFill>
                <a:effectLst/>
                <a:latin typeface="+mn-lt"/>
                <a:ea typeface="+mn-ea"/>
                <a:cs typeface="+mn-cs"/>
              </a:rPr>
              <a:t>old_head</a:t>
            </a:r>
            <a:r>
              <a:rPr lang="en-US" sz="1200" b="0" kern="1200" dirty="0">
                <a:solidFill>
                  <a:schemeClr val="tx1"/>
                </a:solidFill>
                <a:effectLst/>
                <a:latin typeface="+mn-lt"/>
                <a:ea typeface="+mn-ea"/>
                <a:cs typeface="+mn-cs"/>
              </a:rPr>
              <a: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yes, it replaces that pointer with `</a:t>
            </a:r>
            <a:r>
              <a:rPr lang="en-US" sz="1200" b="0" kern="1200" dirty="0" err="1">
                <a:solidFill>
                  <a:schemeClr val="tx1"/>
                </a:solidFill>
                <a:effectLst/>
                <a:latin typeface="+mn-lt"/>
                <a:ea typeface="+mn-ea"/>
                <a:cs typeface="+mn-cs"/>
              </a:rPr>
              <a:t>next_head</a:t>
            </a:r>
            <a:r>
              <a:rPr lang="en-US" sz="1200" b="0" kern="1200" dirty="0">
                <a:solidFill>
                  <a:schemeClr val="tx1"/>
                </a:solidFill>
                <a:effectLst/>
                <a:latin typeface="+mn-lt"/>
                <a:ea typeface="+mn-ea"/>
                <a:cs typeface="+mn-cs"/>
              </a:rPr>
              <a:t>` in one indivisible action.</a:t>
            </a:r>
          </a:p>
          <a:p>
            <a:r>
              <a:rPr lang="en-US" sz="1200" b="0" kern="1200" dirty="0">
                <a:solidFill>
                  <a:schemeClr val="tx1"/>
                </a:solidFill>
                <a:effectLst/>
                <a:latin typeface="+mn-lt"/>
                <a:ea typeface="+mn-ea"/>
                <a:cs typeface="+mn-cs"/>
              </a:rPr>
              <a:t>If no, it refuses the cut and writes the actual current head back into</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old_head</a:t>
            </a:r>
            <a:r>
              <a:rPr lang="en-US" sz="1200" b="0" kern="1200" dirty="0">
                <a:solidFill>
                  <a:schemeClr val="tx1"/>
                </a:solidFill>
                <a:effectLst/>
                <a:latin typeface="+mn-lt"/>
                <a:ea typeface="+mn-ea"/>
                <a:cs typeface="+mn-cs"/>
              </a:rPr>
              <a:t>`. Nothing is half changed. No update is lost. In this one-attempt</a:t>
            </a:r>
          </a:p>
          <a:p>
            <a:r>
              <a:rPr lang="en-US" sz="1200" b="0" kern="1200" dirty="0">
                <a:solidFill>
                  <a:schemeClr val="tx1"/>
                </a:solidFill>
                <a:effectLst/>
                <a:latin typeface="+mn-lt"/>
                <a:ea typeface="+mn-ea"/>
                <a:cs typeface="+mn-cs"/>
              </a:rPr>
              <a:t>version the function returns `</a:t>
            </a:r>
            <a:r>
              <a:rPr lang="en-US" sz="1200" b="0" kern="1200" dirty="0" err="1">
                <a:solidFill>
                  <a:schemeClr val="tx1"/>
                </a:solidFill>
                <a:effectLst/>
                <a:latin typeface="+mn-lt"/>
                <a:ea typeface="+mn-ea"/>
                <a:cs typeface="+mn-cs"/>
              </a:rPr>
              <a:t>nullptr</a:t>
            </a:r>
            <a:r>
              <a:rPr lang="en-US" sz="1200" b="0" kern="1200" dirty="0">
                <a:solidFill>
                  <a:schemeClr val="tx1"/>
                </a:solidFill>
                <a:effectLst/>
                <a:latin typeface="+mn-lt"/>
                <a:ea typeface="+mn-ea"/>
                <a:cs typeface="+mn-cs"/>
              </a:rPr>
              <a:t>`; a caller that still wants a head can</a:t>
            </a:r>
          </a:p>
          <a:p>
            <a:r>
              <a:rPr lang="en-US" sz="1200" b="0" kern="1200" dirty="0">
                <a:solidFill>
                  <a:schemeClr val="tx1"/>
                </a:solidFill>
                <a:effectLst/>
                <a:latin typeface="+mn-lt"/>
                <a:ea typeface="+mn-ea"/>
                <a:cs typeface="+mn-cs"/>
              </a:rPr>
              <a:t>begin another attempt with a fresh snapshot.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sounds like a strong </a:t>
            </a:r>
            <a:r>
              <a:rPr lang="en-US" sz="1200" b="0" kern="1200" dirty="0" err="1">
                <a:solidFill>
                  <a:schemeClr val="tx1"/>
                </a:solidFill>
                <a:effectLst/>
                <a:latin typeface="+mn-lt"/>
                <a:ea typeface="+mn-ea"/>
                <a:cs typeface="+mn-cs"/>
              </a:rPr>
              <a:t>defence</a:t>
            </a:r>
            <a:r>
              <a:rPr lang="en-US" sz="1200" b="0" kern="1200" dirty="0">
                <a:solidFill>
                  <a:schemeClr val="tx1"/>
                </a:solidFill>
                <a:effectLst/>
                <a:latin typeface="+mn-lt"/>
                <a:ea typeface="+mn-ea"/>
                <a:cs typeface="+mn-cs"/>
              </a:rPr>
              <a:t> — and against an ordinary collision, it is.</a:t>
            </a:r>
          </a:p>
          <a:p>
            <a:r>
              <a:rPr lang="en-US" sz="1200" b="0" kern="1200" dirty="0">
                <a:solidFill>
                  <a:schemeClr val="tx1"/>
                </a:solidFill>
                <a:effectLst/>
                <a:latin typeface="+mn-lt"/>
                <a:ea typeface="+mn-ea"/>
                <a:cs typeface="+mn-cs"/>
              </a:rPr>
              <a:t>But the sword compares pointer values, not histories. It can prove “the</a:t>
            </a:r>
          </a:p>
          <a:p>
            <a:r>
              <a:rPr lang="en-US" sz="1200" b="0" kern="1200" dirty="0">
                <a:solidFill>
                  <a:schemeClr val="tx1"/>
                </a:solidFill>
                <a:effectLst/>
                <a:latin typeface="+mn-lt"/>
                <a:ea typeface="+mn-ea"/>
                <a:cs typeface="+mn-cs"/>
              </a:rPr>
              <a:t>value is B now.” It cannot prove “B never left.”</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54</a:t>
            </a:fld>
            <a:endParaRPr lang="en-US"/>
          </a:p>
        </p:txBody>
      </p:sp>
    </p:spTree>
    <p:extLst>
      <p:ext uri="{BB962C8B-B14F-4D97-AF65-F5344CB8AC3E}">
        <p14:creationId xmlns:p14="http://schemas.microsoft.com/office/powerpoint/2010/main" val="204286107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Dragon in its full strength has all 3 heads. Both knights inspect the same front head,</a:t>
            </a:r>
          </a:p>
          <a:p>
            <a:r>
              <a:rPr lang="en-US" sz="1200" b="0" kern="1200" dirty="0">
                <a:solidFill>
                  <a:schemeClr val="tx1"/>
                </a:solidFill>
                <a:effectLst/>
                <a:latin typeface="+mn-lt"/>
                <a:ea typeface="+mn-ea"/>
                <a:cs typeface="+mn-cs"/>
              </a:rPr>
              <a:t>and both remember the one behind it. In code, both hold the same honest snapshot:</a:t>
            </a: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old_head</a:t>
            </a:r>
            <a:r>
              <a:rPr lang="en-US" sz="1200" b="0" kern="1200" dirty="0">
                <a:solidFill>
                  <a:schemeClr val="tx1"/>
                </a:solidFill>
                <a:effectLst/>
                <a:latin typeface="+mn-lt"/>
                <a:ea typeface="+mn-ea"/>
                <a:cs typeface="+mn-cs"/>
              </a:rPr>
              <a:t> = A`, `</a:t>
            </a:r>
            <a:r>
              <a:rPr lang="en-US" sz="1200" b="0" kern="1200" dirty="0" err="1">
                <a:solidFill>
                  <a:schemeClr val="tx1"/>
                </a:solidFill>
                <a:effectLst/>
                <a:latin typeface="+mn-lt"/>
                <a:ea typeface="+mn-ea"/>
                <a:cs typeface="+mn-cs"/>
              </a:rPr>
              <a:t>next_head</a:t>
            </a:r>
            <a:r>
              <a:rPr lang="en-US" sz="1200" b="0" kern="1200" dirty="0">
                <a:solidFill>
                  <a:schemeClr val="tx1"/>
                </a:solidFill>
                <a:effectLst/>
                <a:latin typeface="+mn-lt"/>
                <a:ea typeface="+mn-ea"/>
                <a:cs typeface="+mn-cs"/>
              </a:rPr>
              <a:t> = B`.</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Knight Two hesitates. Knight One raises the sword.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55</a:t>
            </a:fld>
            <a:endParaRPr lang="en-US"/>
          </a:p>
        </p:txBody>
      </p:sp>
    </p:spTree>
    <p:extLst>
      <p:ext uri="{BB962C8B-B14F-4D97-AF65-F5344CB8AC3E}">
        <p14:creationId xmlns:p14="http://schemas.microsoft.com/office/powerpoint/2010/main" val="133595623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Knight One strikes first. The front head is still exactly as remembered, so</a:t>
            </a:r>
          </a:p>
          <a:p>
            <a:r>
              <a:rPr lang="en-US" sz="1200" b="0" kern="1200" dirty="0">
                <a:solidFill>
                  <a:schemeClr val="tx1"/>
                </a:solidFill>
                <a:effectLst/>
                <a:latin typeface="+mn-lt"/>
                <a:ea typeface="+mn-ea"/>
                <a:cs typeface="+mn-cs"/>
              </a:rPr>
              <a:t>the atomic cut succeeds. A leaves the next head becomes the front head.</a:t>
            </a:r>
          </a:p>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B63B2EA1-C2D6-44B7-A9F5-02BE58F1EB01}" type="slidenum">
              <a:rPr lang="en-US" smtClean="0"/>
              <a:t>56</a:t>
            </a:fld>
            <a:endParaRPr lang="en-US"/>
          </a:p>
        </p:txBody>
      </p:sp>
    </p:spTree>
    <p:extLst>
      <p:ext uri="{BB962C8B-B14F-4D97-AF65-F5344CB8AC3E}">
        <p14:creationId xmlns:p14="http://schemas.microsoft.com/office/powerpoint/2010/main" val="12852720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Knight Two swings with the old plan. The sword checks the head,</a:t>
            </a:r>
          </a:p>
          <a:p>
            <a:r>
              <a:rPr lang="en-US" sz="1200" b="0" kern="1200" dirty="0">
                <a:solidFill>
                  <a:schemeClr val="tx1"/>
                </a:solidFill>
                <a:effectLst/>
                <a:latin typeface="+mn-lt"/>
                <a:ea typeface="+mn-ea"/>
                <a:cs typeface="+mn-cs"/>
              </a:rPr>
              <a:t>finds different one in front and refuses. This is not the monster escaping. This is</a:t>
            </a:r>
          </a:p>
          <a:p>
            <a:r>
              <a:rPr lang="en-US" sz="1200" b="0" kern="1200" dirty="0">
                <a:solidFill>
                  <a:schemeClr val="tx1"/>
                </a:solidFill>
                <a:effectLst/>
                <a:latin typeface="+mn-lt"/>
                <a:ea typeface="+mn-ea"/>
                <a:cs typeface="+mn-cs"/>
              </a:rPr>
              <a:t>compare-and-swap saving us from a stale decision.</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failed comparison also hands Knight Two the new value of current front head. The knight has learned that the battlefield moved.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Knight Two is not defeated; one lost attempt is normal in a lock-free</a:t>
            </a:r>
          </a:p>
          <a:p>
            <a:r>
              <a:rPr lang="en-US" sz="1200" b="0" kern="1200" dirty="0">
                <a:solidFill>
                  <a:schemeClr val="tx1"/>
                </a:solidFill>
                <a:effectLst/>
                <a:latin typeface="+mn-lt"/>
                <a:ea typeface="+mn-ea"/>
                <a:cs typeface="+mn-cs"/>
              </a:rPr>
              <a:t>algorithm. The knight looks again. Second head now guards the gate and third stands behind</a:t>
            </a:r>
          </a:p>
          <a:p>
            <a:r>
              <a:rPr lang="en-US" sz="1200" b="0" kern="1200" dirty="0">
                <a:solidFill>
                  <a:schemeClr val="tx1"/>
                </a:solidFill>
                <a:effectLst/>
                <a:latin typeface="+mn-lt"/>
                <a:ea typeface="+mn-ea"/>
                <a:cs typeface="+mn-cs"/>
              </a:rPr>
              <a:t>it, so the fresh plan is B-to-C.</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Knight Two keeps fighting and cuts second away. The Dragon now shows only the last head. </a:t>
            </a:r>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57</a:t>
            </a:fld>
            <a:endParaRPr lang="en-US"/>
          </a:p>
        </p:txBody>
      </p:sp>
    </p:spTree>
    <p:extLst>
      <p:ext uri="{BB962C8B-B14F-4D97-AF65-F5344CB8AC3E}">
        <p14:creationId xmlns:p14="http://schemas.microsoft.com/office/powerpoint/2010/main" val="43085251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Knight Two does not stop. Last head is cut away too, and for a moment the Dragon has no heads at all.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Knight One is still frozen in the past, holding old snapshot in mind. The empty</a:t>
            </a:r>
          </a:p>
          <a:p>
            <a:r>
              <a:rPr lang="en-US" sz="1200" b="0" kern="1200" dirty="0">
                <a:solidFill>
                  <a:schemeClr val="tx1"/>
                </a:solidFill>
                <a:effectLst/>
                <a:latin typeface="+mn-lt"/>
                <a:ea typeface="+mn-ea"/>
                <a:cs typeface="+mn-cs"/>
              </a:rPr>
              <a:t>neck and the thought bubble now tell different stories. That difference is the</a:t>
            </a:r>
          </a:p>
          <a:p>
            <a:r>
              <a:rPr lang="en-US" sz="1200" b="0" kern="1200" dirty="0">
                <a:solidFill>
                  <a:schemeClr val="tx1"/>
                </a:solidFill>
                <a:effectLst/>
                <a:latin typeface="+mn-lt"/>
                <a:ea typeface="+mn-ea"/>
                <a:cs typeface="+mn-cs"/>
              </a:rPr>
              <a:t>tension: the knight's plan is stale, but compare-and-swap would still reject</a:t>
            </a:r>
          </a:p>
          <a:p>
            <a:r>
              <a:rPr lang="en-US" sz="1200" b="0" kern="1200" dirty="0">
                <a:solidFill>
                  <a:schemeClr val="tx1"/>
                </a:solidFill>
                <a:effectLst/>
                <a:latin typeface="+mn-lt"/>
                <a:ea typeface="+mn-ea"/>
                <a:cs typeface="+mn-cs"/>
              </a:rPr>
              <a:t>it because the actual head is not what he remembers.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Then, from the empty neck, second head regrows.</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58</a:t>
            </a:fld>
            <a:endParaRPr lang="en-US"/>
          </a:p>
        </p:txBody>
      </p:sp>
    </p:spTree>
    <p:extLst>
      <p:ext uri="{BB962C8B-B14F-4D97-AF65-F5344CB8AC3E}">
        <p14:creationId xmlns:p14="http://schemas.microsoft.com/office/powerpoint/2010/main" val="37182295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Knight One wakes holding the old story, `B -&gt; C`. The sword looks only at the</a:t>
            </a:r>
          </a:p>
          <a:p>
            <a:r>
              <a:rPr lang="en-US" sz="1200" b="0" kern="1200" dirty="0">
                <a:solidFill>
                  <a:schemeClr val="tx1"/>
                </a:solidFill>
                <a:effectLst/>
                <a:latin typeface="+mn-lt"/>
                <a:ea typeface="+mn-ea"/>
                <a:cs typeface="+mn-cs"/>
              </a:rPr>
              <a:t>front head. And it matches to his memories, so compare-and-swap truthfully says yes.</a:t>
            </a:r>
          </a:p>
          <a:p>
            <a:r>
              <a:rPr lang="en-US" sz="1200" b="0" kern="1200" dirty="0">
                <a:solidFill>
                  <a:schemeClr val="tx1"/>
                </a:solidFill>
                <a:effectLst/>
                <a:latin typeface="+mn-lt"/>
                <a:ea typeface="+mn-ea"/>
                <a:cs typeface="+mn-cs"/>
              </a:rPr>
              <a:t>It cuts second head and installs the remembered last head address.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And there is the Dragon's escape. The comparison was atomic. The equality was</a:t>
            </a:r>
          </a:p>
          <a:p>
            <a:r>
              <a:rPr lang="en-US" sz="1200" b="0" kern="1200" dirty="0">
                <a:solidFill>
                  <a:schemeClr val="tx1"/>
                </a:solidFill>
                <a:effectLst/>
                <a:latin typeface="+mn-lt"/>
                <a:ea typeface="+mn-ea"/>
                <a:cs typeface="+mn-cs"/>
              </a:rPr>
              <a:t>real. But last head came from a dead history. A head that had lost the battle has been used again as the head pointer. </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the knight trusts the restored head and tries another pop </a:t>
            </a:r>
          </a:p>
          <a:p>
            <a:r>
              <a:rPr lang="en-US" sz="1200" b="0" kern="1200" dirty="0">
                <a:solidFill>
                  <a:schemeClr val="tx1"/>
                </a:solidFill>
                <a:effectLst/>
                <a:latin typeface="+mn-lt"/>
                <a:ea typeface="+mn-ea"/>
                <a:cs typeface="+mn-cs"/>
              </a:rPr>
              <a:t>which summons the address of the last head, which is already buried. That dereference is use-after-lifetime UB.</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the name makes sense: A was observed, B happened while nobody was watching, and A was returned at the end.</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59</a:t>
            </a:fld>
            <a:endParaRPr lang="en-US"/>
          </a:p>
        </p:txBody>
      </p:sp>
    </p:spTree>
    <p:extLst>
      <p:ext uri="{BB962C8B-B14F-4D97-AF65-F5344CB8AC3E}">
        <p14:creationId xmlns:p14="http://schemas.microsoft.com/office/powerpoint/2010/main" val="6447368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card records the Dragon's habitat: algorithms that treat the same pointer</a:t>
            </a:r>
          </a:p>
          <a:p>
            <a:r>
              <a:rPr lang="en-US" sz="1200" b="0" kern="1200" dirty="0">
                <a:solidFill>
                  <a:schemeClr val="tx1"/>
                </a:solidFill>
                <a:effectLst/>
                <a:latin typeface="+mn-lt"/>
                <a:ea typeface="+mn-ea"/>
                <a:cs typeface="+mn-cs"/>
              </a:rPr>
              <a:t>value as proof that nothing relevant changed. </a:t>
            </a:r>
          </a:p>
          <a:p>
            <a:r>
              <a:rPr lang="en-US" sz="1200" b="0" kern="1200" dirty="0">
                <a:solidFill>
                  <a:schemeClr val="tx1"/>
                </a:solidFill>
                <a:effectLst/>
                <a:latin typeface="+mn-lt"/>
                <a:ea typeface="+mn-ea"/>
                <a:cs typeface="+mn-cs"/>
              </a:rPr>
              <a:t>Its </a:t>
            </a:r>
            <a:r>
              <a:rPr lang="en-US" sz="1200" b="0" kern="1200" dirty="0" err="1">
                <a:solidFill>
                  <a:schemeClr val="tx1"/>
                </a:solidFill>
                <a:effectLst/>
                <a:latin typeface="+mn-lt"/>
                <a:ea typeface="+mn-ea"/>
                <a:cs typeface="+mn-cs"/>
              </a:rPr>
              <a:t>behaviour</a:t>
            </a:r>
            <a:r>
              <a:rPr lang="en-US" sz="1200" b="0" kern="1200" dirty="0">
                <a:solidFill>
                  <a:schemeClr val="tx1"/>
                </a:solidFill>
                <a:effectLst/>
                <a:latin typeface="+mn-lt"/>
                <a:ea typeface="+mn-ea"/>
                <a:cs typeface="+mn-cs"/>
              </a:rPr>
              <a:t> is the old face</a:t>
            </a:r>
          </a:p>
          <a:p>
            <a:r>
              <a:rPr lang="en-US" sz="1200" b="0" kern="1200" dirty="0">
                <a:solidFill>
                  <a:schemeClr val="tx1"/>
                </a:solidFill>
                <a:effectLst/>
                <a:latin typeface="+mn-lt"/>
                <a:ea typeface="+mn-ea"/>
                <a:cs typeface="+mn-cs"/>
              </a:rPr>
              <a:t>returning after the chain behind it moved. </a:t>
            </a:r>
          </a:p>
          <a:p>
            <a:r>
              <a:rPr lang="en-US" sz="1200" b="0" kern="1200" dirty="0">
                <a:solidFill>
                  <a:schemeClr val="tx1"/>
                </a:solidFill>
                <a:effectLst/>
                <a:latin typeface="+mn-lt"/>
                <a:ea typeface="+mn-ea"/>
                <a:cs typeface="+mn-cs"/>
              </a:rPr>
              <a:t>Its camouflage is perfect</a:t>
            </a:r>
          </a:p>
          <a:p>
            <a:r>
              <a:rPr lang="en-US" sz="1200" b="0" kern="1200" dirty="0">
                <a:solidFill>
                  <a:schemeClr val="tx1"/>
                </a:solidFill>
                <a:effectLst/>
                <a:latin typeface="+mn-lt"/>
                <a:ea typeface="+mn-ea"/>
                <a:cs typeface="+mn-cs"/>
              </a:rPr>
              <a:t>truthfulness: the atomic comparison really did see B equal B.</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How do we tame it? Start simple. If a mutex or a proven concurrent container meets the requirement, take that path. It is easier to explain, test, and maintain. Lock-free programming is more difficult than it looks like on first sight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Only follow the lock-free trail when measurement or a progress requirement</a:t>
            </a:r>
          </a:p>
          <a:p>
            <a:r>
              <a:rPr lang="en-US" sz="1200" b="0" kern="1200" dirty="0">
                <a:solidFill>
                  <a:schemeClr val="tx1"/>
                </a:solidFill>
                <a:effectLst/>
                <a:latin typeface="+mn-lt"/>
                <a:ea typeface="+mn-ea"/>
                <a:cs typeface="+mn-cs"/>
              </a:rPr>
              <a:t>demands it  and then follow a proven algorithm</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tagged or versioned heads help detect a</a:t>
            </a:r>
          </a:p>
          <a:p>
            <a:r>
              <a:rPr lang="en-US" sz="1200" b="0" kern="1200" dirty="0">
                <a:solidFill>
                  <a:schemeClr val="tx1"/>
                </a:solidFill>
                <a:effectLst/>
                <a:latin typeface="+mn-lt"/>
                <a:ea typeface="+mn-ea"/>
                <a:cs typeface="+mn-cs"/>
              </a:rPr>
              <a:t>returning identity; </a:t>
            </a:r>
          </a:p>
          <a:p>
            <a:r>
              <a:rPr lang="en-US" sz="1200" b="0" kern="1200" dirty="0">
                <a:solidFill>
                  <a:schemeClr val="tx1"/>
                </a:solidFill>
                <a:effectLst/>
                <a:latin typeface="+mn-lt"/>
                <a:ea typeface="+mn-ea"/>
                <a:cs typeface="+mn-cs"/>
              </a:rPr>
              <a:t>hazard pointers, epochs, and RCU(read-copy-update) help keep observed nodes from being reclaimed too early.</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Going deeper into those topics is way beyond the talk scope and the final beast is here mainly represent uglier and more advanced problems and show how little we actually covered now.</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simple lesson: use a known design that handles both identity and</a:t>
            </a:r>
          </a:p>
          <a:p>
            <a:r>
              <a:rPr lang="en-US" sz="1200" b="0" kern="1200" dirty="0">
                <a:solidFill>
                  <a:schemeClr val="tx1"/>
                </a:solidFill>
                <a:effectLst/>
                <a:latin typeface="+mn-lt"/>
                <a:ea typeface="+mn-ea"/>
                <a:cs typeface="+mn-cs"/>
              </a:rPr>
              <a:t>lifetime, or step back to the mutex.</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60</a:t>
            </a:fld>
            <a:endParaRPr lang="en-US"/>
          </a:p>
        </p:txBody>
      </p:sp>
    </p:spTree>
    <p:extLst>
      <p:ext uri="{BB962C8B-B14F-4D97-AF65-F5344CB8AC3E}">
        <p14:creationId xmlns:p14="http://schemas.microsoft.com/office/powerpoint/2010/main" val="94830339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ABA Dragon is only a glimpse beyond the marked paths. There are proven ways to travel further, but advanced concurrency has more traps than one talk can</a:t>
            </a:r>
          </a:p>
          <a:p>
            <a:r>
              <a:rPr lang="en-US" sz="1200" b="0" kern="1200" dirty="0">
                <a:solidFill>
                  <a:schemeClr val="tx1"/>
                </a:solidFill>
                <a:effectLst/>
                <a:latin typeface="+mn-lt"/>
                <a:ea typeface="+mn-ea"/>
                <a:cs typeface="+mn-cs"/>
              </a:rPr>
              <a:t>cage. </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 the final zookeeper rule is not “never go there.” It is: prefer proven</a:t>
            </a:r>
          </a:p>
          <a:p>
            <a:r>
              <a:rPr lang="en-US" sz="1200" b="0" kern="1200" dirty="0">
                <a:solidFill>
                  <a:schemeClr val="tx1"/>
                </a:solidFill>
                <a:effectLst/>
                <a:latin typeface="+mn-lt"/>
                <a:ea typeface="+mn-ea"/>
                <a:cs typeface="+mn-cs"/>
              </a:rPr>
              <a:t>components over clever local inventions. Demand a measured reason — or a</a:t>
            </a:r>
          </a:p>
          <a:p>
            <a:r>
              <a:rPr lang="en-US" sz="1200" b="0" kern="1200" dirty="0">
                <a:solidFill>
                  <a:schemeClr val="tx1"/>
                </a:solidFill>
                <a:effectLst/>
                <a:latin typeface="+mn-lt"/>
                <a:ea typeface="+mn-ea"/>
                <a:cs typeface="+mn-cs"/>
              </a:rPr>
              <a:t>real progress requirement — before paying for this complexity. And if you</a:t>
            </a:r>
          </a:p>
          <a:p>
            <a:r>
              <a:rPr lang="en-US" sz="1200" b="0" kern="1200" dirty="0">
                <a:solidFill>
                  <a:schemeClr val="tx1"/>
                </a:solidFill>
                <a:effectLst/>
                <a:latin typeface="+mn-lt"/>
                <a:ea typeface="+mn-ea"/>
                <a:cs typeface="+mn-cs"/>
              </a:rPr>
              <a:t>cannot explain the guarantees, step back. A mutex is not surrender; often it</a:t>
            </a:r>
          </a:p>
          <a:p>
            <a:r>
              <a:rPr lang="en-US" sz="1200" b="0" kern="1200" dirty="0">
                <a:solidFill>
                  <a:schemeClr val="tx1"/>
                </a:solidFill>
                <a:effectLst/>
                <a:latin typeface="+mn-lt"/>
                <a:ea typeface="+mn-ea"/>
                <a:cs typeface="+mn-cs"/>
              </a:rPr>
              <a:t>is the design that lets the whole team sleep well.</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61</a:t>
            </a:fld>
            <a:endParaRPr lang="en-US"/>
          </a:p>
        </p:txBody>
      </p:sp>
    </p:spTree>
    <p:extLst>
      <p:ext uri="{BB962C8B-B14F-4D97-AF65-F5344CB8AC3E}">
        <p14:creationId xmlns:p14="http://schemas.microsoft.com/office/powerpoint/2010/main" val="32608320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the opening clues have names. Wrong counts came from shared</a:t>
            </a:r>
          </a:p>
          <a:p>
            <a:r>
              <a:rPr lang="en-US" sz="1200" b="0" kern="1200" dirty="0">
                <a:solidFill>
                  <a:schemeClr val="tx1"/>
                </a:solidFill>
                <a:effectLst/>
                <a:latin typeface="+mn-lt"/>
                <a:ea typeface="+mn-ea"/>
                <a:cs typeface="+mn-cs"/>
              </a:rPr>
              <a:t>read-modify-write. Crashes came from execution outliving data or from</a:t>
            </a:r>
          </a:p>
          <a:p>
            <a:r>
              <a:rPr lang="en-US" sz="1200" b="0" kern="1200" dirty="0">
                <a:solidFill>
                  <a:schemeClr val="tx1"/>
                </a:solidFill>
                <a:effectLst/>
                <a:latin typeface="+mn-lt"/>
                <a:ea typeface="+mn-ea"/>
                <a:cs typeface="+mn-cs"/>
              </a:rPr>
              <a:t>an empty hat pop. Silence came</a:t>
            </a:r>
          </a:p>
          <a:p>
            <a:r>
              <a:rPr lang="en-US" sz="1200" b="0" kern="1200" dirty="0">
                <a:solidFill>
                  <a:schemeClr val="tx1"/>
                </a:solidFill>
                <a:effectLst/>
                <a:latin typeface="+mn-lt"/>
                <a:ea typeface="+mn-ea"/>
                <a:cs typeface="+mn-cs"/>
              </a:rPr>
              <a:t>from waiting for the wrong fact, from lost wakeups, or from a</a:t>
            </a:r>
          </a:p>
          <a:p>
            <a:r>
              <a:rPr lang="en-US" sz="1200" b="0" kern="1200" dirty="0">
                <a:solidFill>
                  <a:schemeClr val="tx1"/>
                </a:solidFill>
                <a:effectLst/>
                <a:latin typeface="+mn-lt"/>
                <a:ea typeface="+mn-ea"/>
                <a:cs typeface="+mn-cs"/>
              </a:rPr>
              <a:t>broken progress policy: deadlock, </a:t>
            </a:r>
            <a:r>
              <a:rPr lang="en-US" sz="1200" b="0" kern="1200" dirty="0" err="1">
                <a:solidFill>
                  <a:schemeClr val="tx1"/>
                </a:solidFill>
                <a:effectLst/>
                <a:latin typeface="+mn-lt"/>
                <a:ea typeface="+mn-ea"/>
                <a:cs typeface="+mn-cs"/>
              </a:rPr>
              <a:t>livelock</a:t>
            </a:r>
            <a:r>
              <a:rPr lang="en-US" sz="1200" b="0" kern="1200" dirty="0">
                <a:solidFill>
                  <a:schemeClr val="tx1"/>
                </a:solidFill>
                <a:effectLst/>
                <a:latin typeface="+mn-lt"/>
                <a:ea typeface="+mn-ea"/>
                <a:cs typeface="+mn-cs"/>
              </a:rPr>
              <a:t>, or starvation. Performance vanished</a:t>
            </a:r>
          </a:p>
          <a:p>
            <a:r>
              <a:rPr lang="en-US" sz="1200" b="0" kern="1200" dirty="0">
                <a:solidFill>
                  <a:schemeClr val="tx1"/>
                </a:solidFill>
                <a:effectLst/>
                <a:latin typeface="+mn-lt"/>
                <a:ea typeface="+mn-ea"/>
                <a:cs typeface="+mn-cs"/>
              </a:rPr>
              <a:t>through serialization or cache traffic. Déjà vu was an old value hiding a</a:t>
            </a:r>
          </a:p>
          <a:p>
            <a:r>
              <a:rPr lang="en-US" sz="1200" b="0" kern="1200" dirty="0">
                <a:solidFill>
                  <a:schemeClr val="tx1"/>
                </a:solidFill>
                <a:effectLst/>
                <a:latin typeface="+mn-lt"/>
                <a:ea typeface="+mn-ea"/>
                <a:cs typeface="+mn-cs"/>
              </a:rPr>
              <a:t>new generation.</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62</a:t>
            </a:fld>
            <a:endParaRPr lang="en-US"/>
          </a:p>
        </p:txBody>
      </p:sp>
    </p:spTree>
    <p:extLst>
      <p:ext uri="{BB962C8B-B14F-4D97-AF65-F5344CB8AC3E}">
        <p14:creationId xmlns:p14="http://schemas.microsoft.com/office/powerpoint/2010/main" val="193954466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Before spawning a thread, ask what it owns, what is shared, what protects the</a:t>
            </a:r>
          </a:p>
          <a:p>
            <a:r>
              <a:rPr lang="en-US" sz="1200" b="0" kern="1200" dirty="0">
                <a:solidFill>
                  <a:schemeClr val="tx1"/>
                </a:solidFill>
                <a:effectLst/>
                <a:latin typeface="+mn-lt"/>
                <a:ea typeface="+mn-ea"/>
                <a:cs typeface="+mn-cs"/>
              </a:rPr>
              <a:t>whole invariant, what keeps references alive, what guarantees progress and</a:t>
            </a:r>
          </a:p>
          <a:p>
            <a:r>
              <a:rPr lang="en-US" sz="1200" b="0" kern="1200" dirty="0">
                <a:solidFill>
                  <a:schemeClr val="tx1"/>
                </a:solidFill>
                <a:effectLst/>
                <a:latin typeface="+mn-lt"/>
                <a:ea typeface="+mn-ea"/>
                <a:cs typeface="+mn-cs"/>
              </a:rPr>
              <a:t>shutdown, and how we will prove concurrency helped. If one answer is unclear,</a:t>
            </a:r>
          </a:p>
          <a:p>
            <a:r>
              <a:rPr lang="en-US" sz="1200" b="0" kern="1200" dirty="0">
                <a:solidFill>
                  <a:schemeClr val="tx1"/>
                </a:solidFill>
                <a:effectLst/>
                <a:latin typeface="+mn-lt"/>
                <a:ea typeface="+mn-ea"/>
                <a:cs typeface="+mn-cs"/>
              </a:rPr>
              <a:t>pause. First ask whether the state needs to be shared at all.</a:t>
            </a:r>
          </a:p>
          <a:p>
            <a:endParaRPr lang="en-US" dirty="0"/>
          </a:p>
        </p:txBody>
      </p:sp>
      <p:sp>
        <p:nvSpPr>
          <p:cNvPr id="4" name="Slide Number Placeholder 3"/>
          <p:cNvSpPr>
            <a:spLocks noGrp="1"/>
          </p:cNvSpPr>
          <p:nvPr>
            <p:ph type="sldNum" sz="quarter" idx="5"/>
          </p:nvPr>
        </p:nvSpPr>
        <p:spPr/>
        <p:txBody>
          <a:bodyPr/>
          <a:lstStyle/>
          <a:p>
            <a:fld id="{B63B2EA1-C2D6-44B7-A9F5-02BE58F1EB01}" type="slidenum">
              <a:rPr lang="en-US" smtClean="0"/>
              <a:t>63</a:t>
            </a:fld>
            <a:endParaRPr lang="en-US"/>
          </a:p>
        </p:txBody>
      </p:sp>
    </p:spTree>
    <p:extLst>
      <p:ext uri="{BB962C8B-B14F-4D97-AF65-F5344CB8AC3E}">
        <p14:creationId xmlns:p14="http://schemas.microsoft.com/office/powerpoint/2010/main" val="9896538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Hope our monster haven’t scared you too much. </a:t>
            </a:r>
          </a:p>
          <a:p>
            <a:r>
              <a:rPr lang="en-US" dirty="0"/>
              <a:t>The examples and their tamed versions are available through the QR code. Thank you</a:t>
            </a:r>
          </a:p>
        </p:txBody>
      </p:sp>
      <p:sp>
        <p:nvSpPr>
          <p:cNvPr id="4" name="Slide Number Placeholder 3"/>
          <p:cNvSpPr>
            <a:spLocks noGrp="1"/>
          </p:cNvSpPr>
          <p:nvPr>
            <p:ph type="sldNum" sz="quarter" idx="5"/>
          </p:nvPr>
        </p:nvSpPr>
        <p:spPr/>
        <p:txBody>
          <a:bodyPr/>
          <a:lstStyle/>
          <a:p>
            <a:fld id="{B63B2EA1-C2D6-44B7-A9F5-02BE58F1EB01}" type="slidenum">
              <a:rPr lang="en-US" smtClean="0"/>
              <a:t>64</a:t>
            </a:fld>
            <a:endParaRPr lang="en-US"/>
          </a:p>
        </p:txBody>
      </p:sp>
    </p:spTree>
    <p:extLst>
      <p:ext uri="{BB962C8B-B14F-4D97-AF65-F5344CB8AC3E}">
        <p14:creationId xmlns:p14="http://schemas.microsoft.com/office/powerpoint/2010/main" val="3294421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CF031-1E37-6975-DF96-8290ABB57D8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D904BF-9AE1-1EDC-1C4E-03570855F7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A3D9A7-AC63-A229-FE98-0C6105F8F2E9}"/>
              </a:ext>
            </a:extLst>
          </p:cNvPr>
          <p:cNvSpPr>
            <a:spLocks noGrp="1"/>
          </p:cNvSpPr>
          <p:nvPr>
            <p:ph type="dt" sz="half" idx="10"/>
          </p:nvPr>
        </p:nvSpPr>
        <p:spPr>
          <a:xfrm>
            <a:off x="838200" y="6356350"/>
            <a:ext cx="2743200" cy="365125"/>
          </a:xfrm>
          <a:prstGeom prst="rect">
            <a:avLst/>
          </a:prstGeom>
        </p:spPr>
        <p:txBody>
          <a:bodyPr/>
          <a:lstStyle/>
          <a:p>
            <a:fld id="{4E4CFD8F-A582-4AE7-8F1A-513F47AAA67B}" type="datetime1">
              <a:rPr lang="en-US" smtClean="0"/>
              <a:t>23-Sep-26</a:t>
            </a:fld>
            <a:endParaRPr lang="en-US"/>
          </a:p>
        </p:txBody>
      </p:sp>
      <p:sp>
        <p:nvSpPr>
          <p:cNvPr id="5" name="Footer Placeholder 4">
            <a:extLst>
              <a:ext uri="{FF2B5EF4-FFF2-40B4-BE49-F238E27FC236}">
                <a16:creationId xmlns:a16="http://schemas.microsoft.com/office/drawing/2014/main" id="{664AB935-877E-5427-34F6-09134D1EF2B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455D053-2367-A2B1-F306-1EA7E11FD4B1}"/>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20023025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0035B-1FC6-32F5-7384-4E2C399FE5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71CCB6-F533-31AC-3F10-FE0E207714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146A9-7695-3874-3091-F16E60466D54}"/>
              </a:ext>
            </a:extLst>
          </p:cNvPr>
          <p:cNvSpPr>
            <a:spLocks noGrp="1"/>
          </p:cNvSpPr>
          <p:nvPr>
            <p:ph type="dt" sz="half" idx="10"/>
          </p:nvPr>
        </p:nvSpPr>
        <p:spPr>
          <a:xfrm>
            <a:off x="838200" y="6356350"/>
            <a:ext cx="2743200" cy="365125"/>
          </a:xfrm>
          <a:prstGeom prst="rect">
            <a:avLst/>
          </a:prstGeom>
        </p:spPr>
        <p:txBody>
          <a:bodyPr/>
          <a:lstStyle/>
          <a:p>
            <a:fld id="{94DD2C09-25E0-4F6F-B859-5258292B5528}" type="datetime1">
              <a:rPr lang="en-US" smtClean="0"/>
              <a:t>23-Sep-26</a:t>
            </a:fld>
            <a:endParaRPr lang="en-US"/>
          </a:p>
        </p:txBody>
      </p:sp>
      <p:sp>
        <p:nvSpPr>
          <p:cNvPr id="5" name="Footer Placeholder 4">
            <a:extLst>
              <a:ext uri="{FF2B5EF4-FFF2-40B4-BE49-F238E27FC236}">
                <a16:creationId xmlns:a16="http://schemas.microsoft.com/office/drawing/2014/main" id="{6C441DBE-0C18-4974-5233-10519EA6DBB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2DA693A-0292-A588-D615-FCEF49D10827}"/>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23594340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999A1-E78E-DCF4-C7B7-8ABE144157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9539CF3-9919-68ED-623B-0FE22E575B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5CE1FC-0797-13B2-EFD9-B3AE0DA6E943}"/>
              </a:ext>
            </a:extLst>
          </p:cNvPr>
          <p:cNvSpPr>
            <a:spLocks noGrp="1"/>
          </p:cNvSpPr>
          <p:nvPr>
            <p:ph type="dt" sz="half" idx="10"/>
          </p:nvPr>
        </p:nvSpPr>
        <p:spPr>
          <a:xfrm>
            <a:off x="838200" y="6356350"/>
            <a:ext cx="2743200" cy="365125"/>
          </a:xfrm>
          <a:prstGeom prst="rect">
            <a:avLst/>
          </a:prstGeom>
        </p:spPr>
        <p:txBody>
          <a:bodyPr/>
          <a:lstStyle/>
          <a:p>
            <a:fld id="{4DEC0FEC-6E02-4546-9377-82B16A79384E}" type="datetime1">
              <a:rPr lang="en-US" smtClean="0"/>
              <a:t>23-Sep-26</a:t>
            </a:fld>
            <a:endParaRPr lang="en-US"/>
          </a:p>
        </p:txBody>
      </p:sp>
      <p:sp>
        <p:nvSpPr>
          <p:cNvPr id="5" name="Footer Placeholder 4">
            <a:extLst>
              <a:ext uri="{FF2B5EF4-FFF2-40B4-BE49-F238E27FC236}">
                <a16:creationId xmlns:a16="http://schemas.microsoft.com/office/drawing/2014/main" id="{2F846932-BE65-3AAD-4F36-CE2CD710F1A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2572AFE-6072-B1A5-76E3-68980EFDF8E7}"/>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236747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1665-4F2C-A6C5-3CBD-F046A1D25B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EE6DF0-94D0-2E35-3521-9E7C3621C94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DDF8D90-950B-6A99-F90C-2B2C9959F7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2687C4F-C558-6A70-C887-F9494F089BB5}"/>
              </a:ext>
            </a:extLst>
          </p:cNvPr>
          <p:cNvSpPr>
            <a:spLocks noGrp="1"/>
          </p:cNvSpPr>
          <p:nvPr>
            <p:ph type="dt" sz="half" idx="10"/>
          </p:nvPr>
        </p:nvSpPr>
        <p:spPr>
          <a:xfrm>
            <a:off x="838200" y="6356350"/>
            <a:ext cx="2743200" cy="365125"/>
          </a:xfrm>
          <a:prstGeom prst="rect">
            <a:avLst/>
          </a:prstGeom>
        </p:spPr>
        <p:txBody>
          <a:bodyPr/>
          <a:lstStyle/>
          <a:p>
            <a:fld id="{241AB7AD-3654-437D-9501-FB217A073CD9}" type="datetime1">
              <a:rPr lang="en-US" smtClean="0"/>
              <a:t>23-Sep-26</a:t>
            </a:fld>
            <a:endParaRPr lang="en-US"/>
          </a:p>
        </p:txBody>
      </p:sp>
      <p:sp>
        <p:nvSpPr>
          <p:cNvPr id="6" name="Footer Placeholder 5">
            <a:extLst>
              <a:ext uri="{FF2B5EF4-FFF2-40B4-BE49-F238E27FC236}">
                <a16:creationId xmlns:a16="http://schemas.microsoft.com/office/drawing/2014/main" id="{49614610-EE91-C0C8-1AEE-BF025B960BC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AF9B29C6-BB3C-0C3C-08AA-02B96B8C7B99}"/>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3048046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A293B-970C-2445-8E82-9E6E194614E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E4920B6-BAD9-C7AD-B2F1-F1CBD7C99CB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69AC24E-F691-CBC5-E276-24DC32504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8031E0-392E-5F4A-DB15-0DEDDCC2C9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DC42D9-BFE4-28E9-73D1-52EF003D676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39060B-AC1B-04EC-D024-E120588958FE}"/>
              </a:ext>
            </a:extLst>
          </p:cNvPr>
          <p:cNvSpPr>
            <a:spLocks noGrp="1"/>
          </p:cNvSpPr>
          <p:nvPr>
            <p:ph type="dt" sz="half" idx="10"/>
          </p:nvPr>
        </p:nvSpPr>
        <p:spPr>
          <a:xfrm>
            <a:off x="838200" y="6356350"/>
            <a:ext cx="2743200" cy="365125"/>
          </a:xfrm>
          <a:prstGeom prst="rect">
            <a:avLst/>
          </a:prstGeom>
        </p:spPr>
        <p:txBody>
          <a:bodyPr/>
          <a:lstStyle/>
          <a:p>
            <a:fld id="{1F4EAB4D-0A37-42C3-BB12-7BEB470587B5}" type="datetime1">
              <a:rPr lang="en-US" smtClean="0"/>
              <a:t>23-Sep-26</a:t>
            </a:fld>
            <a:endParaRPr lang="en-US"/>
          </a:p>
        </p:txBody>
      </p:sp>
      <p:sp>
        <p:nvSpPr>
          <p:cNvPr id="8" name="Footer Placeholder 7">
            <a:extLst>
              <a:ext uri="{FF2B5EF4-FFF2-40B4-BE49-F238E27FC236}">
                <a16:creationId xmlns:a16="http://schemas.microsoft.com/office/drawing/2014/main" id="{4F1F40C2-FB40-9014-1080-5ECA66FE3D3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69F73BAA-E66F-8C09-E025-315E66377E17}"/>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35234708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402A0-94F7-F6BE-B9CD-6DE06DD0359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802B1CC-2D10-1B35-CD66-2AA3A3142B6E}"/>
              </a:ext>
            </a:extLst>
          </p:cNvPr>
          <p:cNvSpPr>
            <a:spLocks noGrp="1"/>
          </p:cNvSpPr>
          <p:nvPr>
            <p:ph type="dt" sz="half" idx="10"/>
          </p:nvPr>
        </p:nvSpPr>
        <p:spPr>
          <a:xfrm>
            <a:off x="838200" y="6356350"/>
            <a:ext cx="2743200" cy="365125"/>
          </a:xfrm>
          <a:prstGeom prst="rect">
            <a:avLst/>
          </a:prstGeom>
        </p:spPr>
        <p:txBody>
          <a:bodyPr/>
          <a:lstStyle/>
          <a:p>
            <a:fld id="{970B66D7-5A5B-4C70-8A65-AEAF9814B4C7}" type="datetime1">
              <a:rPr lang="en-US" smtClean="0"/>
              <a:t>23-Sep-26</a:t>
            </a:fld>
            <a:endParaRPr lang="en-US"/>
          </a:p>
        </p:txBody>
      </p:sp>
      <p:sp>
        <p:nvSpPr>
          <p:cNvPr id="4" name="Footer Placeholder 3">
            <a:extLst>
              <a:ext uri="{FF2B5EF4-FFF2-40B4-BE49-F238E27FC236}">
                <a16:creationId xmlns:a16="http://schemas.microsoft.com/office/drawing/2014/main" id="{7B10BEF2-26BF-2E3C-28AF-74245EB4B6F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2B1D3DE8-BE8C-C32A-CC86-82D6C00C7306}"/>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21940257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4941B0-0533-968A-63BE-79C65477B6C8}"/>
              </a:ext>
            </a:extLst>
          </p:cNvPr>
          <p:cNvSpPr>
            <a:spLocks noGrp="1"/>
          </p:cNvSpPr>
          <p:nvPr>
            <p:ph type="dt" sz="half" idx="10"/>
          </p:nvPr>
        </p:nvSpPr>
        <p:spPr>
          <a:xfrm>
            <a:off x="838200" y="6356350"/>
            <a:ext cx="2743200" cy="365125"/>
          </a:xfrm>
          <a:prstGeom prst="rect">
            <a:avLst/>
          </a:prstGeom>
        </p:spPr>
        <p:txBody>
          <a:bodyPr/>
          <a:lstStyle/>
          <a:p>
            <a:fld id="{47F2D8EA-18E2-4BB3-862F-87542E118CC3}" type="datetime1">
              <a:rPr lang="en-US" smtClean="0"/>
              <a:t>23-Sep-26</a:t>
            </a:fld>
            <a:endParaRPr lang="en-US"/>
          </a:p>
        </p:txBody>
      </p:sp>
      <p:sp>
        <p:nvSpPr>
          <p:cNvPr id="3" name="Footer Placeholder 2">
            <a:extLst>
              <a:ext uri="{FF2B5EF4-FFF2-40B4-BE49-F238E27FC236}">
                <a16:creationId xmlns:a16="http://schemas.microsoft.com/office/drawing/2014/main" id="{E47887D3-C67A-D3F6-8EFC-493E5633FC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740D4F9-7ADF-6466-0B85-F920F69CB69C}"/>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10522801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45A0D-69E0-1CD7-9FFE-65AF6BB03F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752A15-08C5-1F4A-D7D3-043DDD3638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11141B4-A9F1-659F-8B43-FEB5C4C478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8DAFDA-168F-D90C-594C-5BAA0BFFC462}"/>
              </a:ext>
            </a:extLst>
          </p:cNvPr>
          <p:cNvSpPr>
            <a:spLocks noGrp="1"/>
          </p:cNvSpPr>
          <p:nvPr>
            <p:ph type="dt" sz="half" idx="10"/>
          </p:nvPr>
        </p:nvSpPr>
        <p:spPr>
          <a:xfrm>
            <a:off x="838200" y="6356350"/>
            <a:ext cx="2743200" cy="365125"/>
          </a:xfrm>
          <a:prstGeom prst="rect">
            <a:avLst/>
          </a:prstGeom>
        </p:spPr>
        <p:txBody>
          <a:bodyPr/>
          <a:lstStyle/>
          <a:p>
            <a:fld id="{F37FEE34-C9F9-4AEB-99CD-EC6E16499FF7}" type="datetime1">
              <a:rPr lang="en-US" smtClean="0"/>
              <a:t>23-Sep-26</a:t>
            </a:fld>
            <a:endParaRPr lang="en-US"/>
          </a:p>
        </p:txBody>
      </p:sp>
      <p:sp>
        <p:nvSpPr>
          <p:cNvPr id="6" name="Footer Placeholder 5">
            <a:extLst>
              <a:ext uri="{FF2B5EF4-FFF2-40B4-BE49-F238E27FC236}">
                <a16:creationId xmlns:a16="http://schemas.microsoft.com/office/drawing/2014/main" id="{299D7C33-FA79-377B-DBF8-86627EC696E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3E447A7-F1F0-40B9-38A8-10DB41D6274C}"/>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42266208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E2314-8204-641F-D956-1AC3EA6006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44C9B13-F58E-D4EE-863B-97052BD60F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F1F48F7-6DBC-8AD8-2E30-E7E1A8AA6B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3C93DE-57BD-DE2E-D7E8-A53B2D8EE6FB}"/>
              </a:ext>
            </a:extLst>
          </p:cNvPr>
          <p:cNvSpPr>
            <a:spLocks noGrp="1"/>
          </p:cNvSpPr>
          <p:nvPr>
            <p:ph type="dt" sz="half" idx="10"/>
          </p:nvPr>
        </p:nvSpPr>
        <p:spPr>
          <a:xfrm>
            <a:off x="838200" y="6356350"/>
            <a:ext cx="2743200" cy="365125"/>
          </a:xfrm>
          <a:prstGeom prst="rect">
            <a:avLst/>
          </a:prstGeom>
        </p:spPr>
        <p:txBody>
          <a:bodyPr/>
          <a:lstStyle/>
          <a:p>
            <a:fld id="{3672F818-6339-4F1B-8177-DCABBA3F8794}" type="datetime1">
              <a:rPr lang="en-US" smtClean="0"/>
              <a:t>23-Sep-26</a:t>
            </a:fld>
            <a:endParaRPr lang="en-US"/>
          </a:p>
        </p:txBody>
      </p:sp>
      <p:sp>
        <p:nvSpPr>
          <p:cNvPr id="6" name="Footer Placeholder 5">
            <a:extLst>
              <a:ext uri="{FF2B5EF4-FFF2-40B4-BE49-F238E27FC236}">
                <a16:creationId xmlns:a16="http://schemas.microsoft.com/office/drawing/2014/main" id="{14D9D369-8B8F-9A06-1751-DBB2C580C43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A8B33E5-DBEA-B6A9-84C4-35E438BED26F}"/>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4257834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6FB07-3C2B-072C-94BC-1D82F402F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5502BBA-0F98-A1B4-3370-D7DF262681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7FF96B-5FAE-ABC2-E41F-CD1659E5707A}"/>
              </a:ext>
            </a:extLst>
          </p:cNvPr>
          <p:cNvSpPr>
            <a:spLocks noGrp="1"/>
          </p:cNvSpPr>
          <p:nvPr>
            <p:ph type="dt" sz="half" idx="10"/>
          </p:nvPr>
        </p:nvSpPr>
        <p:spPr>
          <a:xfrm>
            <a:off x="838200" y="6356350"/>
            <a:ext cx="2743200" cy="365125"/>
          </a:xfrm>
          <a:prstGeom prst="rect">
            <a:avLst/>
          </a:prstGeom>
        </p:spPr>
        <p:txBody>
          <a:bodyPr/>
          <a:lstStyle/>
          <a:p>
            <a:fld id="{FF737469-1045-4E57-BEA5-0C7DA7306CC5}" type="datetime1">
              <a:rPr lang="en-US" smtClean="0"/>
              <a:t>23-Sep-26</a:t>
            </a:fld>
            <a:endParaRPr lang="en-US"/>
          </a:p>
        </p:txBody>
      </p:sp>
      <p:sp>
        <p:nvSpPr>
          <p:cNvPr id="5" name="Footer Placeholder 4">
            <a:extLst>
              <a:ext uri="{FF2B5EF4-FFF2-40B4-BE49-F238E27FC236}">
                <a16:creationId xmlns:a16="http://schemas.microsoft.com/office/drawing/2014/main" id="{F1BC1585-EBB9-7128-BC56-F970DBB5EE5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C98DB62-99EF-FD63-293C-A82F73FE411D}"/>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13078910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E1FF74-8068-9827-3B65-C483B2530B3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BEE4560-7BEA-52A7-CA67-6708EEFAD2A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EEC18A-BBFD-CE68-248B-42B09E0CBD9E}"/>
              </a:ext>
            </a:extLst>
          </p:cNvPr>
          <p:cNvSpPr>
            <a:spLocks noGrp="1"/>
          </p:cNvSpPr>
          <p:nvPr>
            <p:ph type="dt" sz="half" idx="10"/>
          </p:nvPr>
        </p:nvSpPr>
        <p:spPr>
          <a:xfrm>
            <a:off x="838200" y="6356350"/>
            <a:ext cx="2743200" cy="365125"/>
          </a:xfrm>
          <a:prstGeom prst="rect">
            <a:avLst/>
          </a:prstGeom>
        </p:spPr>
        <p:txBody>
          <a:bodyPr/>
          <a:lstStyle/>
          <a:p>
            <a:fld id="{B3D9D8A8-8D52-4A89-8C72-6BF24798B4C8}" type="datetime1">
              <a:rPr lang="en-US" smtClean="0"/>
              <a:t>23-Sep-26</a:t>
            </a:fld>
            <a:endParaRPr lang="en-US"/>
          </a:p>
        </p:txBody>
      </p:sp>
      <p:sp>
        <p:nvSpPr>
          <p:cNvPr id="5" name="Footer Placeholder 4">
            <a:extLst>
              <a:ext uri="{FF2B5EF4-FFF2-40B4-BE49-F238E27FC236}">
                <a16:creationId xmlns:a16="http://schemas.microsoft.com/office/drawing/2014/main" id="{2067F31B-5E84-8D2C-B83A-4F1D512853B4}"/>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F705B373-5C33-43BB-EC51-F14DDCE3C41F}"/>
              </a:ext>
            </a:extLst>
          </p:cNvPr>
          <p:cNvSpPr>
            <a:spLocks noGrp="1"/>
          </p:cNvSpPr>
          <p:nvPr>
            <p:ph type="sldNum" sz="quarter" idx="12"/>
          </p:nvPr>
        </p:nvSpPr>
        <p:spPr/>
        <p:txBody>
          <a:bodyPr/>
          <a:lstStyle/>
          <a:p>
            <a:fld id="{A8D619E7-4118-4CE2-9D02-1AAE6DCE22A2}" type="slidenum">
              <a:rPr lang="en-US" smtClean="0"/>
              <a:t>‹#›</a:t>
            </a:fld>
            <a:endParaRPr lang="en-US"/>
          </a:p>
        </p:txBody>
      </p:sp>
    </p:spTree>
    <p:extLst>
      <p:ext uri="{BB962C8B-B14F-4D97-AF65-F5344CB8AC3E}">
        <p14:creationId xmlns:p14="http://schemas.microsoft.com/office/powerpoint/2010/main" val="3212533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AEC2011-CA03-8E91-723C-33D626C6BB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E0BDEDE-7E32-04C3-6E4C-8577620A5A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FECB29-7D34-D21A-D866-5154C2C38C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75DCE5B-A751-3B17-9F17-5618EE0C8FD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D619E7-4118-4CE2-9D02-1AAE6DCE22A2}" type="slidenum">
              <a:rPr lang="en-US" smtClean="0"/>
              <a:t>‹#›</a:t>
            </a:fld>
            <a:endParaRPr lang="en-US" dirty="0"/>
          </a:p>
        </p:txBody>
      </p:sp>
      <p:pic>
        <p:nvPicPr>
          <p:cNvPr id="7" name="Picture 6">
            <a:extLst>
              <a:ext uri="{FF2B5EF4-FFF2-40B4-BE49-F238E27FC236}">
                <a16:creationId xmlns:a16="http://schemas.microsoft.com/office/drawing/2014/main" id="{57D7CFAF-CE0B-9E46-31F4-7AFC060D2DD8}"/>
              </a:ext>
            </a:extLst>
          </p:cNvPr>
          <p:cNvPicPr>
            <a:picLocks noChangeAspect="1"/>
          </p:cNvPicPr>
          <p:nvPr userDrawn="1"/>
        </p:nvPicPr>
        <p:blipFill>
          <a:blip r:embed="rId13"/>
          <a:stretch>
            <a:fillRect/>
          </a:stretch>
        </p:blipFill>
        <p:spPr>
          <a:xfrm>
            <a:off x="0" y="6534150"/>
            <a:ext cx="12192000" cy="323850"/>
          </a:xfrm>
          <a:prstGeom prst="rect">
            <a:avLst/>
          </a:prstGeom>
        </p:spPr>
      </p:pic>
    </p:spTree>
    <p:extLst>
      <p:ext uri="{BB962C8B-B14F-4D97-AF65-F5344CB8AC3E}">
        <p14:creationId xmlns:p14="http://schemas.microsoft.com/office/powerpoint/2010/main" val="16925987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0.svg"/><Relationship Id="rId4" Type="http://schemas.openxmlformats.org/officeDocument/2006/relationships/image" Target="../media/image9.svg"/></Relationships>
</file>

<file path=ppt/slides/_rels/slide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8.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11.svg"/></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14.svg"/><Relationship Id="rId4" Type="http://schemas.openxmlformats.org/officeDocument/2006/relationships/image" Target="../media/image16.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18.sv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17.svg"/></Relationships>
</file>

<file path=ppt/slides/_rels/slide3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33.xml"/><Relationship Id="rId1" Type="http://schemas.openxmlformats.org/officeDocument/2006/relationships/slideLayout" Target="../slideLayouts/slideLayout6.xml"/><Relationship Id="rId5" Type="http://schemas.openxmlformats.org/officeDocument/2006/relationships/image" Target="../media/image22.svg"/><Relationship Id="rId4" Type="http://schemas.openxmlformats.org/officeDocument/2006/relationships/image" Target="../media/image21.sv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19.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6.xml"/><Relationship Id="rId4" Type="http://schemas.openxmlformats.org/officeDocument/2006/relationships/image" Target="../media/image23.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6.xml"/><Relationship Id="rId4" Type="http://schemas.openxmlformats.org/officeDocument/2006/relationships/image" Target="../media/image25.svg"/></Relationships>
</file>

<file path=ppt/slides/_rels/slide4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49.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6.xml"/><Relationship Id="rId4" Type="http://schemas.openxmlformats.org/officeDocument/2006/relationships/image" Target="../media/image30.sv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55.xml"/><Relationship Id="rId1" Type="http://schemas.openxmlformats.org/officeDocument/2006/relationships/slideLayout" Target="../slideLayouts/slideLayout6.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png"/></Relationships>
</file>

<file path=ppt/slides/_rels/slide56.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svg"/><Relationship Id="rId2" Type="http://schemas.openxmlformats.org/officeDocument/2006/relationships/notesSlide" Target="../notesSlides/notesSlide56.xml"/><Relationship Id="rId1" Type="http://schemas.openxmlformats.org/officeDocument/2006/relationships/slideLayout" Target="../slideLayouts/slideLayout6.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5.png"/></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svg"/><Relationship Id="rId2" Type="http://schemas.openxmlformats.org/officeDocument/2006/relationships/notesSlide" Target="../notesSlides/notesSlide57.xml"/><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3.svg"/><Relationship Id="rId4" Type="http://schemas.openxmlformats.org/officeDocument/2006/relationships/image" Target="../media/image34.svg"/></Relationships>
</file>

<file path=ppt/slides/_rels/slide58.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1.svg"/><Relationship Id="rId2" Type="http://schemas.openxmlformats.org/officeDocument/2006/relationships/notesSlide" Target="../notesSlides/notesSlide58.xml"/><Relationship Id="rId1" Type="http://schemas.openxmlformats.org/officeDocument/2006/relationships/slideLayout" Target="../slideLayouts/slideLayout6.xml"/><Relationship Id="rId6" Type="http://schemas.openxmlformats.org/officeDocument/2006/relationships/image" Target="../media/image34.svg"/><Relationship Id="rId5" Type="http://schemas.openxmlformats.org/officeDocument/2006/relationships/image" Target="../media/image35.png"/><Relationship Id="rId4" Type="http://schemas.openxmlformats.org/officeDocument/2006/relationships/image" Target="../media/image36.png"/></Relationships>
</file>

<file path=ppt/slides/_rels/slide5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4.svg"/><Relationship Id="rId2" Type="http://schemas.openxmlformats.org/officeDocument/2006/relationships/notesSlide" Target="../notesSlides/notesSlide59.xml"/><Relationship Id="rId1" Type="http://schemas.openxmlformats.org/officeDocument/2006/relationships/slideLayout" Target="../slideLayouts/slideLayout6.xml"/><Relationship Id="rId6" Type="http://schemas.openxmlformats.org/officeDocument/2006/relationships/image" Target="../media/image31.svg"/><Relationship Id="rId5" Type="http://schemas.openxmlformats.org/officeDocument/2006/relationships/image" Target="../media/image35.png"/><Relationship Id="rId4" Type="http://schemas.openxmlformats.org/officeDocument/2006/relationships/image" Target="../media/image36.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6.xml"/><Relationship Id="rId4" Type="http://schemas.openxmlformats.org/officeDocument/2006/relationships/image" Target="../media/image31.sv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5F95-922B-A0E1-0BB0-E1E9E97452CA}"/>
              </a:ext>
            </a:extLst>
          </p:cNvPr>
          <p:cNvSpPr>
            <a:spLocks noGrp="1"/>
          </p:cNvSpPr>
          <p:nvPr>
            <p:ph type="ctrTitle"/>
          </p:nvPr>
        </p:nvSpPr>
        <p:spPr/>
        <p:txBody>
          <a:bodyPr/>
          <a:lstStyle/>
          <a:p>
            <a:r>
              <a:rPr lang="en-US" b="1" dirty="0">
                <a:solidFill>
                  <a:srgbClr val="1A1A1A"/>
                </a:solidFill>
                <a:latin typeface="Fraunces-72pt-SemiBold-NonWonky"/>
                <a:ea typeface="Fraunces-72pt-SemiBold-NonWonky"/>
              </a:rPr>
              <a:t>Once Upon a Thread</a:t>
            </a:r>
            <a:endParaRPr lang="en-US" dirty="0"/>
          </a:p>
        </p:txBody>
      </p:sp>
      <p:sp>
        <p:nvSpPr>
          <p:cNvPr id="3" name="Subtitle 2">
            <a:extLst>
              <a:ext uri="{FF2B5EF4-FFF2-40B4-BE49-F238E27FC236}">
                <a16:creationId xmlns:a16="http://schemas.microsoft.com/office/drawing/2014/main" id="{4D05F06B-8C22-B11F-3BE1-3D9906824726}"/>
              </a:ext>
            </a:extLst>
          </p:cNvPr>
          <p:cNvSpPr>
            <a:spLocks noGrp="1"/>
          </p:cNvSpPr>
          <p:nvPr>
            <p:ph type="subTitle" idx="1"/>
          </p:nvPr>
        </p:nvSpPr>
        <p:spPr/>
        <p:txBody>
          <a:bodyPr>
            <a:normAutofit lnSpcReduction="10000"/>
          </a:bodyPr>
          <a:lstStyle/>
          <a:p>
            <a:r>
              <a:rPr lang="en-US" i="1" dirty="0">
                <a:solidFill>
                  <a:srgbClr val="6A6A6A"/>
                </a:solidFill>
                <a:latin typeface="SourceSans3ExtraLight"/>
                <a:ea typeface="SourceSans3"/>
              </a:rPr>
              <a:t>A guided tour through the concurrency monster ZOO</a:t>
            </a:r>
            <a:endParaRPr lang="en-US" i="1" dirty="0">
              <a:solidFill>
                <a:srgbClr val="000000"/>
              </a:solidFill>
              <a:latin typeface="SourceSans3ExtraLight"/>
            </a:endParaRPr>
          </a:p>
          <a:p>
            <a:endParaRPr lang="en-US" b="1" dirty="0">
              <a:solidFill>
                <a:srgbClr val="1A1A1A"/>
              </a:solidFill>
              <a:latin typeface="SourceSans3ExtraLight"/>
              <a:ea typeface="SourceSans3ExtraLight"/>
            </a:endParaRPr>
          </a:p>
          <a:p>
            <a:endParaRPr lang="en-US" b="1" dirty="0">
              <a:solidFill>
                <a:srgbClr val="1A1A1A"/>
              </a:solidFill>
              <a:latin typeface="SourceSans3ExtraLight"/>
              <a:ea typeface="SourceSans3ExtraLight"/>
            </a:endParaRPr>
          </a:p>
          <a:p>
            <a:r>
              <a:rPr lang="en-US" b="1" dirty="0">
                <a:solidFill>
                  <a:srgbClr val="1A1A1A"/>
                </a:solidFill>
                <a:latin typeface="SourceSans3ExtraLight"/>
                <a:ea typeface="SourceSans3ExtraLight"/>
              </a:rPr>
              <a:t>Jana Machutová</a:t>
            </a:r>
            <a:endParaRPr lang="en-US" dirty="0">
              <a:solidFill>
                <a:srgbClr val="000000"/>
              </a:solidFill>
              <a:latin typeface="Times New Roman"/>
            </a:endParaRPr>
          </a:p>
          <a:p>
            <a:endParaRPr lang="en-US" dirty="0"/>
          </a:p>
        </p:txBody>
      </p:sp>
      <p:sp>
        <p:nvSpPr>
          <p:cNvPr id="4" name="Slide Number Placeholder 3">
            <a:extLst>
              <a:ext uri="{FF2B5EF4-FFF2-40B4-BE49-F238E27FC236}">
                <a16:creationId xmlns:a16="http://schemas.microsoft.com/office/drawing/2014/main" id="{8F2D5D0A-4FFB-13D7-07C5-CCFB61B39A84}"/>
              </a:ext>
            </a:extLst>
          </p:cNvPr>
          <p:cNvSpPr>
            <a:spLocks noGrp="1"/>
          </p:cNvSpPr>
          <p:nvPr>
            <p:ph type="sldNum" sz="quarter" idx="12"/>
          </p:nvPr>
        </p:nvSpPr>
        <p:spPr/>
        <p:txBody>
          <a:bodyPr/>
          <a:lstStyle/>
          <a:p>
            <a:fld id="{A8D619E7-4118-4CE2-9D02-1AAE6DCE22A2}" type="slidenum">
              <a:rPr lang="en-US" smtClean="0"/>
              <a:t>1</a:t>
            </a:fld>
            <a:endParaRPr lang="en-US"/>
          </a:p>
        </p:txBody>
      </p:sp>
    </p:spTree>
    <p:extLst>
      <p:ext uri="{BB962C8B-B14F-4D97-AF65-F5344CB8AC3E}">
        <p14:creationId xmlns:p14="http://schemas.microsoft.com/office/powerpoint/2010/main" val="4044991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57C63-9797-72E3-1E82-DD1DE3D70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92B104-2535-85BD-FF75-BAA2AA9DA489}"/>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Once upon a time…</a:t>
            </a:r>
            <a:endParaRPr lang="en-US" dirty="0"/>
          </a:p>
        </p:txBody>
      </p:sp>
      <p:sp>
        <p:nvSpPr>
          <p:cNvPr id="3" name="Content Placeholder 2">
            <a:extLst>
              <a:ext uri="{FF2B5EF4-FFF2-40B4-BE49-F238E27FC236}">
                <a16:creationId xmlns:a16="http://schemas.microsoft.com/office/drawing/2014/main" id="{36FB628C-758E-E8F5-A89C-65E953A41FF7}"/>
              </a:ext>
            </a:extLst>
          </p:cNvPr>
          <p:cNvSpPr>
            <a:spLocks noGrp="1"/>
          </p:cNvSpPr>
          <p:nvPr>
            <p:ph idx="1"/>
          </p:nvPr>
        </p:nvSpPr>
        <p:spPr/>
        <p:txBody>
          <a:bodyPr>
            <a:normAutofit/>
          </a:bodyPr>
          <a:lstStyle/>
          <a:p>
            <a:pPr marL="0" indent="0">
              <a:buNone/>
            </a:pPr>
            <a:r>
              <a:rPr lang="en-US" sz="2200" dirty="0">
                <a:solidFill>
                  <a:srgbClr val="1A1A1A"/>
                </a:solidFill>
                <a:latin typeface="SourceSans3"/>
                <a:ea typeface="SourceSans3"/>
              </a:rPr>
              <a:t>…a developer spawned a thread.</a:t>
            </a:r>
            <a:endParaRPr lang="en-US" sz="2200" dirty="0">
              <a:solidFill>
                <a:srgbClr val="000000"/>
              </a:solidFill>
              <a:latin typeface="Times New Roman"/>
            </a:endParaRPr>
          </a:p>
          <a:p>
            <a:pPr marL="0" indent="0">
              <a:buNone/>
            </a:pPr>
            <a:endParaRPr lang="en-US" sz="2200" dirty="0"/>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open_the_zoo</a:t>
            </a:r>
            <a:r>
              <a:rPr lang="en-US" sz="2200" dirty="0">
                <a:solidFill>
                  <a:schemeClr val="tx2">
                    <a:lumMod val="90000"/>
                    <a:lumOff val="10000"/>
                  </a:schemeClr>
                </a:solidFill>
                <a:latin typeface="SourceCodePro"/>
                <a:ea typeface="SourceCodePro"/>
              </a:rPr>
              <a:t>() {</a:t>
            </a:r>
            <a:endParaRPr lang="en-US" sz="2200" dirty="0">
              <a:solidFill>
                <a:schemeClr val="tx2">
                  <a:lumMod val="90000"/>
                  <a:lumOff val="10000"/>
                </a:schemeClr>
              </a:solidFill>
              <a:latin typeface="SourceCodePro"/>
            </a:endParaRP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entrance([] { </a:t>
            </a:r>
            <a:r>
              <a:rPr lang="en-US" sz="2200" dirty="0" err="1">
                <a:solidFill>
                  <a:schemeClr val="tx2">
                    <a:lumMod val="90000"/>
                    <a:lumOff val="10000"/>
                  </a:schemeClr>
                </a:solidFill>
                <a:latin typeface="SourceCodePro"/>
                <a:ea typeface="SourceCodePro"/>
              </a:rPr>
              <a:t>admit_visitors</a:t>
            </a:r>
            <a:r>
              <a:rPr lang="en-US" sz="2200" dirty="0">
                <a:solidFill>
                  <a:schemeClr val="tx2">
                    <a:lumMod val="90000"/>
                    <a:lumOff val="10000"/>
                  </a:schemeClr>
                </a:solidFill>
                <a:latin typeface="SourceCodePro"/>
                <a:ea typeface="SourceCodePro"/>
              </a:rPr>
              <a:t>(); });</a:t>
            </a:r>
            <a:endParaRPr lang="en-US" sz="2200" dirty="0">
              <a:solidFill>
                <a:schemeClr val="tx2">
                  <a:lumMod val="90000"/>
                  <a:lumOff val="10000"/>
                </a:schemeClr>
              </a:solidFill>
              <a:latin typeface="SourceCodePro"/>
            </a:endParaRP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exit_gate</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dismiss_visitors</a:t>
            </a:r>
            <a:r>
              <a:rPr lang="en-US" sz="2200" dirty="0">
                <a:solidFill>
                  <a:schemeClr val="tx2">
                    <a:lumMod val="90000"/>
                    <a:lumOff val="10000"/>
                  </a:schemeClr>
                </a:solidFill>
                <a:latin typeface="SourceCodePro"/>
                <a:ea typeface="SourceCodePro"/>
              </a:rPr>
              <a:t>(); });</a:t>
            </a:r>
            <a:endParaRPr lang="en-US" sz="2200" dirty="0">
              <a:solidFill>
                <a:schemeClr val="tx2">
                  <a:lumMod val="90000"/>
                  <a:lumOff val="10000"/>
                </a:schemeClr>
              </a:solidFill>
              <a:latin typeface="SourceCodePro"/>
            </a:endParaRPr>
          </a:p>
          <a:p>
            <a:pPr marL="0" indent="0">
              <a:buNone/>
            </a:pPr>
            <a:endParaRPr lang="en-US" sz="2200" dirty="0">
              <a:solidFill>
                <a:schemeClr val="tx2">
                  <a:lumMod val="90000"/>
                  <a:lumOff val="10000"/>
                </a:schemeClr>
              </a:solidFill>
              <a:latin typeface="SourceCodePro"/>
            </a:endParaRP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ea typeface="SourceCodePro"/>
              </a:rPr>
              <a:t>make_all_creatures_happy</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latin typeface="SourceCodePro"/>
            </a:endParaRPr>
          </a:p>
          <a:p>
            <a:pPr marL="0" indent="0">
              <a:buNone/>
            </a:pPr>
            <a:r>
              <a:rPr lang="en-US" sz="2200" dirty="0">
                <a:solidFill>
                  <a:schemeClr val="tx2">
                    <a:lumMod val="90000"/>
                    <a:lumOff val="10000"/>
                  </a:schemeClr>
                </a:solidFill>
                <a:latin typeface="SourceCodePro"/>
              </a:rPr>
              <a:t>}</a:t>
            </a:r>
          </a:p>
          <a:p>
            <a:pPr marL="0" indent="0">
              <a:buNone/>
            </a:pPr>
            <a:endParaRPr lang="en-US" sz="2200" dirty="0"/>
          </a:p>
          <a:p>
            <a:pPr marL="0" indent="0">
              <a:buNone/>
            </a:pPr>
            <a:r>
              <a:rPr lang="en-US" sz="2400" b="1" u="none" strike="noStrike" dirty="0">
                <a:solidFill>
                  <a:srgbClr val="1A1A1A"/>
                </a:solidFill>
                <a:effectLst/>
                <a:uFillTx/>
                <a:latin typeface="SourceSans3ExtraLight"/>
                <a:ea typeface="SourceSans3ExtraLight"/>
              </a:rPr>
              <a:t>And everything seemed fine.</a:t>
            </a:r>
            <a:endParaRPr lang="en-US" sz="2400" b="0" u="none" strike="noStrike" dirty="0">
              <a:solidFill>
                <a:srgbClr val="000000"/>
              </a:solidFill>
              <a:effectLst/>
              <a:uFillTx/>
              <a:latin typeface="Times New Roman"/>
            </a:endParaRPr>
          </a:p>
          <a:p>
            <a:pPr marL="0" indent="0">
              <a:buNone/>
            </a:pPr>
            <a:endParaRPr lang="en-US" sz="2200" dirty="0"/>
          </a:p>
        </p:txBody>
      </p:sp>
      <p:sp>
        <p:nvSpPr>
          <p:cNvPr id="4" name="Freeform: Shape 3">
            <a:extLst>
              <a:ext uri="{FF2B5EF4-FFF2-40B4-BE49-F238E27FC236}">
                <a16:creationId xmlns:a16="http://schemas.microsoft.com/office/drawing/2014/main" id="{259D1663-F24B-01D5-5841-0CD79C228B84}"/>
              </a:ext>
            </a:extLst>
          </p:cNvPr>
          <p:cNvSpPr/>
          <p:nvPr/>
        </p:nvSpPr>
        <p:spPr>
          <a:xfrm>
            <a:off x="7208831" y="2975072"/>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noFill/>
          <a:ln w="19050">
            <a:solidFill>
              <a:schemeClr val="accent6">
                <a:lumMod val="75000"/>
              </a:schemeClr>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chemeClr val="accent1">
                  <a:lumMod val="75000"/>
                </a:schemeClr>
              </a:solidFill>
              <a:effectLst/>
              <a:uFillTx/>
              <a:latin typeface="Times New Roman"/>
            </a:endParaRPr>
          </a:p>
        </p:txBody>
      </p:sp>
      <p:sp>
        <p:nvSpPr>
          <p:cNvPr id="5" name="TextBox 4">
            <a:extLst>
              <a:ext uri="{FF2B5EF4-FFF2-40B4-BE49-F238E27FC236}">
                <a16:creationId xmlns:a16="http://schemas.microsoft.com/office/drawing/2014/main" id="{D33521F0-A5F2-8061-8601-E5BE134E15C5}"/>
              </a:ext>
            </a:extLst>
          </p:cNvPr>
          <p:cNvSpPr txBox="1"/>
          <p:nvPr/>
        </p:nvSpPr>
        <p:spPr>
          <a:xfrm>
            <a:off x="7777951" y="3132725"/>
            <a:ext cx="2756974" cy="677108"/>
          </a:xfrm>
          <a:prstGeom prst="rect">
            <a:avLst/>
          </a:prstGeom>
          <a:noFill/>
          <a:ln w="0">
            <a:noFill/>
          </a:ln>
        </p:spPr>
        <p:txBody>
          <a:bodyPr wrap="square" lIns="0" tIns="0" rIns="0" bIns="0" anchor="t">
            <a:spAutoFit/>
          </a:bodyPr>
          <a:lstStyle/>
          <a:p>
            <a:r>
              <a:rPr lang="en-US" sz="2200" b="0" u="none" strike="noStrike" dirty="0">
                <a:solidFill>
                  <a:schemeClr val="accent6">
                    <a:lumMod val="75000"/>
                  </a:schemeClr>
                </a:solidFill>
                <a:effectLst/>
                <a:uFillTx/>
                <a:latin typeface="SourceCodePro"/>
                <a:ea typeface="SourceCodePro"/>
              </a:rPr>
              <a:t>entered:     </a:t>
            </a:r>
            <a:r>
              <a:rPr lang="en-US" sz="2200" dirty="0">
                <a:solidFill>
                  <a:schemeClr val="accent6">
                    <a:lumMod val="75000"/>
                  </a:schemeClr>
                </a:solidFill>
                <a:latin typeface="SourceCodePro"/>
                <a:ea typeface="SourceCodePro"/>
              </a:rPr>
              <a:t>2</a:t>
            </a:r>
            <a:r>
              <a:rPr lang="en-US" sz="2200" b="0" u="none" strike="noStrike" dirty="0">
                <a:solidFill>
                  <a:schemeClr val="accent6">
                    <a:lumMod val="75000"/>
                  </a:schemeClr>
                </a:solidFill>
                <a:effectLst/>
                <a:uFillTx/>
                <a:latin typeface="SourceCodePro"/>
                <a:ea typeface="SourceCodePro"/>
              </a:rPr>
              <a:t>0 000</a:t>
            </a:r>
          </a:p>
          <a:p>
            <a:r>
              <a:rPr lang="en-US" sz="2200" b="0" u="none" strike="noStrike" dirty="0">
                <a:solidFill>
                  <a:schemeClr val="accent6">
                    <a:lumMod val="75000"/>
                  </a:schemeClr>
                </a:solidFill>
                <a:effectLst/>
                <a:uFillTx/>
                <a:latin typeface="SourceCodePro"/>
                <a:ea typeface="SourceCodePro"/>
              </a:rPr>
              <a:t>left:             </a:t>
            </a:r>
            <a:r>
              <a:rPr lang="en-US" sz="2200" dirty="0">
                <a:solidFill>
                  <a:schemeClr val="accent6">
                    <a:lumMod val="75000"/>
                  </a:schemeClr>
                </a:solidFill>
                <a:latin typeface="SourceCodePro"/>
                <a:ea typeface="SourceCodePro"/>
              </a:rPr>
              <a:t>2</a:t>
            </a:r>
            <a:r>
              <a:rPr lang="en-US" sz="2200" b="0" u="none" strike="noStrike" dirty="0">
                <a:solidFill>
                  <a:schemeClr val="accent6">
                    <a:lumMod val="75000"/>
                  </a:schemeClr>
                </a:solidFill>
                <a:effectLst/>
                <a:uFillTx/>
                <a:latin typeface="SourceCodePro"/>
                <a:ea typeface="SourceCodePro"/>
              </a:rPr>
              <a:t>0 000</a:t>
            </a:r>
          </a:p>
        </p:txBody>
      </p:sp>
      <p:grpSp>
        <p:nvGrpSpPr>
          <p:cNvPr id="8" name="Group 7">
            <a:extLst>
              <a:ext uri="{FF2B5EF4-FFF2-40B4-BE49-F238E27FC236}">
                <a16:creationId xmlns:a16="http://schemas.microsoft.com/office/drawing/2014/main" id="{CD0AEFB6-7F38-B4DC-37DE-115478E6F45A}"/>
              </a:ext>
            </a:extLst>
          </p:cNvPr>
          <p:cNvGrpSpPr/>
          <p:nvPr/>
        </p:nvGrpSpPr>
        <p:grpSpPr>
          <a:xfrm>
            <a:off x="764489" y="2088136"/>
            <a:ext cx="3312572" cy="1218393"/>
            <a:chOff x="1333655" y="1148960"/>
            <a:chExt cx="3312572" cy="1218393"/>
          </a:xfrm>
          <a:solidFill>
            <a:srgbClr val="FFFFFF">
              <a:alpha val="30196"/>
            </a:srgbClr>
          </a:solidFill>
        </p:grpSpPr>
        <p:sp>
          <p:nvSpPr>
            <p:cNvPr id="6" name="Freeform: Shape 5">
              <a:extLst>
                <a:ext uri="{FF2B5EF4-FFF2-40B4-BE49-F238E27FC236}">
                  <a16:creationId xmlns:a16="http://schemas.microsoft.com/office/drawing/2014/main" id="{41B980BF-13DD-E161-74E8-62B7FF18274B}"/>
                </a:ext>
              </a:extLst>
            </p:cNvPr>
            <p:cNvSpPr/>
            <p:nvPr/>
          </p:nvSpPr>
          <p:spPr>
            <a:xfrm rot="1528226">
              <a:off x="1333655" y="1148960"/>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7" name="TextBox 6">
              <a:extLst>
                <a:ext uri="{FF2B5EF4-FFF2-40B4-BE49-F238E27FC236}">
                  <a16:creationId xmlns:a16="http://schemas.microsoft.com/office/drawing/2014/main" id="{3130EB90-7BB5-DC18-79AB-D0F9A3D1EE60}"/>
                </a:ext>
              </a:extLst>
            </p:cNvPr>
            <p:cNvSpPr txBox="1"/>
            <p:nvPr/>
          </p:nvSpPr>
          <p:spPr>
            <a:xfrm rot="1528226">
              <a:off x="1770080" y="1425008"/>
              <a:ext cx="2829376" cy="677108"/>
            </a:xfrm>
            <a:prstGeom prst="rect">
              <a:avLst/>
            </a:prstGeom>
            <a:grpFill/>
            <a:ln w="0">
              <a:noFill/>
            </a:ln>
          </p:spPr>
          <p:txBody>
            <a:bodyPr wrap="square" lIns="0" tIns="0" rIns="0" bIns="0" anchor="t">
              <a:spAutoFit/>
            </a:bodyPr>
            <a:lstStyle/>
            <a:p>
              <a:r>
                <a:rPr lang="en-US" sz="2200" b="0" u="none" strike="noStrike" dirty="0">
                  <a:solidFill>
                    <a:srgbClr val="C00000"/>
                  </a:solidFill>
                  <a:effectLst/>
                  <a:uFillTx/>
                  <a:latin typeface="SourceCodePro"/>
                  <a:ea typeface="SourceCodePro"/>
                </a:rPr>
                <a:t>entered:     </a:t>
              </a:r>
              <a:r>
                <a:rPr lang="en-US" sz="2200" dirty="0">
                  <a:solidFill>
                    <a:srgbClr val="C00000"/>
                  </a:solidFill>
                  <a:latin typeface="SourceCodePro"/>
                  <a:ea typeface="SourceCodePro"/>
                </a:rPr>
                <a:t>2</a:t>
              </a:r>
              <a:r>
                <a:rPr lang="en-US" sz="2200" b="0" u="none" strike="noStrike" dirty="0">
                  <a:solidFill>
                    <a:srgbClr val="C00000"/>
                  </a:solidFill>
                  <a:effectLst/>
                  <a:uFillTx/>
                  <a:latin typeface="SourceCodePro"/>
                  <a:ea typeface="SourceCodePro"/>
                </a:rPr>
                <a:t>0 000</a:t>
              </a:r>
            </a:p>
            <a:p>
              <a:r>
                <a:rPr lang="en-US" sz="2200" b="0" u="none" strike="noStrike" dirty="0">
                  <a:solidFill>
                    <a:srgbClr val="C00000"/>
                  </a:solidFill>
                  <a:effectLst/>
                  <a:uFillTx/>
                  <a:latin typeface="SourceCodePro"/>
                  <a:ea typeface="SourceCodePro"/>
                </a:rPr>
                <a:t>left:             </a:t>
              </a:r>
              <a:r>
                <a:rPr lang="en-US" sz="2200" dirty="0">
                  <a:solidFill>
                    <a:srgbClr val="C00000"/>
                  </a:solidFill>
                  <a:latin typeface="SourceCodePro"/>
                  <a:ea typeface="SourceCodePro"/>
                </a:rPr>
                <a:t>19</a:t>
              </a:r>
              <a:r>
                <a:rPr lang="en-US" sz="2200" b="0" u="none" strike="noStrike" dirty="0">
                  <a:solidFill>
                    <a:srgbClr val="C00000"/>
                  </a:solidFill>
                  <a:effectLst/>
                  <a:uFillTx/>
                  <a:latin typeface="SourceCodePro"/>
                  <a:ea typeface="SourceCodePro"/>
                </a:rPr>
                <a:t> 801</a:t>
              </a:r>
            </a:p>
          </p:txBody>
        </p:sp>
      </p:grpSp>
      <p:grpSp>
        <p:nvGrpSpPr>
          <p:cNvPr id="9" name="Group 8">
            <a:extLst>
              <a:ext uri="{FF2B5EF4-FFF2-40B4-BE49-F238E27FC236}">
                <a16:creationId xmlns:a16="http://schemas.microsoft.com/office/drawing/2014/main" id="{5D3E2520-B743-7D2E-BC72-B62CD1F33474}"/>
              </a:ext>
            </a:extLst>
          </p:cNvPr>
          <p:cNvGrpSpPr/>
          <p:nvPr/>
        </p:nvGrpSpPr>
        <p:grpSpPr>
          <a:xfrm rot="19157479">
            <a:off x="8257036" y="4893934"/>
            <a:ext cx="3312572" cy="1218393"/>
            <a:chOff x="4332416" y="5071108"/>
            <a:chExt cx="3312572" cy="1218393"/>
          </a:xfrm>
          <a:solidFill>
            <a:srgbClr val="FFFFFF">
              <a:alpha val="30196"/>
            </a:srgbClr>
          </a:solidFill>
        </p:grpSpPr>
        <p:sp>
          <p:nvSpPr>
            <p:cNvPr id="10" name="Freeform: Shape 9">
              <a:extLst>
                <a:ext uri="{FF2B5EF4-FFF2-40B4-BE49-F238E27FC236}">
                  <a16:creationId xmlns:a16="http://schemas.microsoft.com/office/drawing/2014/main" id="{A3A5F127-BDE1-A508-4AEF-1EC111741A81}"/>
                </a:ext>
              </a:extLst>
            </p:cNvPr>
            <p:cNvSpPr/>
            <p:nvPr/>
          </p:nvSpPr>
          <p:spPr>
            <a:xfrm rot="1528226">
              <a:off x="4332416" y="5071108"/>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11" name="TextBox 10">
              <a:extLst>
                <a:ext uri="{FF2B5EF4-FFF2-40B4-BE49-F238E27FC236}">
                  <a16:creationId xmlns:a16="http://schemas.microsoft.com/office/drawing/2014/main" id="{F19DD51E-C0B6-75D2-F8CF-66E6D5A8F930}"/>
                </a:ext>
              </a:extLst>
            </p:cNvPr>
            <p:cNvSpPr txBox="1"/>
            <p:nvPr/>
          </p:nvSpPr>
          <p:spPr>
            <a:xfrm rot="1528226">
              <a:off x="4768841" y="5347155"/>
              <a:ext cx="2829376" cy="677108"/>
            </a:xfrm>
            <a:prstGeom prst="rect">
              <a:avLst/>
            </a:prstGeom>
            <a:grpFill/>
            <a:ln w="0">
              <a:noFill/>
            </a:ln>
          </p:spPr>
          <p:txBody>
            <a:bodyPr wrap="square" lIns="0" tIns="0" rIns="0" bIns="0" anchor="t">
              <a:spAutoFit/>
            </a:bodyPr>
            <a:lstStyle/>
            <a:p>
              <a:r>
                <a:rPr lang="en-US" sz="2200" b="0" u="none" strike="noStrike" dirty="0">
                  <a:solidFill>
                    <a:srgbClr val="C00000"/>
                  </a:solidFill>
                  <a:effectLst/>
                  <a:uFillTx/>
                  <a:latin typeface="SourceCodePro"/>
                  <a:ea typeface="SourceCodePro"/>
                </a:rPr>
                <a:t>entered:     19 942</a:t>
              </a:r>
            </a:p>
            <a:p>
              <a:r>
                <a:rPr lang="en-US" sz="2200" b="0" u="none" strike="noStrike" dirty="0">
                  <a:solidFill>
                    <a:srgbClr val="C00000"/>
                  </a:solidFill>
                  <a:effectLst/>
                  <a:uFillTx/>
                  <a:latin typeface="SourceCodePro"/>
                  <a:ea typeface="SourceCodePro"/>
                </a:rPr>
                <a:t>left:             20 000</a:t>
              </a:r>
            </a:p>
          </p:txBody>
        </p:sp>
      </p:grpSp>
      <p:grpSp>
        <p:nvGrpSpPr>
          <p:cNvPr id="12" name="Group 11">
            <a:extLst>
              <a:ext uri="{FF2B5EF4-FFF2-40B4-BE49-F238E27FC236}">
                <a16:creationId xmlns:a16="http://schemas.microsoft.com/office/drawing/2014/main" id="{3A150BF9-3BDF-9A2D-4873-CB411DA1307B}"/>
              </a:ext>
            </a:extLst>
          </p:cNvPr>
          <p:cNvGrpSpPr/>
          <p:nvPr/>
        </p:nvGrpSpPr>
        <p:grpSpPr>
          <a:xfrm rot="20673857">
            <a:off x="7943352" y="730924"/>
            <a:ext cx="3312572" cy="1218393"/>
            <a:chOff x="1333655" y="1148960"/>
            <a:chExt cx="3312572" cy="1218393"/>
          </a:xfrm>
          <a:solidFill>
            <a:srgbClr val="FFFFFF">
              <a:alpha val="30196"/>
            </a:srgbClr>
          </a:solidFill>
        </p:grpSpPr>
        <p:sp>
          <p:nvSpPr>
            <p:cNvPr id="13" name="Freeform: Shape 12">
              <a:extLst>
                <a:ext uri="{FF2B5EF4-FFF2-40B4-BE49-F238E27FC236}">
                  <a16:creationId xmlns:a16="http://schemas.microsoft.com/office/drawing/2014/main" id="{81030D78-E8D5-CBF6-E469-B5C05B1D8D03}"/>
                </a:ext>
              </a:extLst>
            </p:cNvPr>
            <p:cNvSpPr/>
            <p:nvPr/>
          </p:nvSpPr>
          <p:spPr>
            <a:xfrm rot="1528226">
              <a:off x="1333655" y="1148960"/>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14" name="TextBox 13">
              <a:extLst>
                <a:ext uri="{FF2B5EF4-FFF2-40B4-BE49-F238E27FC236}">
                  <a16:creationId xmlns:a16="http://schemas.microsoft.com/office/drawing/2014/main" id="{FFCBA090-E5CA-8A15-7690-3457352C1F3D}"/>
                </a:ext>
              </a:extLst>
            </p:cNvPr>
            <p:cNvSpPr txBox="1"/>
            <p:nvPr/>
          </p:nvSpPr>
          <p:spPr>
            <a:xfrm rot="1528226">
              <a:off x="1770080" y="1425008"/>
              <a:ext cx="2829376" cy="677108"/>
            </a:xfrm>
            <a:prstGeom prst="rect">
              <a:avLst/>
            </a:prstGeom>
            <a:grpFill/>
            <a:ln w="0">
              <a:noFill/>
            </a:ln>
          </p:spPr>
          <p:txBody>
            <a:bodyPr wrap="square" lIns="0" tIns="0" rIns="0" bIns="0" anchor="t">
              <a:spAutoFit/>
            </a:bodyPr>
            <a:lstStyle/>
            <a:p>
              <a:r>
                <a:rPr lang="en-US" sz="2200" b="0" u="none" strike="noStrike" dirty="0">
                  <a:solidFill>
                    <a:srgbClr val="C00000"/>
                  </a:solidFill>
                  <a:effectLst/>
                  <a:uFillTx/>
                  <a:latin typeface="SourceCodePro"/>
                  <a:ea typeface="SourceCodePro"/>
                </a:rPr>
                <a:t>entered:     </a:t>
              </a:r>
            </a:p>
            <a:p>
              <a:r>
                <a:rPr lang="en-US" sz="2200" b="0" u="none" strike="noStrike" dirty="0">
                  <a:solidFill>
                    <a:srgbClr val="C00000"/>
                  </a:solidFill>
                  <a:effectLst/>
                  <a:uFillTx/>
                  <a:latin typeface="SourceCodePro"/>
                  <a:ea typeface="SourceCodePro"/>
                </a:rPr>
                <a:t>left:             </a:t>
              </a:r>
            </a:p>
          </p:txBody>
        </p:sp>
      </p:grpSp>
      <p:sp>
        <p:nvSpPr>
          <p:cNvPr id="15" name="Arrow: Circular 14">
            <a:extLst>
              <a:ext uri="{FF2B5EF4-FFF2-40B4-BE49-F238E27FC236}">
                <a16:creationId xmlns:a16="http://schemas.microsoft.com/office/drawing/2014/main" id="{D55425AB-0BAE-7463-AF16-46AC7FACC2D8}"/>
              </a:ext>
            </a:extLst>
          </p:cNvPr>
          <p:cNvSpPr/>
          <p:nvPr/>
        </p:nvSpPr>
        <p:spPr>
          <a:xfrm>
            <a:off x="9664953" y="1114211"/>
            <a:ext cx="442175" cy="421725"/>
          </a:xfrm>
          <a:prstGeom prst="circularArrow">
            <a:avLst>
              <a:gd name="adj1" fmla="val 12500"/>
              <a:gd name="adj2" fmla="val 1142319"/>
              <a:gd name="adj3" fmla="val 20457681"/>
              <a:gd name="adj4" fmla="val 2518535"/>
              <a:gd name="adj5" fmla="val 12500"/>
            </a:avLst>
          </a:prstGeom>
          <a:solidFill>
            <a:srgbClr val="C00000">
              <a:alpha val="30196"/>
            </a:srgbClr>
          </a:solidFill>
          <a:ln>
            <a:solidFill>
              <a:srgbClr val="C00000">
                <a:alpha val="29804"/>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6" name="Group 15">
            <a:extLst>
              <a:ext uri="{FF2B5EF4-FFF2-40B4-BE49-F238E27FC236}">
                <a16:creationId xmlns:a16="http://schemas.microsoft.com/office/drawing/2014/main" id="{5B610C24-727B-320A-5400-16F831CBC763}"/>
              </a:ext>
            </a:extLst>
          </p:cNvPr>
          <p:cNvGrpSpPr/>
          <p:nvPr/>
        </p:nvGrpSpPr>
        <p:grpSpPr>
          <a:xfrm rot="19361991">
            <a:off x="3326709" y="814975"/>
            <a:ext cx="3343325" cy="1218393"/>
            <a:chOff x="1302902" y="1148960"/>
            <a:chExt cx="3343325" cy="1218393"/>
          </a:xfrm>
          <a:solidFill>
            <a:srgbClr val="FFFFFF">
              <a:alpha val="30196"/>
            </a:srgbClr>
          </a:solidFill>
        </p:grpSpPr>
        <p:sp>
          <p:nvSpPr>
            <p:cNvPr id="17" name="Freeform: Shape 16">
              <a:extLst>
                <a:ext uri="{FF2B5EF4-FFF2-40B4-BE49-F238E27FC236}">
                  <a16:creationId xmlns:a16="http://schemas.microsoft.com/office/drawing/2014/main" id="{0881C19C-4C5B-9F22-4E5D-230E2E49F79D}"/>
                </a:ext>
              </a:extLst>
            </p:cNvPr>
            <p:cNvSpPr/>
            <p:nvPr/>
          </p:nvSpPr>
          <p:spPr>
            <a:xfrm rot="1528226">
              <a:off x="1333655" y="1148960"/>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18" name="TextBox 17">
              <a:extLst>
                <a:ext uri="{FF2B5EF4-FFF2-40B4-BE49-F238E27FC236}">
                  <a16:creationId xmlns:a16="http://schemas.microsoft.com/office/drawing/2014/main" id="{2FC539F3-B6B3-0FE0-B445-903EB38206AA}"/>
                </a:ext>
              </a:extLst>
            </p:cNvPr>
            <p:cNvSpPr txBox="1"/>
            <p:nvPr/>
          </p:nvSpPr>
          <p:spPr>
            <a:xfrm rot="1528226">
              <a:off x="1302902" y="1319422"/>
              <a:ext cx="3320418" cy="677108"/>
            </a:xfrm>
            <a:prstGeom prst="rect">
              <a:avLst/>
            </a:prstGeom>
            <a:grpFill/>
            <a:ln w="0">
              <a:noFill/>
            </a:ln>
          </p:spPr>
          <p:txBody>
            <a:bodyPr wrap="square" lIns="0" tIns="0" rIns="0" bIns="0" anchor="t">
              <a:spAutoFit/>
            </a:bodyPr>
            <a:lstStyle/>
            <a:p>
              <a:pPr algn="ctr"/>
              <a:r>
                <a:rPr lang="en-US" sz="2200" b="0" u="none" strike="noStrike" dirty="0">
                  <a:solidFill>
                    <a:srgbClr val="C00000"/>
                  </a:solidFill>
                  <a:effectLst/>
                  <a:uFillTx/>
                  <a:latin typeface="SourceCodePro"/>
                  <a:ea typeface="SourceCodePro"/>
                </a:rPr>
                <a:t>Do not enter</a:t>
              </a:r>
            </a:p>
            <a:p>
              <a:pPr algn="ctr"/>
              <a:r>
                <a:rPr lang="en-US" sz="2200" b="0" u="none" strike="noStrike" dirty="0">
                  <a:solidFill>
                    <a:srgbClr val="C00000"/>
                  </a:solidFill>
                  <a:effectLst/>
                  <a:uFillTx/>
                  <a:latin typeface="SourceCodePro"/>
                  <a:ea typeface="SourceCodePro"/>
                </a:rPr>
                <a:t>EARTHQUAKE</a:t>
              </a:r>
            </a:p>
          </p:txBody>
        </p:sp>
      </p:grpSp>
      <p:sp>
        <p:nvSpPr>
          <p:cNvPr id="19" name="Slide Number Placeholder 18">
            <a:extLst>
              <a:ext uri="{FF2B5EF4-FFF2-40B4-BE49-F238E27FC236}">
                <a16:creationId xmlns:a16="http://schemas.microsoft.com/office/drawing/2014/main" id="{A1B52CAD-B63F-E56B-B9CD-96E8D0518753}"/>
              </a:ext>
            </a:extLst>
          </p:cNvPr>
          <p:cNvSpPr>
            <a:spLocks noGrp="1"/>
          </p:cNvSpPr>
          <p:nvPr>
            <p:ph type="sldNum" sz="quarter" idx="12"/>
          </p:nvPr>
        </p:nvSpPr>
        <p:spPr/>
        <p:txBody>
          <a:bodyPr/>
          <a:lstStyle/>
          <a:p>
            <a:fld id="{A8D619E7-4118-4CE2-9D02-1AAE6DCE22A2}" type="slidenum">
              <a:rPr lang="en-US" smtClean="0"/>
              <a:t>2</a:t>
            </a:fld>
            <a:endParaRPr lang="en-US"/>
          </a:p>
        </p:txBody>
      </p:sp>
      <p:sp>
        <p:nvSpPr>
          <p:cNvPr id="20" name="Freeform: Shape 19">
            <a:extLst>
              <a:ext uri="{FF2B5EF4-FFF2-40B4-BE49-F238E27FC236}">
                <a16:creationId xmlns:a16="http://schemas.microsoft.com/office/drawing/2014/main" id="{46BDDB63-CCBC-BCF3-7DB3-AC9A7F2684BA}"/>
              </a:ext>
            </a:extLst>
          </p:cNvPr>
          <p:cNvSpPr/>
          <p:nvPr/>
        </p:nvSpPr>
        <p:spPr>
          <a:xfrm rot="20250827">
            <a:off x="3078653" y="4279113"/>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noFill/>
          <a:ln w="19050">
            <a:solidFill>
              <a:schemeClr val="accent6">
                <a:lumMod val="75000"/>
              </a:schemeClr>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chemeClr val="accent1">
                  <a:lumMod val="75000"/>
                </a:schemeClr>
              </a:solidFill>
              <a:effectLst/>
              <a:uFillTx/>
              <a:latin typeface="Times New Roman"/>
            </a:endParaRPr>
          </a:p>
        </p:txBody>
      </p:sp>
      <p:sp>
        <p:nvSpPr>
          <p:cNvPr id="21" name="TextBox 20">
            <a:extLst>
              <a:ext uri="{FF2B5EF4-FFF2-40B4-BE49-F238E27FC236}">
                <a16:creationId xmlns:a16="http://schemas.microsoft.com/office/drawing/2014/main" id="{011A998E-6178-BB51-7AA8-33EAC83A88F6}"/>
              </a:ext>
            </a:extLst>
          </p:cNvPr>
          <p:cNvSpPr txBox="1"/>
          <p:nvPr/>
        </p:nvSpPr>
        <p:spPr>
          <a:xfrm rot="20250827">
            <a:off x="3647773" y="4436766"/>
            <a:ext cx="2756974" cy="677108"/>
          </a:xfrm>
          <a:prstGeom prst="rect">
            <a:avLst/>
          </a:prstGeom>
          <a:noFill/>
          <a:ln w="0">
            <a:noFill/>
          </a:ln>
        </p:spPr>
        <p:txBody>
          <a:bodyPr wrap="square" lIns="0" tIns="0" rIns="0" bIns="0" anchor="t">
            <a:spAutoFit/>
          </a:bodyPr>
          <a:lstStyle/>
          <a:p>
            <a:r>
              <a:rPr lang="en-US" sz="2200" b="0" u="none" strike="noStrike" dirty="0">
                <a:solidFill>
                  <a:schemeClr val="accent6">
                    <a:lumMod val="75000"/>
                  </a:schemeClr>
                </a:solidFill>
                <a:effectLst/>
                <a:uFillTx/>
                <a:latin typeface="SourceCodePro"/>
                <a:ea typeface="SourceCodePro"/>
              </a:rPr>
              <a:t>entered:     </a:t>
            </a:r>
            <a:r>
              <a:rPr lang="en-US" sz="2200" dirty="0">
                <a:solidFill>
                  <a:schemeClr val="accent6">
                    <a:lumMod val="75000"/>
                  </a:schemeClr>
                </a:solidFill>
                <a:latin typeface="SourceCodePro"/>
                <a:ea typeface="SourceCodePro"/>
              </a:rPr>
              <a:t>2</a:t>
            </a:r>
            <a:r>
              <a:rPr lang="en-US" sz="2200" b="0" u="none" strike="noStrike" dirty="0">
                <a:solidFill>
                  <a:schemeClr val="accent6">
                    <a:lumMod val="75000"/>
                  </a:schemeClr>
                </a:solidFill>
                <a:effectLst/>
                <a:uFillTx/>
                <a:latin typeface="SourceCodePro"/>
                <a:ea typeface="SourceCodePro"/>
              </a:rPr>
              <a:t>0 000</a:t>
            </a:r>
          </a:p>
          <a:p>
            <a:r>
              <a:rPr lang="en-US" sz="2200" b="0" u="none" strike="noStrike" dirty="0">
                <a:solidFill>
                  <a:schemeClr val="accent6">
                    <a:lumMod val="75000"/>
                  </a:schemeClr>
                </a:solidFill>
                <a:effectLst/>
                <a:uFillTx/>
                <a:latin typeface="SourceCodePro"/>
                <a:ea typeface="SourceCodePro"/>
              </a:rPr>
              <a:t>left:             </a:t>
            </a:r>
            <a:r>
              <a:rPr lang="en-US" sz="2200" dirty="0">
                <a:solidFill>
                  <a:schemeClr val="accent6">
                    <a:lumMod val="75000"/>
                  </a:schemeClr>
                </a:solidFill>
                <a:latin typeface="SourceCodePro"/>
                <a:ea typeface="SourceCodePro"/>
              </a:rPr>
              <a:t>2</a:t>
            </a:r>
            <a:r>
              <a:rPr lang="en-US" sz="2200" b="0" u="none" strike="noStrike" dirty="0">
                <a:solidFill>
                  <a:schemeClr val="accent6">
                    <a:lumMod val="75000"/>
                  </a:schemeClr>
                </a:solidFill>
                <a:effectLst/>
                <a:uFillTx/>
                <a:latin typeface="SourceCodePro"/>
                <a:ea typeface="SourceCodePro"/>
              </a:rPr>
              <a:t>0 000</a:t>
            </a:r>
          </a:p>
        </p:txBody>
      </p:sp>
    </p:spTree>
    <p:extLst>
      <p:ext uri="{BB962C8B-B14F-4D97-AF65-F5344CB8AC3E}">
        <p14:creationId xmlns:p14="http://schemas.microsoft.com/office/powerpoint/2010/main" val="1553752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15" grpId="0" animBg="1"/>
      <p:bldP spid="20" grpId="0" animBg="1"/>
      <p:bldP spid="2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7FA37D-0073-7AD8-40A5-75AAB882652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69384" y="1439417"/>
            <a:ext cx="7035800" cy="5051152"/>
          </a:xfrm>
          <a:prstGeom prst="rect">
            <a:avLst/>
          </a:prstGeom>
        </p:spPr>
      </p:pic>
      <p:sp>
        <p:nvSpPr>
          <p:cNvPr id="2" name="Title 1">
            <a:extLst>
              <a:ext uri="{FF2B5EF4-FFF2-40B4-BE49-F238E27FC236}">
                <a16:creationId xmlns:a16="http://schemas.microsoft.com/office/drawing/2014/main" id="{BA4DC7E0-4549-D192-261E-DB55AC811D21}"/>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Welcome to the monster ZOO</a:t>
            </a:r>
            <a:endParaRPr lang="en-US" dirty="0"/>
          </a:p>
        </p:txBody>
      </p:sp>
      <p:sp>
        <p:nvSpPr>
          <p:cNvPr id="5" name="TextBox 4">
            <a:extLst>
              <a:ext uri="{FF2B5EF4-FFF2-40B4-BE49-F238E27FC236}">
                <a16:creationId xmlns:a16="http://schemas.microsoft.com/office/drawing/2014/main" id="{1ADC0AB9-585D-D366-9813-6D9BAB99F5BF}"/>
              </a:ext>
            </a:extLst>
          </p:cNvPr>
          <p:cNvSpPr txBox="1"/>
          <p:nvPr/>
        </p:nvSpPr>
        <p:spPr>
          <a:xfrm rot="19449913">
            <a:off x="1043612" y="3302761"/>
            <a:ext cx="9557443" cy="430887"/>
          </a:xfrm>
          <a:prstGeom prst="rect">
            <a:avLst/>
          </a:prstGeom>
          <a:solidFill>
            <a:srgbClr val="FFFFFF">
              <a:alpha val="69804"/>
            </a:srgbClr>
          </a:solidFill>
          <a:ln w="0">
            <a:noFill/>
          </a:ln>
        </p:spPr>
        <p:txBody>
          <a:bodyPr wrap="square" lIns="0" tIns="0" rIns="0" bIns="0" anchor="t">
            <a:spAutoFit/>
          </a:bodyPr>
          <a:lstStyle/>
          <a:p>
            <a:r>
              <a:rPr lang="en-US" sz="2800" b="0" u="none" strike="noStrike" dirty="0">
                <a:solidFill>
                  <a:srgbClr val="C00000"/>
                </a:solidFill>
                <a:effectLst/>
                <a:uFillTx/>
                <a:latin typeface="SourceCodePro"/>
                <a:ea typeface="SourceCodePro"/>
              </a:rPr>
              <a:t>Please keep your hands inside the critical section at all times</a:t>
            </a:r>
          </a:p>
        </p:txBody>
      </p:sp>
      <p:sp>
        <p:nvSpPr>
          <p:cNvPr id="3" name="Slide Number Placeholder 2">
            <a:extLst>
              <a:ext uri="{FF2B5EF4-FFF2-40B4-BE49-F238E27FC236}">
                <a16:creationId xmlns:a16="http://schemas.microsoft.com/office/drawing/2014/main" id="{D459A022-DBAE-9216-DEE0-14139BFBE026}"/>
              </a:ext>
            </a:extLst>
          </p:cNvPr>
          <p:cNvSpPr>
            <a:spLocks noGrp="1"/>
          </p:cNvSpPr>
          <p:nvPr>
            <p:ph type="sldNum" sz="quarter" idx="12"/>
          </p:nvPr>
        </p:nvSpPr>
        <p:spPr/>
        <p:txBody>
          <a:bodyPr/>
          <a:lstStyle/>
          <a:p>
            <a:fld id="{A8D619E7-4118-4CE2-9D02-1AAE6DCE22A2}" type="slidenum">
              <a:rPr lang="en-US" smtClean="0"/>
              <a:t>3</a:t>
            </a:fld>
            <a:endParaRPr lang="en-US"/>
          </a:p>
        </p:txBody>
      </p:sp>
    </p:spTree>
    <p:extLst>
      <p:ext uri="{BB962C8B-B14F-4D97-AF65-F5344CB8AC3E}">
        <p14:creationId xmlns:p14="http://schemas.microsoft.com/office/powerpoint/2010/main" val="2303233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C2221-DB45-5083-DBB4-E23450C46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8920F-8277-33DA-3FAC-D701FEA4134D}"/>
              </a:ext>
            </a:extLst>
          </p:cNvPr>
          <p:cNvSpPr>
            <a:spLocks noGrp="1"/>
          </p:cNvSpPr>
          <p:nvPr>
            <p:ph type="title"/>
          </p:nvPr>
        </p:nvSpPr>
        <p:spPr/>
        <p:txBody>
          <a:bodyPr/>
          <a:lstStyle/>
          <a:p>
            <a:r>
              <a:rPr lang="en-US" b="1" dirty="0">
                <a:latin typeface="Fraunces-72pt-SemiBold-NonWonky"/>
              </a:rPr>
              <a:t>Zookeeper rule #1</a:t>
            </a:r>
          </a:p>
        </p:txBody>
      </p:sp>
      <p:sp>
        <p:nvSpPr>
          <p:cNvPr id="3" name="TextBox 2">
            <a:extLst>
              <a:ext uri="{FF2B5EF4-FFF2-40B4-BE49-F238E27FC236}">
                <a16:creationId xmlns:a16="http://schemas.microsoft.com/office/drawing/2014/main" id="{87168231-337C-444E-5AB7-0663C00B839F}"/>
              </a:ext>
            </a:extLst>
          </p:cNvPr>
          <p:cNvSpPr txBox="1"/>
          <p:nvPr/>
        </p:nvSpPr>
        <p:spPr>
          <a:xfrm>
            <a:off x="838200" y="1614196"/>
            <a:ext cx="5729649" cy="769441"/>
          </a:xfrm>
          <a:prstGeom prst="rect">
            <a:avLst/>
          </a:prstGeom>
          <a:noFill/>
        </p:spPr>
        <p:txBody>
          <a:bodyPr wrap="square" rtlCol="0">
            <a:spAutoFit/>
          </a:bodyPr>
          <a:lstStyle/>
          <a:p>
            <a:r>
              <a:rPr lang="en-US" sz="2200" i="1" dirty="0">
                <a:latin typeface="SourceSans3ExtraLight"/>
              </a:rPr>
              <a:t>Monsters don’t attack every visit. </a:t>
            </a:r>
          </a:p>
          <a:p>
            <a:r>
              <a:rPr lang="en-US" sz="2200" i="1" dirty="0">
                <a:latin typeface="SourceSans3ExtraLight"/>
              </a:rPr>
              <a:t>That’s exactly why they are so good at hiding</a:t>
            </a:r>
          </a:p>
        </p:txBody>
      </p:sp>
      <p:sp>
        <p:nvSpPr>
          <p:cNvPr id="4" name="TextBox 3">
            <a:extLst>
              <a:ext uri="{FF2B5EF4-FFF2-40B4-BE49-F238E27FC236}">
                <a16:creationId xmlns:a16="http://schemas.microsoft.com/office/drawing/2014/main" id="{50BE98B3-C669-59F7-D8E3-6B40A9080A63}"/>
              </a:ext>
            </a:extLst>
          </p:cNvPr>
          <p:cNvSpPr txBox="1"/>
          <p:nvPr/>
        </p:nvSpPr>
        <p:spPr>
          <a:xfrm>
            <a:off x="838199" y="2846697"/>
            <a:ext cx="9973733" cy="309052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A concurrency bug is a </a:t>
            </a:r>
            <a:r>
              <a:rPr lang="en-US" sz="2200" b="1" dirty="0"/>
              <a:t>possible</a:t>
            </a:r>
            <a:r>
              <a:rPr lang="en-US" sz="2200" dirty="0"/>
              <a:t> interleaving, not a guaranteed one</a:t>
            </a:r>
          </a:p>
          <a:p>
            <a:pPr marL="285750" indent="-285750">
              <a:lnSpc>
                <a:spcPct val="150000"/>
              </a:lnSpc>
              <a:buFont typeface="Arial" panose="020B0604020202020204" pitchFamily="34" charset="0"/>
              <a:buChar char="•"/>
            </a:pPr>
            <a:r>
              <a:rPr lang="en-US" sz="2200" dirty="0"/>
              <a:t>Your test suite sees a handful of </a:t>
            </a:r>
            <a:r>
              <a:rPr lang="en-US" sz="2200" dirty="0" err="1"/>
              <a:t>interleavings</a:t>
            </a:r>
            <a:r>
              <a:rPr lang="en-US" sz="2200" dirty="0"/>
              <a:t> - production sees tons of them</a:t>
            </a:r>
          </a:p>
          <a:p>
            <a:pPr marL="285750" indent="-285750">
              <a:lnSpc>
                <a:spcPct val="150000"/>
              </a:lnSpc>
              <a:buFont typeface="Arial" panose="020B0604020202020204" pitchFamily="34" charset="0"/>
              <a:buChar char="•"/>
            </a:pPr>
            <a:r>
              <a:rPr lang="en-US" sz="2200" dirty="0"/>
              <a:t>The narrower the timing window, the longer the monster sleeps</a:t>
            </a:r>
          </a:p>
          <a:p>
            <a:pPr marL="285750" indent="-285750">
              <a:lnSpc>
                <a:spcPct val="150000"/>
              </a:lnSpc>
              <a:buFont typeface="Arial" panose="020B0604020202020204" pitchFamily="34" charset="0"/>
              <a:buChar char="•"/>
            </a:pPr>
            <a:r>
              <a:rPr lang="en-US" sz="2200" dirty="0"/>
              <a:t>Logging and debugging can change the schedule</a:t>
            </a:r>
          </a:p>
          <a:p>
            <a:pPr marL="285750" indent="-285750">
              <a:lnSpc>
                <a:spcPct val="150000"/>
              </a:lnSpc>
              <a:buFont typeface="Arial" panose="020B0604020202020204" pitchFamily="34" charset="0"/>
              <a:buChar char="•"/>
            </a:pPr>
            <a:r>
              <a:rPr lang="en-US" sz="2200" dirty="0"/>
              <a:t>"It works on my machine" means the monster doesn't like the taste of your machine...yet</a:t>
            </a:r>
          </a:p>
        </p:txBody>
      </p:sp>
      <p:sp>
        <p:nvSpPr>
          <p:cNvPr id="5" name="Slide Number Placeholder 4">
            <a:extLst>
              <a:ext uri="{FF2B5EF4-FFF2-40B4-BE49-F238E27FC236}">
                <a16:creationId xmlns:a16="http://schemas.microsoft.com/office/drawing/2014/main" id="{A985E359-9845-48BF-C79B-3F21E26E627C}"/>
              </a:ext>
            </a:extLst>
          </p:cNvPr>
          <p:cNvSpPr>
            <a:spLocks noGrp="1"/>
          </p:cNvSpPr>
          <p:nvPr>
            <p:ph type="sldNum" sz="quarter" idx="12"/>
          </p:nvPr>
        </p:nvSpPr>
        <p:spPr/>
        <p:txBody>
          <a:bodyPr/>
          <a:lstStyle/>
          <a:p>
            <a:fld id="{A8D619E7-4118-4CE2-9D02-1AAE6DCE22A2}" type="slidenum">
              <a:rPr lang="en-US" smtClean="0"/>
              <a:t>4</a:t>
            </a:fld>
            <a:endParaRPr lang="en-US"/>
          </a:p>
        </p:txBody>
      </p:sp>
    </p:spTree>
    <p:extLst>
      <p:ext uri="{BB962C8B-B14F-4D97-AF65-F5344CB8AC3E}">
        <p14:creationId xmlns:p14="http://schemas.microsoft.com/office/powerpoint/2010/main" val="1376398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4CF75-D382-98C7-9B6E-D81F0BD185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13858A-C50B-38B2-7D7D-2F92AE0ECDD4}"/>
              </a:ext>
            </a:extLst>
          </p:cNvPr>
          <p:cNvSpPr>
            <a:spLocks noGrp="1"/>
          </p:cNvSpPr>
          <p:nvPr>
            <p:ph type="title"/>
          </p:nvPr>
        </p:nvSpPr>
        <p:spPr/>
        <p:txBody>
          <a:bodyPr/>
          <a:lstStyle/>
          <a:p>
            <a:r>
              <a:rPr lang="en-US" b="1" dirty="0">
                <a:latin typeface="Fraunces-72pt-SemiBold-NonWonky"/>
              </a:rPr>
              <a:t>How to read a monster card</a:t>
            </a:r>
          </a:p>
        </p:txBody>
      </p:sp>
      <p:sp>
        <p:nvSpPr>
          <p:cNvPr id="4" name="TextBox 3">
            <a:extLst>
              <a:ext uri="{FF2B5EF4-FFF2-40B4-BE49-F238E27FC236}">
                <a16:creationId xmlns:a16="http://schemas.microsoft.com/office/drawing/2014/main" id="{136AA9BD-CAC1-DCD7-5552-A10E9B0D7D1B}"/>
              </a:ext>
            </a:extLst>
          </p:cNvPr>
          <p:cNvSpPr txBox="1"/>
          <p:nvPr/>
        </p:nvSpPr>
        <p:spPr>
          <a:xfrm>
            <a:off x="4765040" y="1493724"/>
            <a:ext cx="7142480" cy="4614020"/>
          </a:xfrm>
          <a:prstGeom prst="rect">
            <a:avLst/>
          </a:prstGeom>
          <a:noFill/>
        </p:spPr>
        <p:txBody>
          <a:bodyPr wrap="square" rtlCol="0">
            <a:spAutoFit/>
          </a:bodyPr>
          <a:lstStyle/>
          <a:p>
            <a:pPr>
              <a:lnSpc>
                <a:spcPct val="150000"/>
              </a:lnSpc>
            </a:pPr>
            <a:r>
              <a:rPr lang="en-US" sz="2200" dirty="0"/>
              <a:t>Each monster leaves four clues</a:t>
            </a:r>
          </a:p>
          <a:p>
            <a:pPr>
              <a:lnSpc>
                <a:spcPct val="150000"/>
              </a:lnSpc>
            </a:pPr>
            <a:endParaRPr lang="en-US" sz="2200" dirty="0"/>
          </a:p>
          <a:p>
            <a:pPr marL="285750" indent="-285750">
              <a:lnSpc>
                <a:spcPct val="150000"/>
              </a:lnSpc>
              <a:buFont typeface="Arial" panose="020B0604020202020204" pitchFamily="34" charset="0"/>
              <a:buChar char="•"/>
            </a:pPr>
            <a:r>
              <a:rPr lang="en-US" sz="2200" b="1" dirty="0"/>
              <a:t>Habitat		</a:t>
            </a:r>
            <a:r>
              <a:rPr lang="en-US" sz="2200" dirty="0"/>
              <a:t>where it nests in real code</a:t>
            </a:r>
          </a:p>
          <a:p>
            <a:pPr marL="285750" indent="-285750">
              <a:lnSpc>
                <a:spcPct val="150000"/>
              </a:lnSpc>
              <a:buFont typeface="Arial" panose="020B0604020202020204" pitchFamily="34" charset="0"/>
              <a:buChar char="•"/>
            </a:pPr>
            <a:r>
              <a:rPr lang="en-US" sz="2200" b="1" dirty="0" err="1"/>
              <a:t>Behaviour</a:t>
            </a:r>
            <a:r>
              <a:rPr lang="en-US" sz="2200" dirty="0"/>
              <a:t> 		what it does to your program</a:t>
            </a:r>
          </a:p>
          <a:p>
            <a:pPr marL="285750" indent="-285750">
              <a:lnSpc>
                <a:spcPct val="150000"/>
              </a:lnSpc>
              <a:buFont typeface="Arial" panose="020B0604020202020204" pitchFamily="34" charset="0"/>
              <a:buChar char="•"/>
            </a:pPr>
            <a:r>
              <a:rPr lang="en-US" sz="2200" b="1" dirty="0"/>
              <a:t>Camouflage	</a:t>
            </a:r>
            <a:r>
              <a:rPr lang="en-US" sz="2200" dirty="0"/>
              <a:t>why you didn't see it in review</a:t>
            </a:r>
          </a:p>
          <a:p>
            <a:pPr marL="285750" indent="-285750">
              <a:lnSpc>
                <a:spcPct val="150000"/>
              </a:lnSpc>
              <a:buFont typeface="Arial" panose="020B0604020202020204" pitchFamily="34" charset="0"/>
              <a:buChar char="•"/>
            </a:pPr>
            <a:r>
              <a:rPr lang="en-US" sz="2200" b="1" dirty="0"/>
              <a:t>Taming		</a:t>
            </a:r>
            <a:r>
              <a:rPr lang="en-US" sz="2200" dirty="0"/>
              <a:t>how to keep it behind bars</a:t>
            </a:r>
          </a:p>
          <a:p>
            <a:pPr>
              <a:lnSpc>
                <a:spcPct val="150000"/>
              </a:lnSpc>
            </a:pPr>
            <a:endParaRPr lang="en-US" sz="2200" dirty="0"/>
          </a:p>
          <a:p>
            <a:pPr>
              <a:lnSpc>
                <a:spcPct val="150000"/>
              </a:lnSpc>
            </a:pPr>
            <a:endParaRPr lang="en-US" sz="2200" dirty="0"/>
          </a:p>
          <a:p>
            <a:pPr>
              <a:lnSpc>
                <a:spcPct val="150000"/>
              </a:lnSpc>
            </a:pPr>
            <a:r>
              <a:rPr lang="en-US" sz="2200" dirty="0"/>
              <a:t>Collect them all. No silver bullets included</a:t>
            </a:r>
          </a:p>
        </p:txBody>
      </p:sp>
      <p:pic>
        <p:nvPicPr>
          <p:cNvPr id="6" name="Picture 5">
            <a:extLst>
              <a:ext uri="{FF2B5EF4-FFF2-40B4-BE49-F238E27FC236}">
                <a16:creationId xmlns:a16="http://schemas.microsoft.com/office/drawing/2014/main" id="{B7E43487-295C-D489-8903-C72114DCBF8A}"/>
              </a:ext>
            </a:extLst>
          </p:cNvPr>
          <p:cNvPicPr>
            <a:picLocks noChangeAspect="1"/>
          </p:cNvPicPr>
          <p:nvPr/>
        </p:nvPicPr>
        <p:blipFill>
          <a:blip r:embed="rId3"/>
          <a:stretch>
            <a:fillRect/>
          </a:stretch>
        </p:blipFill>
        <p:spPr>
          <a:xfrm>
            <a:off x="651474" y="1427684"/>
            <a:ext cx="3766748" cy="4746100"/>
          </a:xfrm>
          <a:prstGeom prst="rect">
            <a:avLst/>
          </a:prstGeom>
        </p:spPr>
      </p:pic>
      <p:pic>
        <p:nvPicPr>
          <p:cNvPr id="8" name="Picture 7">
            <a:extLst>
              <a:ext uri="{FF2B5EF4-FFF2-40B4-BE49-F238E27FC236}">
                <a16:creationId xmlns:a16="http://schemas.microsoft.com/office/drawing/2014/main" id="{39CE793D-8A06-5AEF-2053-6F46E324EF20}"/>
              </a:ext>
            </a:extLst>
          </p:cNvPr>
          <p:cNvPicPr>
            <a:picLocks noChangeAspect="1"/>
          </p:cNvPicPr>
          <p:nvPr/>
        </p:nvPicPr>
        <p:blipFill>
          <a:blip r:embed="rId4"/>
          <a:stretch>
            <a:fillRect/>
          </a:stretch>
        </p:blipFill>
        <p:spPr>
          <a:xfrm>
            <a:off x="4533828" y="2448560"/>
            <a:ext cx="621358" cy="573029"/>
          </a:xfrm>
          <a:prstGeom prst="rect">
            <a:avLst/>
          </a:prstGeom>
        </p:spPr>
      </p:pic>
      <p:pic>
        <p:nvPicPr>
          <p:cNvPr id="10" name="Picture 9">
            <a:extLst>
              <a:ext uri="{FF2B5EF4-FFF2-40B4-BE49-F238E27FC236}">
                <a16:creationId xmlns:a16="http://schemas.microsoft.com/office/drawing/2014/main" id="{4ADB2E70-4180-FF0D-B2AA-160060EE14B2}"/>
              </a:ext>
            </a:extLst>
          </p:cNvPr>
          <p:cNvPicPr>
            <a:picLocks noChangeAspect="1"/>
          </p:cNvPicPr>
          <p:nvPr/>
        </p:nvPicPr>
        <p:blipFill>
          <a:blip r:embed="rId5"/>
          <a:stretch>
            <a:fillRect/>
          </a:stretch>
        </p:blipFill>
        <p:spPr>
          <a:xfrm>
            <a:off x="4587187" y="3088640"/>
            <a:ext cx="561030" cy="490901"/>
          </a:xfrm>
          <a:prstGeom prst="rect">
            <a:avLst/>
          </a:prstGeom>
        </p:spPr>
      </p:pic>
      <p:pic>
        <p:nvPicPr>
          <p:cNvPr id="12" name="Picture 11">
            <a:extLst>
              <a:ext uri="{FF2B5EF4-FFF2-40B4-BE49-F238E27FC236}">
                <a16:creationId xmlns:a16="http://schemas.microsoft.com/office/drawing/2014/main" id="{94E9D97A-8E35-A80C-B2A5-A31E722849BC}"/>
              </a:ext>
            </a:extLst>
          </p:cNvPr>
          <p:cNvPicPr>
            <a:picLocks noChangeAspect="1"/>
          </p:cNvPicPr>
          <p:nvPr/>
        </p:nvPicPr>
        <p:blipFill>
          <a:blip r:embed="rId6"/>
          <a:stretch>
            <a:fillRect/>
          </a:stretch>
        </p:blipFill>
        <p:spPr>
          <a:xfrm>
            <a:off x="4597878" y="3615953"/>
            <a:ext cx="519860" cy="434169"/>
          </a:xfrm>
          <a:prstGeom prst="rect">
            <a:avLst/>
          </a:prstGeom>
        </p:spPr>
      </p:pic>
      <p:pic>
        <p:nvPicPr>
          <p:cNvPr id="14" name="Picture 13">
            <a:extLst>
              <a:ext uri="{FF2B5EF4-FFF2-40B4-BE49-F238E27FC236}">
                <a16:creationId xmlns:a16="http://schemas.microsoft.com/office/drawing/2014/main" id="{6FDE541C-74F9-0FD8-7325-A736F002B182}"/>
              </a:ext>
            </a:extLst>
          </p:cNvPr>
          <p:cNvPicPr>
            <a:picLocks noChangeAspect="1"/>
          </p:cNvPicPr>
          <p:nvPr/>
        </p:nvPicPr>
        <p:blipFill>
          <a:blip r:embed="rId7"/>
          <a:stretch>
            <a:fillRect/>
          </a:stretch>
        </p:blipFill>
        <p:spPr>
          <a:xfrm>
            <a:off x="4671040" y="4096694"/>
            <a:ext cx="453666" cy="483513"/>
          </a:xfrm>
          <a:prstGeom prst="rect">
            <a:avLst/>
          </a:prstGeom>
        </p:spPr>
      </p:pic>
      <p:sp>
        <p:nvSpPr>
          <p:cNvPr id="3" name="Slide Number Placeholder 2">
            <a:extLst>
              <a:ext uri="{FF2B5EF4-FFF2-40B4-BE49-F238E27FC236}">
                <a16:creationId xmlns:a16="http://schemas.microsoft.com/office/drawing/2014/main" id="{753CB8ED-00F7-FD8F-F750-7A7DD9B20F86}"/>
              </a:ext>
            </a:extLst>
          </p:cNvPr>
          <p:cNvSpPr>
            <a:spLocks noGrp="1"/>
          </p:cNvSpPr>
          <p:nvPr>
            <p:ph type="sldNum" sz="quarter" idx="12"/>
          </p:nvPr>
        </p:nvSpPr>
        <p:spPr/>
        <p:txBody>
          <a:bodyPr/>
          <a:lstStyle/>
          <a:p>
            <a:fld id="{A8D619E7-4118-4CE2-9D02-1AAE6DCE22A2}" type="slidenum">
              <a:rPr lang="en-US" smtClean="0"/>
              <a:t>5</a:t>
            </a:fld>
            <a:endParaRPr lang="en-US"/>
          </a:p>
        </p:txBody>
      </p:sp>
    </p:spTree>
    <p:extLst>
      <p:ext uri="{BB962C8B-B14F-4D97-AF65-F5344CB8AC3E}">
        <p14:creationId xmlns:p14="http://schemas.microsoft.com/office/powerpoint/2010/main" val="4041609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6234A-7FBE-8D75-1FDD-8AAEBCF361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3DDE5D-39B9-5ACF-A357-9153AC44EB03}"/>
              </a:ext>
            </a:extLst>
          </p:cNvPr>
          <p:cNvSpPr>
            <a:spLocks noGrp="1"/>
          </p:cNvSpPr>
          <p:nvPr>
            <p:ph type="ctrTitle"/>
          </p:nvPr>
        </p:nvSpPr>
        <p:spPr>
          <a:xfrm>
            <a:off x="1524000" y="1122363"/>
            <a:ext cx="9144000" cy="2387600"/>
          </a:xfrm>
        </p:spPr>
        <p:txBody>
          <a:bodyPr/>
          <a:lstStyle/>
          <a:p>
            <a:r>
              <a:rPr lang="en-US" b="1" dirty="0">
                <a:solidFill>
                  <a:srgbClr val="1A1A1A"/>
                </a:solidFill>
                <a:latin typeface="Fraunces-72pt-SemiBold-NonWonky"/>
                <a:ea typeface="Fraunces-72pt-SemiBold-NonWonky"/>
              </a:rPr>
              <a:t>Zone 1: The Petting ZOO </a:t>
            </a:r>
            <a:endParaRPr lang="en-US" dirty="0"/>
          </a:p>
        </p:txBody>
      </p:sp>
      <p:sp>
        <p:nvSpPr>
          <p:cNvPr id="5" name="Subtitle 4">
            <a:extLst>
              <a:ext uri="{FF2B5EF4-FFF2-40B4-BE49-F238E27FC236}">
                <a16:creationId xmlns:a16="http://schemas.microsoft.com/office/drawing/2014/main" id="{BD7A6149-18B0-3037-F8A1-4A5A961D31BC}"/>
              </a:ext>
            </a:extLst>
          </p:cNvPr>
          <p:cNvSpPr>
            <a:spLocks noGrp="1"/>
          </p:cNvSpPr>
          <p:nvPr>
            <p:ph type="subTitle" idx="1"/>
          </p:nvPr>
        </p:nvSpPr>
        <p:spPr/>
        <p:txBody>
          <a:bodyPr>
            <a:normAutofit lnSpcReduction="10000"/>
          </a:bodyPr>
          <a:lstStyle/>
          <a:p>
            <a:endParaRPr lang="en-US" i="1" dirty="0">
              <a:latin typeface="SourceSans3ExtraLight"/>
            </a:endParaRPr>
          </a:p>
          <a:p>
            <a:r>
              <a:rPr lang="en-US" i="1" dirty="0">
                <a:latin typeface="SourceSans3ExtraLight"/>
              </a:rPr>
              <a:t>Small. Fluffy. Found in every codebase.</a:t>
            </a:r>
          </a:p>
          <a:p>
            <a:endParaRPr lang="en-US" i="1" dirty="0">
              <a:latin typeface="SourceSans3ExtraLight"/>
            </a:endParaRPr>
          </a:p>
          <a:p>
            <a:r>
              <a:rPr lang="en-US" i="1" dirty="0">
                <a:latin typeface="SourceSans3ExtraLight"/>
              </a:rPr>
              <a:t>Visitors often try to take these home. Visitors are often wrong</a:t>
            </a:r>
          </a:p>
        </p:txBody>
      </p:sp>
      <p:sp>
        <p:nvSpPr>
          <p:cNvPr id="3" name="Slide Number Placeholder 2">
            <a:extLst>
              <a:ext uri="{FF2B5EF4-FFF2-40B4-BE49-F238E27FC236}">
                <a16:creationId xmlns:a16="http://schemas.microsoft.com/office/drawing/2014/main" id="{FEA2434A-CDDF-DB7E-47F9-752E3D778484}"/>
              </a:ext>
            </a:extLst>
          </p:cNvPr>
          <p:cNvSpPr>
            <a:spLocks noGrp="1"/>
          </p:cNvSpPr>
          <p:nvPr>
            <p:ph type="sldNum" sz="quarter" idx="12"/>
          </p:nvPr>
        </p:nvSpPr>
        <p:spPr/>
        <p:txBody>
          <a:bodyPr/>
          <a:lstStyle/>
          <a:p>
            <a:fld id="{A8D619E7-4118-4CE2-9D02-1AAE6DCE22A2}" type="slidenum">
              <a:rPr lang="en-US" smtClean="0"/>
              <a:t>6</a:t>
            </a:fld>
            <a:endParaRPr lang="en-US"/>
          </a:p>
        </p:txBody>
      </p:sp>
    </p:spTree>
    <p:extLst>
      <p:ext uri="{BB962C8B-B14F-4D97-AF65-F5344CB8AC3E}">
        <p14:creationId xmlns:p14="http://schemas.microsoft.com/office/powerpoint/2010/main" val="36659350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4F8B9-2E0E-7E62-BF1B-CD00FB1A3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281F6D-6162-A09F-BA07-58B06D0E17ED}"/>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Greedy Goat</a:t>
            </a:r>
            <a:endParaRPr lang="en-US" dirty="0"/>
          </a:p>
        </p:txBody>
      </p:sp>
      <p:sp>
        <p:nvSpPr>
          <p:cNvPr id="7" name="TextBox 6">
            <a:extLst>
              <a:ext uri="{FF2B5EF4-FFF2-40B4-BE49-F238E27FC236}">
                <a16:creationId xmlns:a16="http://schemas.microsoft.com/office/drawing/2014/main" id="{B2C1E05B-2E8C-2086-420A-5723C584F27B}"/>
              </a:ext>
            </a:extLst>
          </p:cNvPr>
          <p:cNvSpPr txBox="1"/>
          <p:nvPr/>
        </p:nvSpPr>
        <p:spPr>
          <a:xfrm>
            <a:off x="838200" y="4040267"/>
            <a:ext cx="10199914" cy="1785104"/>
          </a:xfrm>
          <a:prstGeom prst="rect">
            <a:avLst/>
          </a:prstGeom>
          <a:noFill/>
        </p:spPr>
        <p:txBody>
          <a:bodyPr wrap="square" rtlCol="0">
            <a:spAutoFit/>
          </a:bodyPr>
          <a:lstStyle/>
          <a:p>
            <a:r>
              <a:rPr lang="en-US" sz="2200" i="1" dirty="0">
                <a:latin typeface="SourceSans3ExtraLight"/>
              </a:rPr>
              <a:t>Friendly. Always hungry. Great with kids.</a:t>
            </a:r>
          </a:p>
          <a:p>
            <a:endParaRPr lang="en-US" sz="2200" i="1" dirty="0">
              <a:latin typeface="SourceSans3ExtraLight"/>
            </a:endParaRPr>
          </a:p>
          <a:p>
            <a:r>
              <a:rPr lang="en-US" sz="2200" i="1" dirty="0">
                <a:latin typeface="SourceSans3ExtraLight"/>
              </a:rPr>
              <a:t>Eats leaves from little hands, snacks from backpacks, the power cord to its enclosure</a:t>
            </a:r>
          </a:p>
          <a:p>
            <a:endParaRPr lang="en-US" sz="2200" i="1" dirty="0">
              <a:latin typeface="SourceSans3ExtraLight"/>
            </a:endParaRPr>
          </a:p>
          <a:p>
            <a:r>
              <a:rPr lang="en-US" sz="2200" i="1" dirty="0">
                <a:latin typeface="SourceSans3ExtraLight"/>
              </a:rPr>
              <a:t>… and your updates.</a:t>
            </a:r>
          </a:p>
        </p:txBody>
      </p:sp>
      <p:pic>
        <p:nvPicPr>
          <p:cNvPr id="4" name="Graphic 3">
            <a:extLst>
              <a:ext uri="{FF2B5EF4-FFF2-40B4-BE49-F238E27FC236}">
                <a16:creationId xmlns:a16="http://schemas.microsoft.com/office/drawing/2014/main" id="{E5A5B08D-267C-27CD-F443-BDD2BEF53B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93897" y="687478"/>
            <a:ext cx="2059903" cy="2006420"/>
          </a:xfrm>
          <a:prstGeom prst="rect">
            <a:avLst/>
          </a:prstGeom>
        </p:spPr>
      </p:pic>
      <p:sp>
        <p:nvSpPr>
          <p:cNvPr id="3" name="Slide Number Placeholder 2">
            <a:extLst>
              <a:ext uri="{FF2B5EF4-FFF2-40B4-BE49-F238E27FC236}">
                <a16:creationId xmlns:a16="http://schemas.microsoft.com/office/drawing/2014/main" id="{CE7727A9-456E-6048-4B59-6F21E70085C2}"/>
              </a:ext>
            </a:extLst>
          </p:cNvPr>
          <p:cNvSpPr>
            <a:spLocks noGrp="1"/>
          </p:cNvSpPr>
          <p:nvPr>
            <p:ph type="sldNum" sz="quarter" idx="12"/>
          </p:nvPr>
        </p:nvSpPr>
        <p:spPr/>
        <p:txBody>
          <a:bodyPr/>
          <a:lstStyle/>
          <a:p>
            <a:fld id="{A8D619E7-4118-4CE2-9D02-1AAE6DCE22A2}" type="slidenum">
              <a:rPr lang="en-US" smtClean="0"/>
              <a:t>7</a:t>
            </a:fld>
            <a:endParaRPr lang="en-US"/>
          </a:p>
        </p:txBody>
      </p:sp>
    </p:spTree>
    <p:extLst>
      <p:ext uri="{BB962C8B-B14F-4D97-AF65-F5344CB8AC3E}">
        <p14:creationId xmlns:p14="http://schemas.microsoft.com/office/powerpoint/2010/main" val="1053095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94187-7C0D-B2D8-A5EC-C82B6D3F3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A2BD3-DE9A-888A-6381-74ED62734F2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Greedy Goat</a:t>
            </a:r>
            <a:endParaRPr lang="en-US" dirty="0"/>
          </a:p>
        </p:txBody>
      </p:sp>
      <p:sp>
        <p:nvSpPr>
          <p:cNvPr id="3" name="Content Placeholder 2">
            <a:extLst>
              <a:ext uri="{FF2B5EF4-FFF2-40B4-BE49-F238E27FC236}">
                <a16:creationId xmlns:a16="http://schemas.microsoft.com/office/drawing/2014/main" id="{BC21B8E6-1EB9-6200-EE6E-1B26DA4A3C0E}"/>
              </a:ext>
            </a:extLst>
          </p:cNvPr>
          <p:cNvSpPr>
            <a:spLocks noGrp="1"/>
          </p:cNvSpPr>
          <p:nvPr>
            <p:ph idx="1"/>
          </p:nvPr>
        </p:nvSpPr>
        <p:spPr/>
        <p:txBody>
          <a:bodyPr>
            <a:normAutofit/>
          </a:bodyPr>
          <a:lstStyle/>
          <a:p>
            <a:pPr marL="0" indent="0">
              <a:buNone/>
            </a:pPr>
            <a:r>
              <a:rPr lang="en-US" sz="2200" dirty="0">
                <a:solidFill>
                  <a:srgbClr val="1A1A1A"/>
                </a:solidFill>
                <a:latin typeface="SourceSans3"/>
                <a:ea typeface="SourceSans3"/>
              </a:rPr>
              <a:t>Two gates, one visitor counter:</a:t>
            </a:r>
            <a:endParaRPr lang="en-US" sz="2200" dirty="0">
              <a:solidFill>
                <a:srgbClr val="000000"/>
              </a:solidFill>
              <a:latin typeface="Times New Roman"/>
            </a:endParaRPr>
          </a:p>
          <a:p>
            <a:pPr marL="0" indent="0">
              <a:buNone/>
            </a:pPr>
            <a:endParaRPr lang="en-US" sz="2200" dirty="0"/>
          </a:p>
          <a:p>
            <a:pPr marL="0" indent="0">
              <a:buNone/>
            </a:pPr>
            <a:r>
              <a:rPr lang="en-US" sz="2200" dirty="0">
                <a:solidFill>
                  <a:schemeClr val="tx2">
                    <a:lumMod val="90000"/>
                    <a:lumOff val="10000"/>
                  </a:schemeClr>
                </a:solidFill>
                <a:latin typeface="SourceCodePro"/>
                <a:ea typeface="SourceCodePro"/>
              </a:rPr>
              <a:t>int visitors = 0;</a:t>
            </a:r>
            <a:endParaRPr lang="en-US" sz="2200" dirty="0">
              <a:solidFill>
                <a:schemeClr val="tx2">
                  <a:lumMod val="90000"/>
                  <a:lumOff val="10000"/>
                </a:schemeClr>
              </a:solidFill>
              <a:latin typeface="Times New Roman"/>
            </a:endParaRPr>
          </a:p>
          <a:p>
            <a:pPr marL="0" indent="0">
              <a:buNone/>
            </a:pPr>
            <a:r>
              <a:rPr lang="en-US" sz="2200" dirty="0">
                <a:solidFill>
                  <a:schemeClr val="tx2">
                    <a:lumMod val="90000"/>
                    <a:lumOff val="10000"/>
                  </a:schemeClr>
                </a:solidFill>
              </a:rPr>
              <a:t>	</a:t>
            </a: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north_gate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p>
          <a:p>
            <a:pPr marL="0" indent="0">
              <a:buNone/>
            </a:pPr>
            <a:endParaRPr lang="en-US" sz="2200" dirty="0">
              <a:solidFill>
                <a:schemeClr val="tx2">
                  <a:lumMod val="90000"/>
                  <a:lumOff val="10000"/>
                </a:schemeClr>
              </a:solidFill>
              <a:latin typeface="Times New Roman"/>
            </a:endParaRP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south_gate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endParaRPr lang="en-US" sz="2200" dirty="0">
              <a:solidFill>
                <a:schemeClr val="tx2">
                  <a:lumMod val="90000"/>
                  <a:lumOff val="10000"/>
                </a:schemeClr>
              </a:solidFill>
              <a:latin typeface="Times New Roman"/>
            </a:endParaRPr>
          </a:p>
          <a:p>
            <a:pPr marL="0" indent="0">
              <a:buNone/>
            </a:pPr>
            <a:endParaRPr lang="en-US" sz="2200" dirty="0"/>
          </a:p>
          <a:p>
            <a:pPr marL="0" indent="0">
              <a:buNone/>
            </a:pPr>
            <a:endParaRPr lang="en-US" sz="2200" dirty="0"/>
          </a:p>
        </p:txBody>
      </p:sp>
      <p:pic>
        <p:nvPicPr>
          <p:cNvPr id="6" name="Graphic 5">
            <a:extLst>
              <a:ext uri="{FF2B5EF4-FFF2-40B4-BE49-F238E27FC236}">
                <a16:creationId xmlns:a16="http://schemas.microsoft.com/office/drawing/2014/main" id="{565A2543-483E-B6EA-F229-E4F4328852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93897" y="687478"/>
            <a:ext cx="2059903" cy="2006420"/>
          </a:xfrm>
          <a:prstGeom prst="rect">
            <a:avLst/>
          </a:prstGeom>
        </p:spPr>
      </p:pic>
      <p:sp>
        <p:nvSpPr>
          <p:cNvPr id="4" name="Slide Number Placeholder 3">
            <a:extLst>
              <a:ext uri="{FF2B5EF4-FFF2-40B4-BE49-F238E27FC236}">
                <a16:creationId xmlns:a16="http://schemas.microsoft.com/office/drawing/2014/main" id="{B7CF0321-EFA0-CF23-5D3F-6228CDF658F9}"/>
              </a:ext>
            </a:extLst>
          </p:cNvPr>
          <p:cNvSpPr>
            <a:spLocks noGrp="1"/>
          </p:cNvSpPr>
          <p:nvPr>
            <p:ph type="sldNum" sz="quarter" idx="12"/>
          </p:nvPr>
        </p:nvSpPr>
        <p:spPr/>
        <p:txBody>
          <a:bodyPr/>
          <a:lstStyle/>
          <a:p>
            <a:fld id="{A8D619E7-4118-4CE2-9D02-1AAE6DCE22A2}" type="slidenum">
              <a:rPr lang="en-US" smtClean="0"/>
              <a:t>8</a:t>
            </a:fld>
            <a:endParaRPr lang="en-US"/>
          </a:p>
        </p:txBody>
      </p:sp>
    </p:spTree>
    <p:extLst>
      <p:ext uri="{BB962C8B-B14F-4D97-AF65-F5344CB8AC3E}">
        <p14:creationId xmlns:p14="http://schemas.microsoft.com/office/powerpoint/2010/main" val="3069619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2ADFB-BDCA-2CE8-C0AA-895182797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9E279A-4EB3-9987-EA43-30C021576CEF}"/>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Greedy Goat</a:t>
            </a:r>
            <a:endParaRPr lang="en-US" dirty="0"/>
          </a:p>
        </p:txBody>
      </p:sp>
      <p:sp>
        <p:nvSpPr>
          <p:cNvPr id="3" name="Content Placeholder 2">
            <a:extLst>
              <a:ext uri="{FF2B5EF4-FFF2-40B4-BE49-F238E27FC236}">
                <a16:creationId xmlns:a16="http://schemas.microsoft.com/office/drawing/2014/main" id="{C36B3F88-175D-C1BB-940C-99E64E2E687B}"/>
              </a:ext>
            </a:extLst>
          </p:cNvPr>
          <p:cNvSpPr>
            <a:spLocks noGrp="1"/>
          </p:cNvSpPr>
          <p:nvPr>
            <p:ph idx="1"/>
          </p:nvPr>
        </p:nvSpPr>
        <p:spPr/>
        <p:txBody>
          <a:bodyPr>
            <a:normAutofit/>
          </a:bodyPr>
          <a:lstStyle/>
          <a:p>
            <a:pPr marL="0" indent="0">
              <a:buNone/>
            </a:pPr>
            <a:r>
              <a:rPr lang="en-US" sz="2200" dirty="0">
                <a:solidFill>
                  <a:srgbClr val="1A1A1A"/>
                </a:solidFill>
                <a:latin typeface="SourceSans3"/>
                <a:ea typeface="SourceSans3"/>
              </a:rPr>
              <a:t>Two gates, one visitor counter:</a:t>
            </a:r>
            <a:endParaRPr lang="en-US" sz="2200" dirty="0">
              <a:solidFill>
                <a:srgbClr val="000000"/>
              </a:solidFill>
              <a:latin typeface="Times New Roman"/>
            </a:endParaRPr>
          </a:p>
          <a:p>
            <a:pPr marL="0" indent="0">
              <a:buNone/>
            </a:pPr>
            <a:endParaRPr lang="en-US" sz="2200" dirty="0"/>
          </a:p>
          <a:p>
            <a:pPr marL="0" indent="0">
              <a:buNone/>
            </a:pPr>
            <a:r>
              <a:rPr lang="en-US" sz="2200" dirty="0">
                <a:solidFill>
                  <a:schemeClr val="tx2">
                    <a:lumMod val="90000"/>
                    <a:lumOff val="10000"/>
                  </a:schemeClr>
                </a:solidFill>
                <a:latin typeface="SourceCodePro"/>
                <a:ea typeface="SourceCodePro"/>
              </a:rPr>
              <a:t>int visitors = 0;</a:t>
            </a:r>
            <a:endParaRPr lang="en-US" sz="2200" dirty="0">
              <a:solidFill>
                <a:schemeClr val="tx2">
                  <a:lumMod val="90000"/>
                  <a:lumOff val="10000"/>
                </a:schemeClr>
              </a:solidFill>
              <a:latin typeface="Times New Roman"/>
            </a:endParaRPr>
          </a:p>
          <a:p>
            <a:pPr marL="0" indent="0">
              <a:buNone/>
            </a:pPr>
            <a:r>
              <a:rPr lang="en-US" sz="2200" dirty="0">
                <a:solidFill>
                  <a:schemeClr val="tx2">
                    <a:lumMod val="90000"/>
                    <a:lumOff val="10000"/>
                  </a:schemeClr>
                </a:solidFill>
              </a:rPr>
              <a:t>	</a:t>
            </a: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north_gate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p>
          <a:p>
            <a:pPr marL="0" indent="0">
              <a:buNone/>
            </a:pPr>
            <a:endParaRPr lang="en-US" sz="2200" dirty="0">
              <a:solidFill>
                <a:schemeClr val="tx2">
                  <a:lumMod val="90000"/>
                  <a:lumOff val="10000"/>
                </a:schemeClr>
              </a:solidFill>
              <a:latin typeface="Times New Roman"/>
            </a:endParaRP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south_gate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endParaRPr lang="en-US" sz="2200" dirty="0">
              <a:solidFill>
                <a:schemeClr val="tx2">
                  <a:lumMod val="90000"/>
                  <a:lumOff val="10000"/>
                </a:schemeClr>
              </a:solidFill>
              <a:latin typeface="Times New Roman"/>
            </a:endParaRPr>
          </a:p>
          <a:p>
            <a:pPr marL="0" indent="0">
              <a:buNone/>
            </a:pPr>
            <a:endParaRPr lang="en-US" sz="2200" dirty="0"/>
          </a:p>
          <a:p>
            <a:pPr marL="0" indent="0">
              <a:buNone/>
            </a:pPr>
            <a:endParaRPr lang="en-US" sz="2200" dirty="0"/>
          </a:p>
        </p:txBody>
      </p:sp>
      <p:sp>
        <p:nvSpPr>
          <p:cNvPr id="9" name="TextBox 8">
            <a:extLst>
              <a:ext uri="{FF2B5EF4-FFF2-40B4-BE49-F238E27FC236}">
                <a16:creationId xmlns:a16="http://schemas.microsoft.com/office/drawing/2014/main" id="{6E611C30-AADE-A41D-B6E4-54D5F46E2564}"/>
              </a:ext>
            </a:extLst>
          </p:cNvPr>
          <p:cNvSpPr txBox="1"/>
          <p:nvPr/>
        </p:nvSpPr>
        <p:spPr>
          <a:xfrm>
            <a:off x="9047127" y="3539079"/>
            <a:ext cx="2486772" cy="2579039"/>
          </a:xfrm>
          <a:prstGeom prst="rect">
            <a:avLst/>
          </a:prstGeom>
          <a:noFill/>
        </p:spPr>
        <p:txBody>
          <a:bodyPr wrap="square" rtlCol="0">
            <a:spAutoFit/>
          </a:bodyPr>
          <a:lstStyle/>
          <a:p>
            <a:pPr>
              <a:lnSpc>
                <a:spcPct val="150000"/>
              </a:lnSpc>
            </a:pPr>
            <a:r>
              <a:rPr lang="en-US" sz="2200" b="1" dirty="0">
                <a:solidFill>
                  <a:srgbClr val="1A1A1A"/>
                </a:solidFill>
                <a:latin typeface="SourceSans3ExtraLight"/>
                <a:ea typeface="SourceSans3ExtraLight"/>
              </a:rPr>
              <a:t>Expected: </a:t>
            </a:r>
            <a:r>
              <a:rPr lang="en-US" sz="2200" dirty="0">
                <a:solidFill>
                  <a:srgbClr val="1A1A1A"/>
                </a:solidFill>
                <a:latin typeface="SourceSans3ExtraLight"/>
                <a:ea typeface="SourceSans3ExtraLight"/>
              </a:rPr>
              <a:t>20 000</a:t>
            </a:r>
          </a:p>
          <a:p>
            <a:pPr>
              <a:lnSpc>
                <a:spcPct val="150000"/>
              </a:lnSpc>
            </a:pPr>
            <a:endParaRPr lang="en-US" sz="2200" b="1" dirty="0">
              <a:latin typeface="SourceSans3ExtraLight"/>
            </a:endParaRPr>
          </a:p>
          <a:p>
            <a:pPr>
              <a:lnSpc>
                <a:spcPct val="150000"/>
              </a:lnSpc>
            </a:pPr>
            <a:r>
              <a:rPr lang="en-US" sz="2200" b="1" dirty="0">
                <a:latin typeface="SourceSans3ExtraLight"/>
              </a:rPr>
              <a:t>Run 1</a:t>
            </a:r>
            <a:r>
              <a:rPr lang="en-US" sz="2200" dirty="0">
                <a:latin typeface="SourceSans3ExtraLight"/>
              </a:rPr>
              <a:t>: 11 482</a:t>
            </a:r>
          </a:p>
          <a:p>
            <a:pPr>
              <a:lnSpc>
                <a:spcPct val="150000"/>
              </a:lnSpc>
            </a:pPr>
            <a:r>
              <a:rPr lang="en-US" sz="2200" b="1" dirty="0">
                <a:latin typeface="SourceSans3ExtraLight"/>
              </a:rPr>
              <a:t>Run 2: </a:t>
            </a:r>
            <a:r>
              <a:rPr lang="en-US" sz="2200" dirty="0">
                <a:latin typeface="SourceSans3ExtraLight"/>
              </a:rPr>
              <a:t>19 032</a:t>
            </a:r>
          </a:p>
          <a:p>
            <a:pPr>
              <a:lnSpc>
                <a:spcPct val="150000"/>
              </a:lnSpc>
            </a:pPr>
            <a:r>
              <a:rPr lang="en-US" sz="2200" b="1" dirty="0">
                <a:latin typeface="SourceSans3ExtraLight"/>
              </a:rPr>
              <a:t>Run 3: </a:t>
            </a:r>
            <a:r>
              <a:rPr lang="en-US" sz="2200" dirty="0">
                <a:latin typeface="SourceSans3ExtraLight"/>
              </a:rPr>
              <a:t>14 629</a:t>
            </a:r>
          </a:p>
        </p:txBody>
      </p:sp>
      <p:pic>
        <p:nvPicPr>
          <p:cNvPr id="5" name="Graphic 4">
            <a:extLst>
              <a:ext uri="{FF2B5EF4-FFF2-40B4-BE49-F238E27FC236}">
                <a16:creationId xmlns:a16="http://schemas.microsoft.com/office/drawing/2014/main" id="{A74FCDDA-241A-7362-6EA0-B514683C91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93897" y="687478"/>
            <a:ext cx="2059903" cy="2006420"/>
          </a:xfrm>
          <a:prstGeom prst="rect">
            <a:avLst/>
          </a:prstGeom>
        </p:spPr>
      </p:pic>
      <p:sp>
        <p:nvSpPr>
          <p:cNvPr id="4" name="Slide Number Placeholder 3">
            <a:extLst>
              <a:ext uri="{FF2B5EF4-FFF2-40B4-BE49-F238E27FC236}">
                <a16:creationId xmlns:a16="http://schemas.microsoft.com/office/drawing/2014/main" id="{A5B434B9-04DC-C6A0-CA02-6E32FFEB0D31}"/>
              </a:ext>
            </a:extLst>
          </p:cNvPr>
          <p:cNvSpPr>
            <a:spLocks noGrp="1"/>
          </p:cNvSpPr>
          <p:nvPr>
            <p:ph type="sldNum" sz="quarter" idx="12"/>
          </p:nvPr>
        </p:nvSpPr>
        <p:spPr/>
        <p:txBody>
          <a:bodyPr/>
          <a:lstStyle/>
          <a:p>
            <a:fld id="{A8D619E7-4118-4CE2-9D02-1AAE6DCE22A2}" type="slidenum">
              <a:rPr lang="en-US" smtClean="0"/>
              <a:t>9</a:t>
            </a:fld>
            <a:endParaRPr lang="en-US"/>
          </a:p>
        </p:txBody>
      </p:sp>
    </p:spTree>
    <p:extLst>
      <p:ext uri="{BB962C8B-B14F-4D97-AF65-F5344CB8AC3E}">
        <p14:creationId xmlns:p14="http://schemas.microsoft.com/office/powerpoint/2010/main" val="1154553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5E927-649F-5BA6-A884-E46BA8517E69}"/>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24EEA984-B96F-F40B-1851-EEC31E0E294C}"/>
              </a:ext>
            </a:extLst>
          </p:cNvPr>
          <p:cNvSpPr txBox="1">
            <a:spLocks/>
          </p:cNvSpPr>
          <p:nvPr/>
        </p:nvSpPr>
        <p:spPr>
          <a:xfrm>
            <a:off x="8492068" y="431800"/>
            <a:ext cx="3014132" cy="10583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1A1A1A"/>
                </a:solidFill>
                <a:latin typeface="Fraunces-72pt-SemiBold-NonWonky"/>
                <a:ea typeface="Fraunces-72pt-SemiBold-NonWonky"/>
              </a:rPr>
              <a:t>  0 0 6 7</a:t>
            </a:r>
            <a:endParaRPr lang="en-US" dirty="0"/>
          </a:p>
        </p:txBody>
      </p:sp>
      <p:sp>
        <p:nvSpPr>
          <p:cNvPr id="2" name="Title 1">
            <a:extLst>
              <a:ext uri="{FF2B5EF4-FFF2-40B4-BE49-F238E27FC236}">
                <a16:creationId xmlns:a16="http://schemas.microsoft.com/office/drawing/2014/main" id="{B2B9270A-6F0D-440B-4226-F1FE99B63845}"/>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Greedy Goat</a:t>
            </a:r>
            <a:endParaRPr lang="en-US" dirty="0"/>
          </a:p>
        </p:txBody>
      </p:sp>
      <p:pic>
        <p:nvPicPr>
          <p:cNvPr id="5" name="Graphic 4">
            <a:extLst>
              <a:ext uri="{FF2B5EF4-FFF2-40B4-BE49-F238E27FC236}">
                <a16:creationId xmlns:a16="http://schemas.microsoft.com/office/drawing/2014/main" id="{BED8A154-EB52-BD52-1F84-EFEA81A0CE7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15500" y="4146680"/>
            <a:ext cx="1525252" cy="1485651"/>
          </a:xfrm>
          <a:prstGeom prst="rect">
            <a:avLst/>
          </a:prstGeom>
        </p:spPr>
      </p:pic>
      <p:pic>
        <p:nvPicPr>
          <p:cNvPr id="9" name="Graphic 8">
            <a:extLst>
              <a:ext uri="{FF2B5EF4-FFF2-40B4-BE49-F238E27FC236}">
                <a16:creationId xmlns:a16="http://schemas.microsoft.com/office/drawing/2014/main" id="{C18EFC8F-20DE-9E86-696F-D0B37CF9BA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940841" y="2159249"/>
            <a:ext cx="1516460" cy="1485651"/>
          </a:xfrm>
          <a:prstGeom prst="rect">
            <a:avLst/>
          </a:prstGeom>
        </p:spPr>
      </p:pic>
      <p:pic>
        <p:nvPicPr>
          <p:cNvPr id="13" name="Graphic 12">
            <a:extLst>
              <a:ext uri="{FF2B5EF4-FFF2-40B4-BE49-F238E27FC236}">
                <a16:creationId xmlns:a16="http://schemas.microsoft.com/office/drawing/2014/main" id="{144AAB18-D7B4-97D8-4D57-1EDE570FCC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14331" y="1597554"/>
            <a:ext cx="1115984" cy="2055519"/>
          </a:xfrm>
          <a:prstGeom prst="rect">
            <a:avLst/>
          </a:prstGeom>
        </p:spPr>
      </p:pic>
      <p:pic>
        <p:nvPicPr>
          <p:cNvPr id="15" name="Graphic 14">
            <a:extLst>
              <a:ext uri="{FF2B5EF4-FFF2-40B4-BE49-F238E27FC236}">
                <a16:creationId xmlns:a16="http://schemas.microsoft.com/office/drawing/2014/main" id="{5E643BB0-F2B4-5A7E-10FB-4B7C5F2742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1616" y="4121671"/>
            <a:ext cx="960100" cy="1510660"/>
          </a:xfrm>
          <a:prstGeom prst="rect">
            <a:avLst/>
          </a:prstGeom>
        </p:spPr>
      </p:pic>
      <p:sp>
        <p:nvSpPr>
          <p:cNvPr id="3" name="Rectangle: Rounded Corners 2">
            <a:extLst>
              <a:ext uri="{FF2B5EF4-FFF2-40B4-BE49-F238E27FC236}">
                <a16:creationId xmlns:a16="http://schemas.microsoft.com/office/drawing/2014/main" id="{31BCB8D2-218A-366A-3C0E-DD743A45EDE0}"/>
              </a:ext>
            </a:extLst>
          </p:cNvPr>
          <p:cNvSpPr/>
          <p:nvPr/>
        </p:nvSpPr>
        <p:spPr>
          <a:xfrm>
            <a:off x="8788400" y="661458"/>
            <a:ext cx="355600" cy="50694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6FB55591-C774-C53A-8CF0-F3A38A339B91}"/>
              </a:ext>
            </a:extLst>
          </p:cNvPr>
          <p:cNvSpPr/>
          <p:nvPr/>
        </p:nvSpPr>
        <p:spPr>
          <a:xfrm>
            <a:off x="9211733" y="661458"/>
            <a:ext cx="355600" cy="50694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D8D07FA-7A50-22F3-442D-069E3107A307}"/>
              </a:ext>
            </a:extLst>
          </p:cNvPr>
          <p:cNvSpPr/>
          <p:nvPr/>
        </p:nvSpPr>
        <p:spPr>
          <a:xfrm>
            <a:off x="9618136" y="661458"/>
            <a:ext cx="355600" cy="50694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54EDD0F0-9930-8555-482D-20037BC8B549}"/>
              </a:ext>
            </a:extLst>
          </p:cNvPr>
          <p:cNvSpPr/>
          <p:nvPr/>
        </p:nvSpPr>
        <p:spPr>
          <a:xfrm>
            <a:off x="10041470" y="661458"/>
            <a:ext cx="355600" cy="50694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C9EB71F-F62A-C0E9-050A-CCD1001FCB70}"/>
              </a:ext>
            </a:extLst>
          </p:cNvPr>
          <p:cNvGrpSpPr/>
          <p:nvPr/>
        </p:nvGrpSpPr>
        <p:grpSpPr>
          <a:xfrm>
            <a:off x="2307373" y="1456661"/>
            <a:ext cx="1683249" cy="960120"/>
            <a:chOff x="2307373" y="1456661"/>
            <a:chExt cx="1683249" cy="960120"/>
          </a:xfrm>
        </p:grpSpPr>
        <p:sp>
          <p:nvSpPr>
            <p:cNvPr id="4" name="Thought Bubble: Cloud 3">
              <a:extLst>
                <a:ext uri="{FF2B5EF4-FFF2-40B4-BE49-F238E27FC236}">
                  <a16:creationId xmlns:a16="http://schemas.microsoft.com/office/drawing/2014/main" id="{8DF4463F-7A08-4B24-E8F5-B209E3503202}"/>
                </a:ext>
              </a:extLst>
            </p:cNvPr>
            <p:cNvSpPr/>
            <p:nvPr/>
          </p:nvSpPr>
          <p:spPr>
            <a:xfrm rot="535400">
              <a:off x="2307373" y="1456661"/>
              <a:ext cx="1667987" cy="96012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43EDE82-7FAD-5CD0-EBF7-E72317D59153}"/>
                </a:ext>
              </a:extLst>
            </p:cNvPr>
            <p:cNvSpPr txBox="1"/>
            <p:nvPr/>
          </p:nvSpPr>
          <p:spPr>
            <a:xfrm>
              <a:off x="2474162" y="1672871"/>
              <a:ext cx="1516460" cy="430887"/>
            </a:xfrm>
            <a:prstGeom prst="rect">
              <a:avLst/>
            </a:prstGeom>
            <a:noFill/>
          </p:spPr>
          <p:txBody>
            <a:bodyPr wrap="square">
              <a:spAutoFit/>
            </a:bodyPr>
            <a:lstStyle/>
            <a:p>
              <a:r>
                <a:rPr lang="en-US" sz="2200" dirty="0">
                  <a:solidFill>
                    <a:srgbClr val="1A1A1A"/>
                  </a:solidFill>
                  <a:latin typeface="SourceSans3"/>
                  <a:ea typeface="SourceSans3"/>
                </a:rPr>
                <a:t>67 + </a:t>
              </a:r>
              <a:endParaRPr lang="en-US" dirty="0"/>
            </a:p>
          </p:txBody>
        </p:sp>
      </p:grpSp>
      <p:grpSp>
        <p:nvGrpSpPr>
          <p:cNvPr id="12" name="Group 11">
            <a:extLst>
              <a:ext uri="{FF2B5EF4-FFF2-40B4-BE49-F238E27FC236}">
                <a16:creationId xmlns:a16="http://schemas.microsoft.com/office/drawing/2014/main" id="{480D3D7D-CEC4-3567-D07D-5714303F944E}"/>
              </a:ext>
            </a:extLst>
          </p:cNvPr>
          <p:cNvGrpSpPr/>
          <p:nvPr/>
        </p:nvGrpSpPr>
        <p:grpSpPr>
          <a:xfrm flipH="1">
            <a:off x="8015706" y="3730628"/>
            <a:ext cx="1699794" cy="960120"/>
            <a:chOff x="2307373" y="1456661"/>
            <a:chExt cx="1667987" cy="960120"/>
          </a:xfrm>
        </p:grpSpPr>
        <p:sp>
          <p:nvSpPr>
            <p:cNvPr id="17" name="Thought Bubble: Cloud 16">
              <a:extLst>
                <a:ext uri="{FF2B5EF4-FFF2-40B4-BE49-F238E27FC236}">
                  <a16:creationId xmlns:a16="http://schemas.microsoft.com/office/drawing/2014/main" id="{225F9BF5-73DD-AAA3-DC2F-A05A16B576BA}"/>
                </a:ext>
              </a:extLst>
            </p:cNvPr>
            <p:cNvSpPr/>
            <p:nvPr/>
          </p:nvSpPr>
          <p:spPr>
            <a:xfrm rot="535400">
              <a:off x="2307373" y="1456661"/>
              <a:ext cx="1667987" cy="96012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0467174-0B21-1512-F177-22F1D426E248}"/>
                </a:ext>
              </a:extLst>
            </p:cNvPr>
            <p:cNvSpPr txBox="1"/>
            <p:nvPr/>
          </p:nvSpPr>
          <p:spPr>
            <a:xfrm>
              <a:off x="2375457" y="1672871"/>
              <a:ext cx="1516460" cy="430887"/>
            </a:xfrm>
            <a:prstGeom prst="rect">
              <a:avLst/>
            </a:prstGeom>
            <a:noFill/>
          </p:spPr>
          <p:txBody>
            <a:bodyPr wrap="square">
              <a:spAutoFit/>
            </a:bodyPr>
            <a:lstStyle/>
            <a:p>
              <a:r>
                <a:rPr lang="en-US" sz="2200" dirty="0">
                  <a:solidFill>
                    <a:srgbClr val="1A1A1A"/>
                  </a:solidFill>
                  <a:latin typeface="SourceSans3"/>
                  <a:ea typeface="SourceSans3"/>
                </a:rPr>
                <a:t>67 + </a:t>
              </a:r>
              <a:endParaRPr lang="en-US" dirty="0"/>
            </a:p>
          </p:txBody>
        </p:sp>
      </p:grpSp>
      <p:sp>
        <p:nvSpPr>
          <p:cNvPr id="19" name="Title 1">
            <a:extLst>
              <a:ext uri="{FF2B5EF4-FFF2-40B4-BE49-F238E27FC236}">
                <a16:creationId xmlns:a16="http://schemas.microsoft.com/office/drawing/2014/main" id="{4877890F-BBFB-5247-7B44-C6A82A7F1705}"/>
              </a:ext>
            </a:extLst>
          </p:cNvPr>
          <p:cNvSpPr txBox="1">
            <a:spLocks/>
          </p:cNvSpPr>
          <p:nvPr/>
        </p:nvSpPr>
        <p:spPr>
          <a:xfrm>
            <a:off x="8489020" y="428752"/>
            <a:ext cx="3014132" cy="10583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1A1A1A"/>
                </a:solidFill>
                <a:latin typeface="Fraunces-72pt-SemiBold-NonWonky"/>
                <a:ea typeface="Fraunces-72pt-SemiBold-NonWonky"/>
              </a:rPr>
              <a:t>  0 0 6 8</a:t>
            </a:r>
            <a:endParaRPr lang="en-US" dirty="0"/>
          </a:p>
        </p:txBody>
      </p:sp>
      <p:sp>
        <p:nvSpPr>
          <p:cNvPr id="7" name="Slide Number Placeholder 6">
            <a:extLst>
              <a:ext uri="{FF2B5EF4-FFF2-40B4-BE49-F238E27FC236}">
                <a16:creationId xmlns:a16="http://schemas.microsoft.com/office/drawing/2014/main" id="{F9268179-94C8-9B2A-DD7E-14D32D87E938}"/>
              </a:ext>
            </a:extLst>
          </p:cNvPr>
          <p:cNvSpPr>
            <a:spLocks noGrp="1"/>
          </p:cNvSpPr>
          <p:nvPr>
            <p:ph type="sldNum" sz="quarter" idx="12"/>
          </p:nvPr>
        </p:nvSpPr>
        <p:spPr/>
        <p:txBody>
          <a:bodyPr/>
          <a:lstStyle/>
          <a:p>
            <a:fld id="{A8D619E7-4118-4CE2-9D02-1AAE6DCE22A2}" type="slidenum">
              <a:rPr lang="en-US" smtClean="0"/>
              <a:t>10</a:t>
            </a:fld>
            <a:endParaRPr lang="en-US"/>
          </a:p>
        </p:txBody>
      </p:sp>
      <p:sp>
        <p:nvSpPr>
          <p:cNvPr id="21" name="TextBox 20">
            <a:extLst>
              <a:ext uri="{FF2B5EF4-FFF2-40B4-BE49-F238E27FC236}">
                <a16:creationId xmlns:a16="http://schemas.microsoft.com/office/drawing/2014/main" id="{DCB05C2E-480F-9344-7E93-D064DAB500BE}"/>
              </a:ext>
            </a:extLst>
          </p:cNvPr>
          <p:cNvSpPr txBox="1"/>
          <p:nvPr/>
        </p:nvSpPr>
        <p:spPr>
          <a:xfrm>
            <a:off x="3010610" y="1672870"/>
            <a:ext cx="1516460" cy="430887"/>
          </a:xfrm>
          <a:prstGeom prst="rect">
            <a:avLst/>
          </a:prstGeom>
          <a:noFill/>
        </p:spPr>
        <p:txBody>
          <a:bodyPr wrap="square">
            <a:spAutoFit/>
          </a:bodyPr>
          <a:lstStyle/>
          <a:p>
            <a:r>
              <a:rPr lang="en-US" sz="2200" dirty="0">
                <a:solidFill>
                  <a:srgbClr val="1A1A1A"/>
                </a:solidFill>
                <a:latin typeface="SourceSans3"/>
                <a:ea typeface="SourceSans3"/>
              </a:rPr>
              <a:t>3 = 70 </a:t>
            </a:r>
            <a:endParaRPr lang="en-US" dirty="0"/>
          </a:p>
        </p:txBody>
      </p:sp>
      <p:sp>
        <p:nvSpPr>
          <p:cNvPr id="23" name="TextBox 22">
            <a:extLst>
              <a:ext uri="{FF2B5EF4-FFF2-40B4-BE49-F238E27FC236}">
                <a16:creationId xmlns:a16="http://schemas.microsoft.com/office/drawing/2014/main" id="{F9C7425A-51C6-E440-3BEC-E2015394AE39}"/>
              </a:ext>
            </a:extLst>
          </p:cNvPr>
          <p:cNvSpPr txBox="1"/>
          <p:nvPr/>
        </p:nvSpPr>
        <p:spPr>
          <a:xfrm flipH="1">
            <a:off x="8673892" y="3961123"/>
            <a:ext cx="1545378" cy="430887"/>
          </a:xfrm>
          <a:prstGeom prst="rect">
            <a:avLst/>
          </a:prstGeom>
          <a:noFill/>
        </p:spPr>
        <p:txBody>
          <a:bodyPr wrap="square">
            <a:spAutoFit/>
          </a:bodyPr>
          <a:lstStyle/>
          <a:p>
            <a:r>
              <a:rPr lang="en-US" sz="2200" dirty="0">
                <a:solidFill>
                  <a:srgbClr val="1A1A1A"/>
                </a:solidFill>
                <a:latin typeface="SourceSans3"/>
                <a:ea typeface="SourceSans3"/>
              </a:rPr>
              <a:t>1 = 68 </a:t>
            </a:r>
            <a:endParaRPr lang="en-US" dirty="0"/>
          </a:p>
        </p:txBody>
      </p:sp>
      <p:sp>
        <p:nvSpPr>
          <p:cNvPr id="24" name="Title 1">
            <a:extLst>
              <a:ext uri="{FF2B5EF4-FFF2-40B4-BE49-F238E27FC236}">
                <a16:creationId xmlns:a16="http://schemas.microsoft.com/office/drawing/2014/main" id="{6A21E215-73F2-E0CE-A6E5-96BAE6EACDE4}"/>
              </a:ext>
            </a:extLst>
          </p:cNvPr>
          <p:cNvSpPr txBox="1">
            <a:spLocks/>
          </p:cNvSpPr>
          <p:nvPr/>
        </p:nvSpPr>
        <p:spPr>
          <a:xfrm>
            <a:off x="8475134" y="435895"/>
            <a:ext cx="3014132" cy="10583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1A1A1A"/>
                </a:solidFill>
                <a:latin typeface="Fraunces-72pt-SemiBold-NonWonky"/>
                <a:ea typeface="Fraunces-72pt-SemiBold-NonWonky"/>
              </a:rPr>
              <a:t>  0 0 7 0</a:t>
            </a:r>
            <a:endParaRPr lang="en-US" dirty="0"/>
          </a:p>
        </p:txBody>
      </p:sp>
      <p:pic>
        <p:nvPicPr>
          <p:cNvPr id="25" name="Graphic 24">
            <a:extLst>
              <a:ext uri="{FF2B5EF4-FFF2-40B4-BE49-F238E27FC236}">
                <a16:creationId xmlns:a16="http://schemas.microsoft.com/office/drawing/2014/main" id="{4ACB3C2C-AE17-071E-3DFA-26D9B6F89B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51159" y="2386632"/>
            <a:ext cx="702734" cy="1294358"/>
          </a:xfrm>
          <a:prstGeom prst="rect">
            <a:avLst/>
          </a:prstGeom>
        </p:spPr>
      </p:pic>
      <p:pic>
        <p:nvPicPr>
          <p:cNvPr id="26" name="Graphic 25">
            <a:extLst>
              <a:ext uri="{FF2B5EF4-FFF2-40B4-BE49-F238E27FC236}">
                <a16:creationId xmlns:a16="http://schemas.microsoft.com/office/drawing/2014/main" id="{E2C0B5EB-A995-2EC3-852C-3B7EB586A1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914927" y="2569693"/>
            <a:ext cx="612353" cy="1127887"/>
          </a:xfrm>
          <a:prstGeom prst="rect">
            <a:avLst/>
          </a:prstGeom>
        </p:spPr>
      </p:pic>
    </p:spTree>
    <p:extLst>
      <p:ext uri="{BB962C8B-B14F-4D97-AF65-F5344CB8AC3E}">
        <p14:creationId xmlns:p14="http://schemas.microsoft.com/office/powerpoint/2010/main" val="3040807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0" presetClass="path" presetSubtype="0" accel="50000" decel="50000" fill="hold" nodeType="withEffect">
                                  <p:stCondLst>
                                    <p:cond delay="0"/>
                                  </p:stCondLst>
                                  <p:childTnLst>
                                    <p:animMotion origin="layout" path="M -0.01133 0.03333 L -0.01133 0.03333 C -0.01719 0.03241 -0.02292 0.03194 -0.02865 0.03055 C -0.03112 0.03009 -0.0336 0.02893 -0.0362 0.02801 C -0.03841 0.02708 -0.04063 0.02569 -0.04284 0.02523 C -0.04909 0.0243 -0.05534 0.0243 -0.06159 0.02407 C -0.0642 0.02315 -0.06667 0.02245 -0.06914 0.0213 C -0.07071 0.0206 -0.07201 0.01852 -0.0737 0.01875 C -0.09414 0.0206 -0.09518 0.02315 -0.11185 0.0294 C -0.11836 0.03171 -0.12487 0.03403 -0.13138 0.03588 C -0.13633 0.0375 -0.14141 0.03819 -0.14636 0.04005 C -0.18399 0.05324 -0.12578 0.0368 -0.17266 0.0493 C -0.19623 0.06551 -0.17565 0.05509 -0.20339 0.05717 C -0.20899 0.05764 -0.21433 0.06018 -0.21992 0.06134 C -0.22266 0.0618 -0.22539 0.06227 -0.22813 0.06273 L -0.25209 0.05856 C -0.25808 0.05764 -0.2642 0.05717 -0.27018 0.05602 C -0.27761 0.0544 -0.28516 0.05255 -0.29258 0.05069 C -0.29688 0.04954 -0.30117 0.04815 -0.30534 0.04653 C -0.31472 0.04329 -0.3237 0.03773 -0.33308 0.03588 L -0.34063 0.03472 L -0.37969 0.03588 C -0.38242 0.03611 -0.38516 0.03634 -0.38789 0.03727 C -0.3892 0.03773 -0.39037 0.03889 -0.39167 0.04005 C -0.39414 0.04213 -0.39662 0.04467 -0.39909 0.04653 C -0.40052 0.04768 -0.40209 0.04838 -0.40365 0.0493 C -0.40495 0.05 -0.40612 0.05116 -0.40742 0.05185 C -0.40834 0.05255 -0.40938 0.05278 -0.41042 0.05324 L -0.41719 0.05602 C -0.42591 0.05509 -0.43464 0.05463 -0.44336 0.05324 C -0.45443 0.05139 -0.46524 0.04653 -0.47565 0.04005 C -0.48229 0.03565 -0.48867 0.03009 -0.49518 0.02523 C -0.49636 0.0243 -0.49766 0.02338 -0.49883 0.02268 C -0.49961 0.02222 -0.50039 0.0213 -0.50117 0.0213 C -0.50143 0.0213 -0.50117 0.02222 -0.50117 0.02268 " pathEditMode="relative" ptsTypes="AAAAAAAAAAAAAAAAAAAAAAAAAAAAAAAAAAA">
                                      <p:cBhvr>
                                        <p:cTn id="8" dur="2000" fill="hold"/>
                                        <p:tgtEl>
                                          <p:spTgt spid="13"/>
                                        </p:tgtEl>
                                        <p:attrNameLst>
                                          <p:attrName>ppt_x</p:attrName>
                                          <p:attrName>ppt_y</p:attrName>
                                        </p:attrNameLst>
                                      </p:cBhvr>
                                    </p:animMotion>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0" presetClass="path" presetSubtype="0" accel="50000" decel="50000" fill="hold" nodeType="withEffect">
                                  <p:stCondLst>
                                    <p:cond delay="0"/>
                                  </p:stCondLst>
                                  <p:childTnLst>
                                    <p:animMotion origin="layout" path="M 0.00235 0.0088 L 0.00235 0.0088 C 0.00482 0.00741 0.00716 0.00556 0.00977 0.00486 C 0.02565 -0.00069 0.02761 -0.00023 0.04128 -0.00185 C 0.04675 -0.00324 0.05235 -0.00417 0.05782 -0.00579 C 0.06185 -0.00717 0.06563 -0.01111 0.06979 -0.01111 C 0.08425 -0.01111 0.0987 -0.00764 0.11328 -0.00579 C 0.13256 0.01458 0.10482 -0.01412 0.13581 0.01412 C 0.13959 0.01759 0.14284 0.02338 0.14701 0.02616 C 0.16068 0.03495 0.17487 0.04236 0.18894 0.04861 C 0.20677 0.05671 0.22409 0.06806 0.24219 0.07269 L 0.2737 0.08079 L 0.30078 0.07662 C 0.30599 0.07593 0.3112 0.07546 0.31641 0.07408 C 0.32526 0.07153 0.33412 0.06875 0.34271 0.06458 C 0.3905 0.04167 0.32513 0.06204 0.3862 0.04607 C 0.39792 0.0375 0.40912 0.02593 0.42149 0.02083 C 0.4267 0.01852 0.43203 0.01667 0.43724 0.01412 C 0.44024 0.0125 0.4431 0.01019 0.44623 0.0088 C 0.44909 0.00741 0.45222 0.00695 0.45521 0.00602 C 0.45769 0.00533 0.46016 0.0044 0.46263 0.00347 C 0.46771 0.00394 0.47266 0.00394 0.47774 0.00486 C 0.47865 0.00486 0.47969 0.00602 0.48073 0.00602 C 0.48542 0.00602 0.49024 0.00509 0.49493 0.00486 C 0.49688 0.00347 0.49883 0.00116 0.50091 0.0007 C 0.50469 0.00023 0.50847 0.00208 0.51224 0.00208 " pathEditMode="relative" ptsTypes="AAAAAAAAAAAAAAAAAAAAAAAAAA">
                                      <p:cBhvr>
                                        <p:cTn id="12" dur="2000" fill="hold"/>
                                        <p:tgtEl>
                                          <p:spTgt spid="15"/>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0" presetClass="path" presetSubtype="0" accel="50000" decel="50000" fill="hold" nodeType="withEffect">
                                  <p:stCondLst>
                                    <p:cond delay="0"/>
                                  </p:stCondLst>
                                  <p:childTnLst>
                                    <p:animMotion origin="layout" path="M -0.01133 0.03333 L -0.01133 0.03357 C -0.01718 0.03241 -0.02291 0.03195 -0.02864 0.03056 C -0.03112 0.03009 -0.03359 0.02894 -0.0362 0.02801 C -0.03841 0.02708 -0.04062 0.0257 -0.04284 0.02523 C -0.04909 0.02431 -0.05534 0.02431 -0.06159 0.02408 C -0.06419 0.02315 -0.06666 0.02245 -0.06914 0.0213 C -0.0707 0.0206 -0.072 0.01852 -0.0737 0.01875 C -0.09414 0.0206 -0.09518 0.02315 -0.11185 0.0294 C -0.11836 0.03171 -0.12487 0.03403 -0.13138 0.03588 C -0.13633 0.0375 -0.1414 0.0382 -0.14635 0.04005 C -0.18398 0.05324 -0.12578 0.03681 -0.17265 0.04931 C -0.19622 0.06551 -0.17565 0.05509 -0.20338 0.05718 C -0.20898 0.05764 -0.21432 0.06019 -0.21992 0.06134 C -0.22265 0.06181 -0.22539 0.06227 -0.22812 0.06273 L -0.25208 0.05857 C -0.25807 0.05764 -0.26419 0.05718 -0.27018 0.05602 C -0.2776 0.0544 -0.28515 0.05255 -0.29258 0.0507 C -0.29687 0.04954 -0.30117 0.04815 -0.30534 0.04653 C -0.31471 0.04329 -0.3237 0.03773 -0.33307 0.03588 L -0.34062 0.03472 L -0.37968 0.03588 C -0.38242 0.03611 -0.38515 0.03634 -0.38789 0.03727 C -0.38919 0.03773 -0.39036 0.03889 -0.39166 0.04005 C -0.39414 0.04213 -0.39661 0.04468 -0.39909 0.04653 C -0.40052 0.04769 -0.40208 0.04838 -0.40364 0.04931 C -0.40495 0.05 -0.40612 0.05116 -0.40742 0.05185 C -0.40833 0.05255 -0.40937 0.05278 -0.41041 0.05324 L -0.41718 0.05602 C -0.42591 0.05509 -0.43463 0.05463 -0.44336 0.05324 C -0.45442 0.05139 -0.46523 0.04653 -0.47565 0.04005 C -0.48229 0.03565 -0.48867 0.03009 -0.49518 0.02523 C -0.49635 0.02431 -0.49765 0.02338 -0.49883 0.02269 C -0.49961 0.02222 -0.50039 0.0213 -0.50117 0.0213 C -0.50143 0.0213 -0.50117 0.02222 -0.50117 0.02269 " pathEditMode="relative" rAng="0" ptsTypes="AAAAAAAAAAAAAAAAAAAAAAAAAAAAAAAAAAA">
                                      <p:cBhvr>
                                        <p:cTn id="16" dur="2000" fill="hold"/>
                                        <p:tgtEl>
                                          <p:spTgt spid="25"/>
                                        </p:tgtEl>
                                        <p:attrNameLst>
                                          <p:attrName>ppt_x</p:attrName>
                                          <p:attrName>ppt_y</p:attrName>
                                        </p:attrNameLst>
                                      </p:cBhvr>
                                      <p:rCtr x="-24505" y="718"/>
                                    </p:animMotion>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0" presetClass="path" presetSubtype="0" accel="50000" decel="50000" fill="hold" nodeType="withEffect">
                                  <p:stCondLst>
                                    <p:cond delay="0"/>
                                  </p:stCondLst>
                                  <p:childTnLst>
                                    <p:animMotion origin="layout" path="M -0.01132 0.03334 L -0.01132 0.03357 C -0.01718 0.03241 -0.02291 0.03195 -0.02864 0.03056 C -0.03112 0.0301 -0.03359 0.02894 -0.03619 0.02801 C -0.03841 0.02709 -0.04062 0.0257 -0.04283 0.02524 C -0.04908 0.02431 -0.05533 0.02431 -0.06158 0.02408 C -0.06419 0.02315 -0.06666 0.02246 -0.06914 0.0213 C -0.0707 0.02061 -0.072 0.01852 -0.07369 0.01875 C -0.09414 0.02061 -0.09518 0.02315 -0.11185 0.0294 C -0.11836 0.03172 -0.12487 0.03403 -0.13138 0.03588 C -0.13632 0.0375 -0.1414 0.0382 -0.14635 0.04005 C -0.18398 0.05325 -0.12578 0.03681 -0.17265 0.04931 C -0.19622 0.06551 -0.17565 0.0551 -0.20338 0.05718 C -0.20898 0.05764 -0.21432 0.06019 -0.21992 0.06135 C -0.22265 0.06181 -0.22539 0.06227 -0.22812 0.06274 L -0.25208 0.05857 C -0.25807 0.05764 -0.26419 0.05718 -0.27018 0.05602 C -0.2776 0.0544 -0.28515 0.05255 -0.29257 0.0507 C -0.29687 0.04954 -0.30117 0.04815 -0.30533 0.04653 C -0.31471 0.04329 -0.32369 0.03774 -0.33307 0.03588 L -0.34062 0.03473 L -0.37968 0.03588 C -0.38242 0.03612 -0.38515 0.03635 -0.38789 0.03727 C -0.38919 0.03774 -0.39036 0.03889 -0.39166 0.04005 C -0.39414 0.04213 -0.39661 0.04468 -0.39908 0.04653 C -0.40052 0.04769 -0.40208 0.04838 -0.40364 0.04931 C -0.40494 0.05 -0.40612 0.05116 -0.40742 0.05186 C -0.40833 0.05255 -0.40937 0.05278 -0.41041 0.05325 L -0.41718 0.05602 C -0.42591 0.0551 -0.43463 0.05463 -0.44336 0.05325 C -0.45442 0.05139 -0.46523 0.04653 -0.47565 0.04005 C -0.48229 0.03565 -0.48867 0.0301 -0.49518 0.02524 C -0.49635 0.02431 -0.49765 0.02338 -0.49882 0.02269 C -0.49961 0.02223 -0.50039 0.0213 -0.50117 0.0213 C -0.50143 0.0213 -0.50117 0.02223 -0.50117 0.02269 " pathEditMode="relative" rAng="0" ptsTypes="AAAAAAAAAAAAAAAAAAAAAAAAAAAAAAAAAAA">
                                      <p:cBhvr>
                                        <p:cTn id="20" dur="2000" fill="hold"/>
                                        <p:tgtEl>
                                          <p:spTgt spid="26"/>
                                        </p:tgtEl>
                                        <p:attrNameLst>
                                          <p:attrName>ppt_x</p:attrName>
                                          <p:attrName>ppt_y</p:attrName>
                                        </p:attrNameLst>
                                      </p:cBhvr>
                                      <p:rCtr x="-24505" y="718"/>
                                    </p:animMotion>
                                  </p:childTnLst>
                                </p:cTn>
                              </p:par>
                            </p:childTnLst>
                          </p:cTn>
                        </p:par>
                        <p:par>
                          <p:cTn id="21" fill="hold">
                            <p:stCondLst>
                              <p:cond delay="2000"/>
                            </p:stCondLst>
                            <p:childTnLst>
                              <p:par>
                                <p:cTn id="22" presetID="1" presetClass="entr" presetSubtype="0" fill="hold" nodeType="after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nodeType="clickEffect">
                                  <p:stCondLst>
                                    <p:cond delay="0"/>
                                  </p:stCondLst>
                                  <p:childTnLst>
                                    <p:set>
                                      <p:cBhvr>
                                        <p:cTn id="33" dur="1" fill="hold">
                                          <p:stCondLst>
                                            <p:cond delay="0"/>
                                          </p:stCondLst>
                                        </p:cTn>
                                        <p:tgtEl>
                                          <p:spTgt spid="16">
                                            <p:txEl>
                                              <p:pRg st="0" end="0"/>
                                            </p:txEl>
                                          </p:spTgt>
                                        </p:tgtEl>
                                        <p:attrNameLst>
                                          <p:attrName>style.visibility</p:attrName>
                                        </p:attrNameLst>
                                      </p:cBhvr>
                                      <p:to>
                                        <p:strVal val="hidden"/>
                                      </p:to>
                                    </p:set>
                                  </p:childTnLst>
                                </p:cTn>
                              </p:par>
                            </p:childTnLst>
                          </p:cTn>
                        </p:par>
                        <p:par>
                          <p:cTn id="34" fill="hold">
                            <p:stCondLst>
                              <p:cond delay="0"/>
                            </p:stCondLst>
                            <p:childTnLst>
                              <p:par>
                                <p:cTn id="35" presetID="1" presetClass="entr" presetSubtype="0" fill="hold" grpId="0" nodeType="after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24"/>
                                        </p:tgtEl>
                                        <p:attrNameLst>
                                          <p:attrName>style.visibility</p:attrName>
                                        </p:attrNameLst>
                                      </p:cBhvr>
                                      <p:to>
                                        <p:strVal val="hidden"/>
                                      </p:to>
                                    </p:set>
                                  </p:childTnLst>
                                </p:cTn>
                              </p:par>
                            </p:childTnLst>
                          </p:cTn>
                        </p:par>
                        <p:par>
                          <p:cTn id="45" fill="hold">
                            <p:stCondLst>
                              <p:cond delay="0"/>
                            </p:stCondLst>
                            <p:childTnLst>
                              <p:par>
                                <p:cTn id="46" presetID="1" presetClass="entr" presetSubtype="0" fill="hold" grpId="0" nodeType="afterEffect">
                                  <p:stCondLst>
                                    <p:cond delay="0"/>
                                  </p:stCondLst>
                                  <p:childTnLst>
                                    <p:set>
                                      <p:cBhvr>
                                        <p:cTn id="47"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1" grpId="0"/>
      <p:bldP spid="23" grpId="0"/>
      <p:bldP spid="24" grpId="0"/>
      <p:bldP spid="24"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A5A3D-3EB6-D766-830B-CBC874091C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78318-7DF0-50C0-50EB-AD37C626A59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Greedy Goat</a:t>
            </a:r>
            <a:endParaRPr lang="en-US" dirty="0"/>
          </a:p>
        </p:txBody>
      </p:sp>
      <p:sp>
        <p:nvSpPr>
          <p:cNvPr id="3" name="Content Placeholder 2">
            <a:extLst>
              <a:ext uri="{FF2B5EF4-FFF2-40B4-BE49-F238E27FC236}">
                <a16:creationId xmlns:a16="http://schemas.microsoft.com/office/drawing/2014/main" id="{BC9A2FB6-2C5E-2E6D-6508-8389A7363FBD}"/>
              </a:ext>
            </a:extLst>
          </p:cNvPr>
          <p:cNvSpPr>
            <a:spLocks noGrp="1"/>
          </p:cNvSpPr>
          <p:nvPr>
            <p:ph idx="1"/>
          </p:nvPr>
        </p:nvSpPr>
        <p:spPr/>
        <p:txBody>
          <a:bodyPr>
            <a:normAutofit/>
          </a:bodyPr>
          <a:lstStyle/>
          <a:p>
            <a:pPr marL="0" indent="0">
              <a:buNone/>
            </a:pPr>
            <a:r>
              <a:rPr lang="en-US" sz="2200" dirty="0">
                <a:solidFill>
                  <a:srgbClr val="1A1A1A"/>
                </a:solidFill>
                <a:ea typeface="SourceSans3"/>
              </a:rPr>
              <a:t>This is a </a:t>
            </a:r>
            <a:r>
              <a:rPr lang="en-US" sz="2200" b="1" dirty="0">
                <a:solidFill>
                  <a:srgbClr val="1A1A1A"/>
                </a:solidFill>
                <a:ea typeface="SourceSans3"/>
              </a:rPr>
              <a:t>data race</a:t>
            </a:r>
            <a:r>
              <a:rPr lang="en-US" sz="2200" dirty="0">
                <a:solidFill>
                  <a:srgbClr val="1A1A1A"/>
                </a:solidFill>
                <a:ea typeface="SourceSans3"/>
              </a:rPr>
              <a:t> and therefore undefined behavior</a:t>
            </a:r>
          </a:p>
          <a:p>
            <a:pPr marL="0" indent="0">
              <a:buNone/>
            </a:pPr>
            <a:endParaRPr lang="en-US" sz="2200" dirty="0">
              <a:solidFill>
                <a:schemeClr val="tx1">
                  <a:lumMod val="75000"/>
                  <a:lumOff val="25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int visitors = 0;</a:t>
            </a:r>
            <a:endParaRPr lang="en-US" sz="2200" dirty="0">
              <a:solidFill>
                <a:schemeClr val="tx2">
                  <a:lumMod val="90000"/>
                  <a:lumOff val="10000"/>
                </a:schemeClr>
              </a:solidFill>
              <a:latin typeface="Times New Roman"/>
            </a:endParaRPr>
          </a:p>
          <a:p>
            <a:pPr marL="0" indent="0">
              <a:buNone/>
            </a:pPr>
            <a:r>
              <a:rPr lang="en-US" sz="2200" dirty="0">
                <a:solidFill>
                  <a:schemeClr val="tx2">
                    <a:lumMod val="90000"/>
                    <a:lumOff val="10000"/>
                  </a:schemeClr>
                </a:solidFill>
              </a:rPr>
              <a:t>	</a:t>
            </a: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north_gate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p>
          <a:p>
            <a:pPr marL="0" indent="0">
              <a:buNone/>
            </a:pPr>
            <a:endParaRPr lang="en-US" sz="2200" dirty="0">
              <a:solidFill>
                <a:schemeClr val="tx2">
                  <a:lumMod val="90000"/>
                  <a:lumOff val="10000"/>
                </a:schemeClr>
              </a:solidFill>
              <a:latin typeface="Times New Roman"/>
            </a:endParaRP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south_gate</a:t>
            </a:r>
            <a:r>
              <a:rPr lang="en-US" sz="2200" dirty="0">
                <a:solidFill>
                  <a:schemeClr val="tx2">
                    <a:lumMod val="90000"/>
                    <a:lumOff val="10000"/>
                  </a:schemeClr>
                </a:solidFill>
                <a:latin typeface="SourceCodePro"/>
                <a:ea typeface="SourceCodePro"/>
              </a:rPr>
              <a:t>([&amp;] {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 });</a:t>
            </a:r>
            <a:endParaRPr lang="en-US" sz="2200" dirty="0">
              <a:solidFill>
                <a:schemeClr val="tx2">
                  <a:lumMod val="90000"/>
                  <a:lumOff val="10000"/>
                </a:schemeClr>
              </a:solidFill>
              <a:latin typeface="Times New Roman"/>
            </a:endParaRPr>
          </a:p>
          <a:p>
            <a:pPr marL="0" indent="0">
              <a:buNone/>
            </a:pPr>
            <a:endParaRPr lang="en-US" sz="2200" dirty="0"/>
          </a:p>
          <a:p>
            <a:pPr marL="0" indent="0">
              <a:buNone/>
            </a:pPr>
            <a:endParaRPr lang="en-US" sz="2200" dirty="0"/>
          </a:p>
        </p:txBody>
      </p:sp>
      <p:grpSp>
        <p:nvGrpSpPr>
          <p:cNvPr id="6" name="Group 5">
            <a:extLst>
              <a:ext uri="{FF2B5EF4-FFF2-40B4-BE49-F238E27FC236}">
                <a16:creationId xmlns:a16="http://schemas.microsoft.com/office/drawing/2014/main" id="{04A40F9B-BD0C-4B78-5971-71084EB45864}"/>
              </a:ext>
            </a:extLst>
          </p:cNvPr>
          <p:cNvGrpSpPr/>
          <p:nvPr/>
        </p:nvGrpSpPr>
        <p:grpSpPr>
          <a:xfrm rot="19361991">
            <a:off x="8290279" y="3361738"/>
            <a:ext cx="3343325" cy="1218393"/>
            <a:chOff x="1302902" y="1148960"/>
            <a:chExt cx="3343325" cy="1218393"/>
          </a:xfrm>
          <a:solidFill>
            <a:srgbClr val="FFFFFF">
              <a:alpha val="30196"/>
            </a:srgbClr>
          </a:solidFill>
        </p:grpSpPr>
        <p:sp>
          <p:nvSpPr>
            <p:cNvPr id="7" name="Freeform: Shape 6">
              <a:extLst>
                <a:ext uri="{FF2B5EF4-FFF2-40B4-BE49-F238E27FC236}">
                  <a16:creationId xmlns:a16="http://schemas.microsoft.com/office/drawing/2014/main" id="{7BAC6A93-D606-A220-02F0-689F2557BBE9}"/>
                </a:ext>
              </a:extLst>
            </p:cNvPr>
            <p:cNvSpPr/>
            <p:nvPr/>
          </p:nvSpPr>
          <p:spPr>
            <a:xfrm rot="1528226">
              <a:off x="1333655" y="1148960"/>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8" name="TextBox 7">
              <a:extLst>
                <a:ext uri="{FF2B5EF4-FFF2-40B4-BE49-F238E27FC236}">
                  <a16:creationId xmlns:a16="http://schemas.microsoft.com/office/drawing/2014/main" id="{B853289F-923B-765B-40F2-4E928D695B82}"/>
                </a:ext>
              </a:extLst>
            </p:cNvPr>
            <p:cNvSpPr txBox="1"/>
            <p:nvPr/>
          </p:nvSpPr>
          <p:spPr>
            <a:xfrm rot="1528226">
              <a:off x="1302902" y="1411754"/>
              <a:ext cx="3320418" cy="492443"/>
            </a:xfrm>
            <a:prstGeom prst="rect">
              <a:avLst/>
            </a:prstGeom>
            <a:grpFill/>
            <a:ln w="0">
              <a:noFill/>
            </a:ln>
          </p:spPr>
          <p:txBody>
            <a:bodyPr wrap="square" lIns="0" tIns="0" rIns="0" bIns="0" anchor="t">
              <a:spAutoFit/>
            </a:bodyPr>
            <a:lstStyle/>
            <a:p>
              <a:pPr algn="ctr"/>
              <a:r>
                <a:rPr lang="en-US" sz="3200" dirty="0">
                  <a:solidFill>
                    <a:srgbClr val="C00000"/>
                  </a:solidFill>
                  <a:latin typeface="SourceCodePro"/>
                  <a:ea typeface="SourceCodePro"/>
                </a:rPr>
                <a:t>Convicted of UB</a:t>
              </a:r>
              <a:endParaRPr lang="en-US" sz="3200" b="0" u="none" strike="noStrike" dirty="0">
                <a:solidFill>
                  <a:srgbClr val="C00000"/>
                </a:solidFill>
                <a:effectLst/>
                <a:uFillTx/>
                <a:latin typeface="SourceCodePro"/>
                <a:ea typeface="SourceCodePro"/>
              </a:endParaRPr>
            </a:p>
          </p:txBody>
        </p:sp>
      </p:grpSp>
      <p:pic>
        <p:nvPicPr>
          <p:cNvPr id="9" name="Graphic 8">
            <a:extLst>
              <a:ext uri="{FF2B5EF4-FFF2-40B4-BE49-F238E27FC236}">
                <a16:creationId xmlns:a16="http://schemas.microsoft.com/office/drawing/2014/main" id="{9B978567-05CD-61ED-8FA9-3E799C966B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16097" y="2998084"/>
            <a:ext cx="2059903" cy="2006420"/>
          </a:xfrm>
          <a:prstGeom prst="rect">
            <a:avLst/>
          </a:prstGeom>
        </p:spPr>
      </p:pic>
      <p:sp>
        <p:nvSpPr>
          <p:cNvPr id="4" name="Slide Number Placeholder 3">
            <a:extLst>
              <a:ext uri="{FF2B5EF4-FFF2-40B4-BE49-F238E27FC236}">
                <a16:creationId xmlns:a16="http://schemas.microsoft.com/office/drawing/2014/main" id="{D6D1A73C-C8EA-16B5-2F32-54BEF05C27F1}"/>
              </a:ext>
            </a:extLst>
          </p:cNvPr>
          <p:cNvSpPr>
            <a:spLocks noGrp="1"/>
          </p:cNvSpPr>
          <p:nvPr>
            <p:ph type="sldNum" sz="quarter" idx="12"/>
          </p:nvPr>
        </p:nvSpPr>
        <p:spPr/>
        <p:txBody>
          <a:bodyPr/>
          <a:lstStyle/>
          <a:p>
            <a:fld id="{A8D619E7-4118-4CE2-9D02-1AAE6DCE22A2}" type="slidenum">
              <a:rPr lang="en-US" smtClean="0"/>
              <a:t>11</a:t>
            </a:fld>
            <a:endParaRPr lang="en-US"/>
          </a:p>
        </p:txBody>
      </p:sp>
    </p:spTree>
    <p:extLst>
      <p:ext uri="{BB962C8B-B14F-4D97-AF65-F5344CB8AC3E}">
        <p14:creationId xmlns:p14="http://schemas.microsoft.com/office/powerpoint/2010/main" val="355612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9F39A-6D2F-3AD8-95AF-5261911C46E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B989076-B514-89FE-EEDD-BCAB42CBBE35}"/>
              </a:ext>
            </a:extLst>
          </p:cNvPr>
          <p:cNvPicPr>
            <a:picLocks noChangeAspect="1"/>
          </p:cNvPicPr>
          <p:nvPr/>
        </p:nvPicPr>
        <p:blipFill>
          <a:blip r:embed="rId3"/>
          <a:stretch>
            <a:fillRect/>
          </a:stretch>
        </p:blipFill>
        <p:spPr>
          <a:xfrm>
            <a:off x="293909" y="160020"/>
            <a:ext cx="5205191" cy="6321287"/>
          </a:xfrm>
          <a:prstGeom prst="rect">
            <a:avLst/>
          </a:prstGeom>
        </p:spPr>
      </p:pic>
      <p:sp>
        <p:nvSpPr>
          <p:cNvPr id="22" name="Content Placeholder 2">
            <a:extLst>
              <a:ext uri="{FF2B5EF4-FFF2-40B4-BE49-F238E27FC236}">
                <a16:creationId xmlns:a16="http://schemas.microsoft.com/office/drawing/2014/main" id="{E94C033E-EF02-F332-9380-C0B7183F11FD}"/>
              </a:ext>
            </a:extLst>
          </p:cNvPr>
          <p:cNvSpPr txBox="1">
            <a:spLocks/>
          </p:cNvSpPr>
          <p:nvPr/>
        </p:nvSpPr>
        <p:spPr>
          <a:xfrm>
            <a:off x="6206072" y="541867"/>
            <a:ext cx="5147728" cy="5635096"/>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atomic&lt;int&gt; visitors = 0;</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north_gate</a:t>
            </a:r>
            <a:r>
              <a:rPr lang="en-US" sz="2200" dirty="0">
                <a:solidFill>
                  <a:schemeClr val="tx2">
                    <a:lumMod val="90000"/>
                    <a:lumOff val="10000"/>
                  </a:schemeClr>
                </a:solidFill>
                <a:latin typeface="SourceCodePro"/>
                <a:ea typeface="SourceCodePro"/>
              </a:rPr>
              <a:t>([&amp;] {</a:t>
            </a:r>
          </a:p>
          <a:p>
            <a:pPr marL="0" indent="0">
              <a:buNone/>
            </a:pPr>
            <a:r>
              <a:rPr lang="en-US" sz="2200" dirty="0">
                <a:solidFill>
                  <a:schemeClr val="tx2">
                    <a:lumMod val="90000"/>
                    <a:lumOff val="10000"/>
                  </a:schemeClr>
                </a:solidFill>
                <a:latin typeface="SourceCodePro"/>
                <a:ea typeface="SourceCodePro"/>
              </a:rPr>
              <a:t>	for (int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++visitors;</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Times New Roman"/>
            </a:endParaRPr>
          </a:p>
          <a:p>
            <a:pPr marL="0" indent="0">
              <a:buFont typeface="Arial" panose="020B0604020202020204" pitchFamily="34" charset="0"/>
              <a:buNone/>
            </a:pP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south_gate</a:t>
            </a:r>
            <a:r>
              <a:rPr lang="en-US" sz="2200" dirty="0">
                <a:solidFill>
                  <a:schemeClr val="tx2">
                    <a:lumMod val="90000"/>
                    <a:lumOff val="10000"/>
                  </a:schemeClr>
                </a:solidFill>
                <a:latin typeface="SourceCodePro"/>
                <a:ea typeface="SourceCodePro"/>
              </a:rPr>
              <a:t>([&amp;] { </a:t>
            </a:r>
          </a:p>
          <a:p>
            <a:pPr marL="0" indent="0">
              <a:buNone/>
            </a:pPr>
            <a:r>
              <a:rPr lang="en-US" sz="2200" dirty="0">
                <a:solidFill>
                  <a:schemeClr val="tx2">
                    <a:lumMod val="90000"/>
                    <a:lumOff val="10000"/>
                  </a:schemeClr>
                </a:solidFill>
                <a:latin typeface="SourceCodePro"/>
                <a:ea typeface="SourceCodePro"/>
              </a:rPr>
              <a:t>	for(int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10'000;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		++visitors; </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latin typeface="Times New Roman"/>
            </a:endParaRPr>
          </a:p>
          <a:p>
            <a:pPr marL="0" indent="0">
              <a:buFont typeface="Arial" panose="020B0604020202020204" pitchFamily="34" charset="0"/>
              <a:buNone/>
            </a:pPr>
            <a:endParaRPr lang="en-US" sz="2200" dirty="0">
              <a:solidFill>
                <a:schemeClr val="tx2">
                  <a:lumMod val="90000"/>
                  <a:lumOff val="10000"/>
                </a:schemeClr>
              </a:solidFill>
            </a:endParaRPr>
          </a:p>
          <a:p>
            <a:pPr marL="0" indent="0">
              <a:buFont typeface="Arial" panose="020B0604020202020204" pitchFamily="34" charset="0"/>
              <a:buNone/>
            </a:pPr>
            <a:endParaRPr lang="en-US" sz="2200" dirty="0">
              <a:solidFill>
                <a:schemeClr val="tx2">
                  <a:lumMod val="90000"/>
                  <a:lumOff val="10000"/>
                </a:schemeClr>
              </a:solidFill>
            </a:endParaRPr>
          </a:p>
        </p:txBody>
      </p:sp>
      <p:pic>
        <p:nvPicPr>
          <p:cNvPr id="6" name="Graphic 5">
            <a:extLst>
              <a:ext uri="{FF2B5EF4-FFF2-40B4-BE49-F238E27FC236}">
                <a16:creationId xmlns:a16="http://schemas.microsoft.com/office/drawing/2014/main" id="{4E2219F9-D238-C4C7-EAB3-E962C2F82F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51260" y="1210911"/>
            <a:ext cx="2059903" cy="2006420"/>
          </a:xfrm>
          <a:prstGeom prst="rect">
            <a:avLst/>
          </a:prstGeom>
        </p:spPr>
      </p:pic>
      <p:sp>
        <p:nvSpPr>
          <p:cNvPr id="7" name="TextBox 6">
            <a:extLst>
              <a:ext uri="{FF2B5EF4-FFF2-40B4-BE49-F238E27FC236}">
                <a16:creationId xmlns:a16="http://schemas.microsoft.com/office/drawing/2014/main" id="{385A0EEA-7286-CF95-B88A-589AC528BD76}"/>
              </a:ext>
            </a:extLst>
          </p:cNvPr>
          <p:cNvSpPr txBox="1"/>
          <p:nvPr/>
        </p:nvSpPr>
        <p:spPr>
          <a:xfrm>
            <a:off x="1794934" y="372456"/>
            <a:ext cx="2827866" cy="430887"/>
          </a:xfrm>
          <a:prstGeom prst="rect">
            <a:avLst/>
          </a:prstGeom>
          <a:noFill/>
        </p:spPr>
        <p:txBody>
          <a:bodyPr wrap="square">
            <a:spAutoFit/>
          </a:bodyPr>
          <a:lstStyle/>
          <a:p>
            <a:r>
              <a:rPr lang="en-US" sz="2200" b="1" dirty="0"/>
              <a:t>The Greedy Goat</a:t>
            </a:r>
            <a:endParaRPr lang="en-US" b="1" dirty="0"/>
          </a:p>
        </p:txBody>
      </p:sp>
      <p:sp>
        <p:nvSpPr>
          <p:cNvPr id="3" name="TextBox 2">
            <a:extLst>
              <a:ext uri="{FF2B5EF4-FFF2-40B4-BE49-F238E27FC236}">
                <a16:creationId xmlns:a16="http://schemas.microsoft.com/office/drawing/2014/main" id="{06DEB649-9322-25B9-57D2-A091C4E22BDB}"/>
              </a:ext>
            </a:extLst>
          </p:cNvPr>
          <p:cNvSpPr txBox="1"/>
          <p:nvPr/>
        </p:nvSpPr>
        <p:spPr>
          <a:xfrm>
            <a:off x="1219192" y="3480958"/>
            <a:ext cx="4461932" cy="707886"/>
          </a:xfrm>
          <a:prstGeom prst="rect">
            <a:avLst/>
          </a:prstGeom>
          <a:noFill/>
        </p:spPr>
        <p:txBody>
          <a:bodyPr wrap="square">
            <a:spAutoFit/>
          </a:bodyPr>
          <a:lstStyle/>
          <a:p>
            <a:r>
              <a:rPr lang="en-US" sz="2000" dirty="0"/>
              <a:t>unsynchronized non-atomic </a:t>
            </a:r>
          </a:p>
          <a:p>
            <a:r>
              <a:rPr lang="en-US" sz="2000" dirty="0"/>
              <a:t>read-modify-write</a:t>
            </a:r>
          </a:p>
        </p:txBody>
      </p:sp>
      <p:sp>
        <p:nvSpPr>
          <p:cNvPr id="8" name="TextBox 7">
            <a:extLst>
              <a:ext uri="{FF2B5EF4-FFF2-40B4-BE49-F238E27FC236}">
                <a16:creationId xmlns:a16="http://schemas.microsoft.com/office/drawing/2014/main" id="{7EFB9C06-D9BC-1D1B-04E9-84FF897140B0}"/>
              </a:ext>
            </a:extLst>
          </p:cNvPr>
          <p:cNvSpPr txBox="1"/>
          <p:nvPr/>
        </p:nvSpPr>
        <p:spPr>
          <a:xfrm>
            <a:off x="1219192" y="4194734"/>
            <a:ext cx="4715936" cy="707886"/>
          </a:xfrm>
          <a:prstGeom prst="rect">
            <a:avLst/>
          </a:prstGeom>
          <a:noFill/>
        </p:spPr>
        <p:txBody>
          <a:bodyPr wrap="square">
            <a:spAutoFit/>
          </a:bodyPr>
          <a:lstStyle/>
          <a:p>
            <a:r>
              <a:rPr lang="en-US" sz="2000" dirty="0"/>
              <a:t>eats updates; </a:t>
            </a:r>
          </a:p>
          <a:p>
            <a:r>
              <a:rPr lang="en-US" sz="2000" dirty="0"/>
              <a:t>the more traffic, the hungrier</a:t>
            </a:r>
          </a:p>
        </p:txBody>
      </p:sp>
      <p:sp>
        <p:nvSpPr>
          <p:cNvPr id="10" name="TextBox 9">
            <a:extLst>
              <a:ext uri="{FF2B5EF4-FFF2-40B4-BE49-F238E27FC236}">
                <a16:creationId xmlns:a16="http://schemas.microsoft.com/office/drawing/2014/main" id="{230705C4-ABED-CE33-BE21-F40A689657DE}"/>
              </a:ext>
            </a:extLst>
          </p:cNvPr>
          <p:cNvSpPr txBox="1"/>
          <p:nvPr/>
        </p:nvSpPr>
        <p:spPr>
          <a:xfrm>
            <a:off x="1219192" y="5619319"/>
            <a:ext cx="4428074" cy="707886"/>
          </a:xfrm>
          <a:prstGeom prst="rect">
            <a:avLst/>
          </a:prstGeom>
          <a:noFill/>
        </p:spPr>
        <p:txBody>
          <a:bodyPr wrap="square">
            <a:spAutoFit/>
          </a:bodyPr>
          <a:lstStyle/>
          <a:p>
            <a:r>
              <a:rPr lang="en-US" sz="2000" dirty="0"/>
              <a:t>make the read-modify-write a single atomic operation</a:t>
            </a:r>
          </a:p>
        </p:txBody>
      </p:sp>
      <p:sp>
        <p:nvSpPr>
          <p:cNvPr id="14" name="TextBox 13">
            <a:extLst>
              <a:ext uri="{FF2B5EF4-FFF2-40B4-BE49-F238E27FC236}">
                <a16:creationId xmlns:a16="http://schemas.microsoft.com/office/drawing/2014/main" id="{479C8D9D-3162-15D7-5393-2FFC91D42485}"/>
              </a:ext>
            </a:extLst>
          </p:cNvPr>
          <p:cNvSpPr txBox="1"/>
          <p:nvPr/>
        </p:nvSpPr>
        <p:spPr>
          <a:xfrm>
            <a:off x="1219192" y="4886032"/>
            <a:ext cx="3962408" cy="707886"/>
          </a:xfrm>
          <a:prstGeom prst="rect">
            <a:avLst/>
          </a:prstGeom>
          <a:noFill/>
        </p:spPr>
        <p:txBody>
          <a:bodyPr wrap="square">
            <a:spAutoFit/>
          </a:bodyPr>
          <a:lstStyle/>
          <a:p>
            <a:r>
              <a:rPr lang="en-US" sz="2000" dirty="0"/>
              <a:t>numbers remain plausible and low-load tests often pass</a:t>
            </a:r>
          </a:p>
        </p:txBody>
      </p:sp>
      <p:sp>
        <p:nvSpPr>
          <p:cNvPr id="2" name="Slide Number Placeholder 1">
            <a:extLst>
              <a:ext uri="{FF2B5EF4-FFF2-40B4-BE49-F238E27FC236}">
                <a16:creationId xmlns:a16="http://schemas.microsoft.com/office/drawing/2014/main" id="{CD30F292-F269-B15D-2A04-B61EE4B980D3}"/>
              </a:ext>
            </a:extLst>
          </p:cNvPr>
          <p:cNvSpPr>
            <a:spLocks noGrp="1"/>
          </p:cNvSpPr>
          <p:nvPr>
            <p:ph type="sldNum" sz="quarter" idx="12"/>
          </p:nvPr>
        </p:nvSpPr>
        <p:spPr/>
        <p:txBody>
          <a:bodyPr/>
          <a:lstStyle/>
          <a:p>
            <a:fld id="{A8D619E7-4118-4CE2-9D02-1AAE6DCE22A2}" type="slidenum">
              <a:rPr lang="en-US" smtClean="0"/>
              <a:t>12</a:t>
            </a:fld>
            <a:endParaRPr lang="en-US"/>
          </a:p>
        </p:txBody>
      </p:sp>
    </p:spTree>
    <p:extLst>
      <p:ext uri="{BB962C8B-B14F-4D97-AF65-F5344CB8AC3E}">
        <p14:creationId xmlns:p14="http://schemas.microsoft.com/office/powerpoint/2010/main" val="1183322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xEl>
                                              <p:pRg st="4" end="4"/>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xEl>
                                              <p:pRg st="5" end="5"/>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xEl>
                                              <p:pRg st="7" end="7"/>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xEl>
                                              <p:pRg st="9" end="9"/>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5" presetClass="emph" presetSubtype="0" nodeType="clickEffect">
                                  <p:stCondLst>
                                    <p:cond delay="0"/>
                                  </p:stCondLst>
                                  <p:endCondLst>
                                    <p:cond evt="onNext" delay="0">
                                      <p:tgtEl>
                                        <p:sldTgt/>
                                      </p:tgtEl>
                                    </p:cond>
                                  </p:endCondLst>
                                  <p:childTnLst>
                                    <p:set>
                                      <p:cBhvr override="childStyle">
                                        <p:cTn id="42" dur="indefinite"/>
                                        <p:tgtEl>
                                          <p:spTgt spid="22">
                                            <p:txEl>
                                              <p:pRg st="0" end="0"/>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uiExpand="1" build="allAtOnce"/>
      <p:bldP spid="3" grpId="0"/>
      <p:bldP spid="8" grpId="0"/>
      <p:bldP spid="10"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347D4-4F8A-7B51-CBB2-AFA657FF48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A69CC1-ECE8-4F41-A260-29F03FFBDEE4}"/>
              </a:ext>
            </a:extLst>
          </p:cNvPr>
          <p:cNvSpPr>
            <a:spLocks noGrp="1"/>
          </p:cNvSpPr>
          <p:nvPr>
            <p:ph type="ctrTitle"/>
          </p:nvPr>
        </p:nvSpPr>
        <p:spPr>
          <a:xfrm>
            <a:off x="1134533" y="1122363"/>
            <a:ext cx="10100733" cy="2387600"/>
          </a:xfrm>
        </p:spPr>
        <p:txBody>
          <a:bodyPr/>
          <a:lstStyle/>
          <a:p>
            <a:r>
              <a:rPr lang="en-US" b="1" dirty="0">
                <a:solidFill>
                  <a:srgbClr val="1A1A1A"/>
                </a:solidFill>
                <a:latin typeface="Fraunces-72pt-SemiBold-NonWonky"/>
                <a:ea typeface="Fraunces-72pt-SemiBold-NonWonky"/>
              </a:rPr>
              <a:t>Zone 2: The House of Illusions</a:t>
            </a:r>
            <a:endParaRPr lang="en-US" dirty="0"/>
          </a:p>
        </p:txBody>
      </p:sp>
      <p:sp>
        <p:nvSpPr>
          <p:cNvPr id="5" name="Subtitle 4">
            <a:extLst>
              <a:ext uri="{FF2B5EF4-FFF2-40B4-BE49-F238E27FC236}">
                <a16:creationId xmlns:a16="http://schemas.microsoft.com/office/drawing/2014/main" id="{18C6A26D-0380-4BA8-9628-E4EF68EFBD65}"/>
              </a:ext>
            </a:extLst>
          </p:cNvPr>
          <p:cNvSpPr>
            <a:spLocks noGrp="1"/>
          </p:cNvSpPr>
          <p:nvPr>
            <p:ph type="subTitle" idx="1"/>
          </p:nvPr>
        </p:nvSpPr>
        <p:spPr/>
        <p:txBody>
          <a:bodyPr>
            <a:normAutofit lnSpcReduction="10000"/>
          </a:bodyPr>
          <a:lstStyle/>
          <a:p>
            <a:endParaRPr lang="en-US" i="1" dirty="0">
              <a:latin typeface="SourceSans3ExtraLight"/>
            </a:endParaRPr>
          </a:p>
          <a:p>
            <a:r>
              <a:rPr lang="en-US" i="1" dirty="0">
                <a:latin typeface="SourceSans3ExtraLight"/>
              </a:rPr>
              <a:t>These monsters do not necessarily corrupt an individual operation.</a:t>
            </a:r>
          </a:p>
          <a:p>
            <a:endParaRPr lang="en-US" i="1" dirty="0">
              <a:latin typeface="SourceSans3ExtraLight"/>
            </a:endParaRPr>
          </a:p>
          <a:p>
            <a:r>
              <a:rPr lang="en-US" i="1" dirty="0">
                <a:latin typeface="SourceSans3ExtraLight"/>
              </a:rPr>
              <a:t>They invalidate the assumptions connecting operations.</a:t>
            </a:r>
          </a:p>
        </p:txBody>
      </p:sp>
      <p:sp>
        <p:nvSpPr>
          <p:cNvPr id="3" name="Slide Number Placeholder 2">
            <a:extLst>
              <a:ext uri="{FF2B5EF4-FFF2-40B4-BE49-F238E27FC236}">
                <a16:creationId xmlns:a16="http://schemas.microsoft.com/office/drawing/2014/main" id="{36808C8A-78E2-3BA1-DED9-CF205F6CBE1B}"/>
              </a:ext>
            </a:extLst>
          </p:cNvPr>
          <p:cNvSpPr>
            <a:spLocks noGrp="1"/>
          </p:cNvSpPr>
          <p:nvPr>
            <p:ph type="sldNum" sz="quarter" idx="12"/>
          </p:nvPr>
        </p:nvSpPr>
        <p:spPr/>
        <p:txBody>
          <a:bodyPr/>
          <a:lstStyle/>
          <a:p>
            <a:fld id="{A8D619E7-4118-4CE2-9D02-1AAE6DCE22A2}" type="slidenum">
              <a:rPr lang="en-US" smtClean="0"/>
              <a:t>13</a:t>
            </a:fld>
            <a:endParaRPr lang="en-US"/>
          </a:p>
        </p:txBody>
      </p:sp>
    </p:spTree>
    <p:extLst>
      <p:ext uri="{BB962C8B-B14F-4D97-AF65-F5344CB8AC3E}">
        <p14:creationId xmlns:p14="http://schemas.microsoft.com/office/powerpoint/2010/main" val="35643806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7DF96-878A-C61C-D749-059A66DCE1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EE33C-F818-01E2-88B4-A175880F838A}"/>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Rabbit Hat</a:t>
            </a:r>
            <a:endParaRPr lang="en-US" dirty="0"/>
          </a:p>
        </p:txBody>
      </p:sp>
      <p:sp>
        <p:nvSpPr>
          <p:cNvPr id="7" name="TextBox 6">
            <a:extLst>
              <a:ext uri="{FF2B5EF4-FFF2-40B4-BE49-F238E27FC236}">
                <a16:creationId xmlns:a16="http://schemas.microsoft.com/office/drawing/2014/main" id="{7812BA11-3D14-011E-097D-EE21023A77A4}"/>
              </a:ext>
            </a:extLst>
          </p:cNvPr>
          <p:cNvSpPr txBox="1"/>
          <p:nvPr/>
        </p:nvSpPr>
        <p:spPr>
          <a:xfrm>
            <a:off x="838200" y="3870930"/>
            <a:ext cx="10199914" cy="1785104"/>
          </a:xfrm>
          <a:prstGeom prst="rect">
            <a:avLst/>
          </a:prstGeom>
          <a:noFill/>
        </p:spPr>
        <p:txBody>
          <a:bodyPr wrap="square" rtlCol="0">
            <a:spAutoFit/>
          </a:bodyPr>
          <a:lstStyle/>
          <a:p>
            <a:r>
              <a:rPr lang="en-US" sz="2200" i="1" dirty="0">
                <a:latin typeface="SourceSans3ExtraLight"/>
              </a:rPr>
              <a:t>The good old trick. A hat and a rabbit. And then another.</a:t>
            </a:r>
          </a:p>
          <a:p>
            <a:endParaRPr lang="en-US" sz="2200" i="1" dirty="0">
              <a:latin typeface="SourceSans3ExtraLight"/>
            </a:endParaRPr>
          </a:p>
          <a:p>
            <a:r>
              <a:rPr lang="en-US" sz="2200" i="1" dirty="0">
                <a:latin typeface="SourceSans3ExtraLight"/>
              </a:rPr>
              <a:t>How many rabbits could we fit inside?</a:t>
            </a:r>
          </a:p>
          <a:p>
            <a:endParaRPr lang="en-US" sz="2200" i="1" dirty="0">
              <a:latin typeface="SourceSans3ExtraLight"/>
            </a:endParaRPr>
          </a:p>
          <a:p>
            <a:r>
              <a:rPr lang="en-US" sz="2200" i="1" dirty="0">
                <a:latin typeface="SourceSans3ExtraLight"/>
              </a:rPr>
              <a:t>It’s fun until it isn’t.</a:t>
            </a:r>
          </a:p>
        </p:txBody>
      </p:sp>
      <p:pic>
        <p:nvPicPr>
          <p:cNvPr id="5" name="Graphic 4">
            <a:extLst>
              <a:ext uri="{FF2B5EF4-FFF2-40B4-BE49-F238E27FC236}">
                <a16:creationId xmlns:a16="http://schemas.microsoft.com/office/drawing/2014/main" id="{4173DFE5-DE70-B6DC-B34F-7D59962505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91897" y="496404"/>
            <a:ext cx="1710632" cy="2120899"/>
          </a:xfrm>
          <a:prstGeom prst="rect">
            <a:avLst/>
          </a:prstGeom>
        </p:spPr>
      </p:pic>
      <p:sp>
        <p:nvSpPr>
          <p:cNvPr id="3" name="Slide Number Placeholder 2">
            <a:extLst>
              <a:ext uri="{FF2B5EF4-FFF2-40B4-BE49-F238E27FC236}">
                <a16:creationId xmlns:a16="http://schemas.microsoft.com/office/drawing/2014/main" id="{7948ABAF-2327-16A0-7BE2-955661B3BC9E}"/>
              </a:ext>
            </a:extLst>
          </p:cNvPr>
          <p:cNvSpPr>
            <a:spLocks noGrp="1"/>
          </p:cNvSpPr>
          <p:nvPr>
            <p:ph type="sldNum" sz="quarter" idx="12"/>
          </p:nvPr>
        </p:nvSpPr>
        <p:spPr/>
        <p:txBody>
          <a:bodyPr/>
          <a:lstStyle/>
          <a:p>
            <a:fld id="{A8D619E7-4118-4CE2-9D02-1AAE6DCE22A2}" type="slidenum">
              <a:rPr lang="en-US" smtClean="0"/>
              <a:t>14</a:t>
            </a:fld>
            <a:endParaRPr lang="en-US"/>
          </a:p>
        </p:txBody>
      </p:sp>
    </p:spTree>
    <p:extLst>
      <p:ext uri="{BB962C8B-B14F-4D97-AF65-F5344CB8AC3E}">
        <p14:creationId xmlns:p14="http://schemas.microsoft.com/office/powerpoint/2010/main" val="4279450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CDA68-4666-7282-00EF-2BA99AFBF8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857E1D-49F2-09CD-8E66-21E915F594F1}"/>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Rabbit Hat</a:t>
            </a:r>
            <a:endParaRPr lang="en-US" dirty="0"/>
          </a:p>
        </p:txBody>
      </p:sp>
      <p:sp>
        <p:nvSpPr>
          <p:cNvPr id="3" name="Content Placeholder 2">
            <a:extLst>
              <a:ext uri="{FF2B5EF4-FFF2-40B4-BE49-F238E27FC236}">
                <a16:creationId xmlns:a16="http://schemas.microsoft.com/office/drawing/2014/main" id="{1E110B80-0A35-BBC4-1575-A3030221758E}"/>
              </a:ext>
            </a:extLst>
          </p:cNvPr>
          <p:cNvSpPr>
            <a:spLocks noGrp="1"/>
          </p:cNvSpPr>
          <p:nvPr>
            <p:ph idx="1"/>
          </p:nvPr>
        </p:nvSpPr>
        <p:spPr>
          <a:xfrm>
            <a:off x="838200" y="1825625"/>
            <a:ext cx="3564467" cy="2382308"/>
          </a:xfrm>
        </p:spPr>
        <p:txBody>
          <a:bodyPr>
            <a:normAutofit/>
          </a:bodyPr>
          <a:lstStyle/>
          <a:p>
            <a:pPr marL="0" indent="0">
              <a:buNone/>
            </a:pPr>
            <a:r>
              <a:rPr lang="en-US" sz="2200" dirty="0">
                <a:solidFill>
                  <a:schemeClr val="tx2">
                    <a:lumMod val="90000"/>
                    <a:lumOff val="10000"/>
                  </a:schemeClr>
                </a:solidFill>
                <a:latin typeface="SourceCodePro"/>
                <a:ea typeface="SourceCodePro"/>
              </a:rPr>
              <a:t>queue&lt;rabbit&gt; hat;</a:t>
            </a:r>
          </a:p>
          <a:p>
            <a:pPr marL="0" indent="0">
              <a:buNone/>
            </a:pPr>
            <a:r>
              <a:rPr lang="en-US" sz="2200" dirty="0">
                <a:solidFill>
                  <a:schemeClr val="tx2">
                    <a:lumMod val="90000"/>
                    <a:lumOff val="10000"/>
                  </a:schemeClr>
                </a:solidFill>
                <a:latin typeface="SourceCodePro"/>
                <a:ea typeface="SourceCodePro"/>
              </a:rPr>
              <a:t>mutex m;</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10" name="Content Placeholder 2">
            <a:extLst>
              <a:ext uri="{FF2B5EF4-FFF2-40B4-BE49-F238E27FC236}">
                <a16:creationId xmlns:a16="http://schemas.microsoft.com/office/drawing/2014/main" id="{47BAB3AD-C480-C44F-B2B2-C77FA3653220}"/>
              </a:ext>
            </a:extLst>
          </p:cNvPr>
          <p:cNvSpPr txBox="1">
            <a:spLocks/>
          </p:cNvSpPr>
          <p:nvPr/>
        </p:nvSpPr>
        <p:spPr>
          <a:xfrm>
            <a:off x="8273796" y="2163345"/>
            <a:ext cx="3137069" cy="50255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200" dirty="0">
              <a:solidFill>
                <a:schemeClr val="tx1">
                  <a:lumMod val="75000"/>
                  <a:lumOff val="25000"/>
                </a:schemeClr>
              </a:solidFill>
              <a:latin typeface="SourceCodePro"/>
              <a:ea typeface="SourceCodePro"/>
            </a:endParaRP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rabbit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lock(m);</a:t>
            </a:r>
          </a:p>
          <a:p>
            <a:pPr marL="0" indent="0">
              <a:buNone/>
            </a:pPr>
            <a:r>
              <a:rPr lang="en-US" sz="2200" dirty="0">
                <a:solidFill>
                  <a:schemeClr val="tx2">
                    <a:lumMod val="90000"/>
                    <a:lumOff val="10000"/>
                  </a:schemeClr>
                </a:solidFill>
                <a:latin typeface="SourceCodePro"/>
                <a:ea typeface="SourceCodePro"/>
              </a:rPr>
              <a:t>    auto r = </a:t>
            </a:r>
            <a:r>
              <a:rPr lang="en-US" sz="2200" dirty="0" err="1">
                <a:solidFill>
                  <a:schemeClr val="tx2">
                    <a:lumMod val="90000"/>
                    <a:lumOff val="10000"/>
                  </a:schemeClr>
                </a:solidFill>
                <a:latin typeface="SourceCodePro"/>
                <a:ea typeface="SourceCodePro"/>
              </a:rPr>
              <a:t>hat.front</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hat.pop</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r;</a:t>
            </a:r>
          </a:p>
          <a:p>
            <a:pPr marL="0" inden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a:p>
            <a:pPr marL="0" indent="0">
              <a:buNone/>
            </a:pPr>
            <a:endParaRPr lang="en-US" sz="2200" dirty="0">
              <a:latin typeface="SourceCodePro"/>
            </a:endParaRPr>
          </a:p>
        </p:txBody>
      </p:sp>
      <p:sp>
        <p:nvSpPr>
          <p:cNvPr id="4" name="Content Placeholder 2">
            <a:extLst>
              <a:ext uri="{FF2B5EF4-FFF2-40B4-BE49-F238E27FC236}">
                <a16:creationId xmlns:a16="http://schemas.microsoft.com/office/drawing/2014/main" id="{6CAE3267-A135-F00F-9A39-24F68737B0E2}"/>
              </a:ext>
            </a:extLst>
          </p:cNvPr>
          <p:cNvSpPr txBox="1">
            <a:spLocks/>
          </p:cNvSpPr>
          <p:nvPr/>
        </p:nvSpPr>
        <p:spPr>
          <a:xfrm>
            <a:off x="4838531" y="2184400"/>
            <a:ext cx="3137069" cy="502553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200" dirty="0">
              <a:solidFill>
                <a:schemeClr val="tx1">
                  <a:lumMod val="75000"/>
                  <a:lumOff val="25000"/>
                </a:schemeClr>
              </a:solidFill>
              <a:latin typeface="SourceCodePro"/>
              <a:ea typeface="SourceCodePro"/>
            </a:endParaRP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bool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lock(m);</a:t>
            </a:r>
          </a:p>
          <a:p>
            <a:pPr marL="0" indent="0">
              <a:buNone/>
            </a:pPr>
            <a:r>
              <a:rPr lang="en-US" sz="2200" dirty="0">
                <a:solidFill>
                  <a:schemeClr val="tx2">
                    <a:lumMod val="90000"/>
                    <a:lumOff val="10000"/>
                  </a:schemeClr>
                </a:solidFill>
                <a:latin typeface="SourceCodePro"/>
                <a:ea typeface="SourceCodePro"/>
              </a:rPr>
              <a:t>    return </a:t>
            </a:r>
            <a:r>
              <a:rPr lang="en-US" sz="2200" dirty="0" err="1">
                <a:solidFill>
                  <a:schemeClr val="tx2">
                    <a:lumMod val="90000"/>
                    <a:lumOff val="10000"/>
                  </a:schemeClr>
                </a:solidFill>
                <a:latin typeface="SourceCodePro"/>
                <a:ea typeface="SourceCodePro"/>
              </a:rPr>
              <a:t>hat.empty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endParaRPr lang="en-US" sz="2200" dirty="0">
              <a:latin typeface="SourceCodePro"/>
            </a:endParaRPr>
          </a:p>
        </p:txBody>
      </p:sp>
      <p:sp>
        <p:nvSpPr>
          <p:cNvPr id="5" name="Slide Number Placeholder 4">
            <a:extLst>
              <a:ext uri="{FF2B5EF4-FFF2-40B4-BE49-F238E27FC236}">
                <a16:creationId xmlns:a16="http://schemas.microsoft.com/office/drawing/2014/main" id="{E7806454-F36A-4154-CBFB-5C5751E5C453}"/>
              </a:ext>
            </a:extLst>
          </p:cNvPr>
          <p:cNvSpPr>
            <a:spLocks noGrp="1"/>
          </p:cNvSpPr>
          <p:nvPr>
            <p:ph type="sldNum" sz="quarter" idx="12"/>
          </p:nvPr>
        </p:nvSpPr>
        <p:spPr/>
        <p:txBody>
          <a:bodyPr/>
          <a:lstStyle/>
          <a:p>
            <a:fld id="{A8D619E7-4118-4CE2-9D02-1AAE6DCE22A2}" type="slidenum">
              <a:rPr lang="en-US" smtClean="0"/>
              <a:t>15</a:t>
            </a:fld>
            <a:endParaRPr lang="en-US"/>
          </a:p>
        </p:txBody>
      </p:sp>
    </p:spTree>
    <p:extLst>
      <p:ext uri="{BB962C8B-B14F-4D97-AF65-F5344CB8AC3E}">
        <p14:creationId xmlns:p14="http://schemas.microsoft.com/office/powerpoint/2010/main" val="269862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xEl>
                                              <p:pRg st="3" end="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5" presetClass="emph" presetSubtype="0" nodeType="clickEffect">
                                  <p:stCondLst>
                                    <p:cond delay="0"/>
                                  </p:stCondLst>
                                  <p:endCondLst>
                                    <p:cond evt="onNext" delay="0">
                                      <p:tgtEl>
                                        <p:sldTgt/>
                                      </p:tgtEl>
                                    </p:cond>
                                  </p:endCondLst>
                                  <p:childTnLst>
                                    <p:set>
                                      <p:cBhvr override="childStyle">
                                        <p:cTn id="36" dur="indefinite"/>
                                        <p:tgtEl>
                                          <p:spTgt spid="4">
                                            <p:txEl>
                                              <p:pRg st="3" end="3"/>
                                            </p:txEl>
                                          </p:spTgt>
                                        </p:tgtEl>
                                        <p:attrNameLst>
                                          <p:attrName>style.fontWeight</p:attrName>
                                        </p:attrNameLst>
                                      </p:cBhvr>
                                      <p:to>
                                        <p:strVal val="bold"/>
                                      </p:to>
                                    </p:set>
                                  </p:childTnLst>
                                </p:cTn>
                              </p:par>
                              <p:par>
                                <p:cTn id="37" presetID="15" presetClass="emph" presetSubtype="0" nodeType="withEffect">
                                  <p:stCondLst>
                                    <p:cond delay="0"/>
                                  </p:stCondLst>
                                  <p:endCondLst>
                                    <p:cond evt="onNext" delay="0">
                                      <p:tgtEl>
                                        <p:sldTgt/>
                                      </p:tgtEl>
                                    </p:cond>
                                  </p:endCondLst>
                                  <p:childTnLst>
                                    <p:set>
                                      <p:cBhvr override="childStyle">
                                        <p:cTn id="38" dur="indefinite"/>
                                        <p:tgtEl>
                                          <p:spTgt spid="10">
                                            <p:txEl>
                                              <p:pRg st="3" end="3"/>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CB50B-37B3-C279-5D0D-3A18543A64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8CFC7-F643-C69A-24D3-5775FBCC40BF}"/>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Rabbit Hat</a:t>
            </a:r>
            <a:endParaRPr lang="en-US" dirty="0"/>
          </a:p>
        </p:txBody>
      </p:sp>
      <p:sp>
        <p:nvSpPr>
          <p:cNvPr id="3" name="Content Placeholder 2">
            <a:extLst>
              <a:ext uri="{FF2B5EF4-FFF2-40B4-BE49-F238E27FC236}">
                <a16:creationId xmlns:a16="http://schemas.microsoft.com/office/drawing/2014/main" id="{5CF1C38D-21EB-5D41-3A03-85A5DAFA6B07}"/>
              </a:ext>
            </a:extLst>
          </p:cNvPr>
          <p:cNvSpPr>
            <a:spLocks noGrp="1"/>
          </p:cNvSpPr>
          <p:nvPr>
            <p:ph idx="1"/>
          </p:nvPr>
        </p:nvSpPr>
        <p:spPr>
          <a:xfrm>
            <a:off x="838200" y="1825625"/>
            <a:ext cx="4055533" cy="1984375"/>
          </a:xfrm>
        </p:spPr>
        <p:txBody>
          <a:bodyPr>
            <a:normAutofit/>
          </a:bodyPr>
          <a:lstStyle/>
          <a:p>
            <a:pPr marL="0" indent="0">
              <a:buNone/>
            </a:pPr>
            <a:r>
              <a:rPr lang="en-US" sz="2200" dirty="0">
                <a:solidFill>
                  <a:schemeClr val="tx2">
                    <a:lumMod val="90000"/>
                    <a:lumOff val="10000"/>
                  </a:schemeClr>
                </a:solidFill>
                <a:latin typeface="SourceCodePro"/>
                <a:ea typeface="SourceCodePro"/>
              </a:rPr>
              <a:t>queue&lt;rabbit&gt; hat;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7" name="Content Placeholder 2">
            <a:extLst>
              <a:ext uri="{FF2B5EF4-FFF2-40B4-BE49-F238E27FC236}">
                <a16:creationId xmlns:a16="http://schemas.microsoft.com/office/drawing/2014/main" id="{EBF08079-8D0A-8B43-E553-BD279DBC8A25}"/>
              </a:ext>
            </a:extLst>
          </p:cNvPr>
          <p:cNvSpPr txBox="1">
            <a:spLocks/>
          </p:cNvSpPr>
          <p:nvPr/>
        </p:nvSpPr>
        <p:spPr>
          <a:xfrm>
            <a:off x="7264400" y="4936066"/>
            <a:ext cx="4377267" cy="1058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10" name="Content Placeholder 2">
            <a:extLst>
              <a:ext uri="{FF2B5EF4-FFF2-40B4-BE49-F238E27FC236}">
                <a16:creationId xmlns:a16="http://schemas.microsoft.com/office/drawing/2014/main" id="{9EF7A149-7A16-4D9D-A60A-0484DFE7ACEA}"/>
              </a:ext>
            </a:extLst>
          </p:cNvPr>
          <p:cNvSpPr txBox="1">
            <a:spLocks/>
          </p:cNvSpPr>
          <p:nvPr/>
        </p:nvSpPr>
        <p:spPr>
          <a:xfrm>
            <a:off x="838200" y="4936066"/>
            <a:ext cx="4377267" cy="1058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pic>
        <p:nvPicPr>
          <p:cNvPr id="5" name="Graphic 4">
            <a:extLst>
              <a:ext uri="{FF2B5EF4-FFF2-40B4-BE49-F238E27FC236}">
                <a16:creationId xmlns:a16="http://schemas.microsoft.com/office/drawing/2014/main" id="{D4AF1343-3B84-9994-3D03-EF16C0A2F0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91897" y="496404"/>
            <a:ext cx="1710632" cy="2120899"/>
          </a:xfrm>
          <a:prstGeom prst="rect">
            <a:avLst/>
          </a:prstGeom>
        </p:spPr>
      </p:pic>
      <p:pic>
        <p:nvPicPr>
          <p:cNvPr id="11" name="Graphic 10">
            <a:extLst>
              <a:ext uri="{FF2B5EF4-FFF2-40B4-BE49-F238E27FC236}">
                <a16:creationId xmlns:a16="http://schemas.microsoft.com/office/drawing/2014/main" id="{72223C4D-EEDC-7850-C744-DFA042AD1F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57716" y="3810000"/>
            <a:ext cx="1282824" cy="1384299"/>
          </a:xfrm>
          <a:prstGeom prst="rect">
            <a:avLst/>
          </a:prstGeom>
        </p:spPr>
      </p:pic>
      <p:pic>
        <p:nvPicPr>
          <p:cNvPr id="15" name="Graphic 14">
            <a:extLst>
              <a:ext uri="{FF2B5EF4-FFF2-40B4-BE49-F238E27FC236}">
                <a16:creationId xmlns:a16="http://schemas.microsoft.com/office/drawing/2014/main" id="{0ADA0A6F-E559-F51E-8170-BBAFD0026F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3403656" y="3810000"/>
            <a:ext cx="1282823" cy="1384299"/>
          </a:xfrm>
          <a:prstGeom prst="rect">
            <a:avLst/>
          </a:prstGeom>
        </p:spPr>
      </p:pic>
      <p:pic>
        <p:nvPicPr>
          <p:cNvPr id="17" name="Graphic 16">
            <a:extLst>
              <a:ext uri="{FF2B5EF4-FFF2-40B4-BE49-F238E27FC236}">
                <a16:creationId xmlns:a16="http://schemas.microsoft.com/office/drawing/2014/main" id="{A6A34B09-07CD-751E-1FEA-051698ABA8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5118580" y="1690688"/>
            <a:ext cx="1282823" cy="1384299"/>
          </a:xfrm>
          <a:prstGeom prst="rect">
            <a:avLst/>
          </a:prstGeom>
        </p:spPr>
      </p:pic>
      <p:sp>
        <p:nvSpPr>
          <p:cNvPr id="4" name="Slide Number Placeholder 3">
            <a:extLst>
              <a:ext uri="{FF2B5EF4-FFF2-40B4-BE49-F238E27FC236}">
                <a16:creationId xmlns:a16="http://schemas.microsoft.com/office/drawing/2014/main" id="{10F533A6-2ED3-56A6-32CF-921829831BBA}"/>
              </a:ext>
            </a:extLst>
          </p:cNvPr>
          <p:cNvSpPr>
            <a:spLocks noGrp="1"/>
          </p:cNvSpPr>
          <p:nvPr>
            <p:ph type="sldNum" sz="quarter" idx="12"/>
          </p:nvPr>
        </p:nvSpPr>
        <p:spPr/>
        <p:txBody>
          <a:bodyPr/>
          <a:lstStyle/>
          <a:p>
            <a:fld id="{A8D619E7-4118-4CE2-9D02-1AAE6DCE22A2}" type="slidenum">
              <a:rPr lang="en-US" smtClean="0"/>
              <a:t>16</a:t>
            </a:fld>
            <a:endParaRPr lang="en-US"/>
          </a:p>
        </p:txBody>
      </p:sp>
    </p:spTree>
    <p:extLst>
      <p:ext uri="{BB962C8B-B14F-4D97-AF65-F5344CB8AC3E}">
        <p14:creationId xmlns:p14="http://schemas.microsoft.com/office/powerpoint/2010/main" val="751976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1794A-557D-44FE-1A6A-E4E21939D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645960-DFE3-13B1-A15E-39C14FA42452}"/>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Rabbit Hat</a:t>
            </a:r>
            <a:endParaRPr lang="en-US" dirty="0"/>
          </a:p>
        </p:txBody>
      </p:sp>
      <p:sp>
        <p:nvSpPr>
          <p:cNvPr id="3" name="Content Placeholder 2">
            <a:extLst>
              <a:ext uri="{FF2B5EF4-FFF2-40B4-BE49-F238E27FC236}">
                <a16:creationId xmlns:a16="http://schemas.microsoft.com/office/drawing/2014/main" id="{D06B7E4E-A8DF-F163-76C2-72D5A2E0E34C}"/>
              </a:ext>
            </a:extLst>
          </p:cNvPr>
          <p:cNvSpPr>
            <a:spLocks noGrp="1"/>
          </p:cNvSpPr>
          <p:nvPr>
            <p:ph idx="1"/>
          </p:nvPr>
        </p:nvSpPr>
        <p:spPr>
          <a:xfrm>
            <a:off x="838200" y="1825625"/>
            <a:ext cx="4055533" cy="1984375"/>
          </a:xfrm>
        </p:spPr>
        <p:txBody>
          <a:bodyPr>
            <a:normAutofit/>
          </a:bodyPr>
          <a:lstStyle/>
          <a:p>
            <a:pPr marL="0" indent="0">
              <a:buNone/>
            </a:pPr>
            <a:r>
              <a:rPr lang="en-US" sz="2200" dirty="0">
                <a:solidFill>
                  <a:schemeClr val="tx2">
                    <a:lumMod val="90000"/>
                    <a:lumOff val="10000"/>
                  </a:schemeClr>
                </a:solidFill>
                <a:latin typeface="SourceCodePro"/>
                <a:ea typeface="SourceCodePro"/>
              </a:rPr>
              <a:t>queue&lt;rabbit&gt; hat;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7" name="Content Placeholder 2">
            <a:extLst>
              <a:ext uri="{FF2B5EF4-FFF2-40B4-BE49-F238E27FC236}">
                <a16:creationId xmlns:a16="http://schemas.microsoft.com/office/drawing/2014/main" id="{99139FAA-83E0-4390-3A87-43B3720A9A92}"/>
              </a:ext>
            </a:extLst>
          </p:cNvPr>
          <p:cNvSpPr txBox="1">
            <a:spLocks/>
          </p:cNvSpPr>
          <p:nvPr/>
        </p:nvSpPr>
        <p:spPr>
          <a:xfrm>
            <a:off x="7264400" y="4936066"/>
            <a:ext cx="4377267" cy="1058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10" name="Content Placeholder 2">
            <a:extLst>
              <a:ext uri="{FF2B5EF4-FFF2-40B4-BE49-F238E27FC236}">
                <a16:creationId xmlns:a16="http://schemas.microsoft.com/office/drawing/2014/main" id="{A671B7FA-9D5B-3030-3084-D97A6A5B1482}"/>
              </a:ext>
            </a:extLst>
          </p:cNvPr>
          <p:cNvSpPr txBox="1">
            <a:spLocks/>
          </p:cNvSpPr>
          <p:nvPr/>
        </p:nvSpPr>
        <p:spPr>
          <a:xfrm>
            <a:off x="838200" y="4936066"/>
            <a:ext cx="4377267" cy="1058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grpSp>
        <p:nvGrpSpPr>
          <p:cNvPr id="5" name="Group 4">
            <a:extLst>
              <a:ext uri="{FF2B5EF4-FFF2-40B4-BE49-F238E27FC236}">
                <a16:creationId xmlns:a16="http://schemas.microsoft.com/office/drawing/2014/main" id="{A5D9EB5E-AE63-B242-901F-7328063E36CF}"/>
              </a:ext>
            </a:extLst>
          </p:cNvPr>
          <p:cNvGrpSpPr/>
          <p:nvPr/>
        </p:nvGrpSpPr>
        <p:grpSpPr>
          <a:xfrm rot="19361991">
            <a:off x="8564090" y="3344720"/>
            <a:ext cx="1218393" cy="3416675"/>
            <a:chOff x="1082258" y="432700"/>
            <a:chExt cx="1218393" cy="3416675"/>
          </a:xfrm>
          <a:solidFill>
            <a:srgbClr val="FFFFFF">
              <a:alpha val="30196"/>
            </a:srgbClr>
          </a:solidFill>
        </p:grpSpPr>
        <p:sp>
          <p:nvSpPr>
            <p:cNvPr id="8" name="Freeform: Shape 7">
              <a:extLst>
                <a:ext uri="{FF2B5EF4-FFF2-40B4-BE49-F238E27FC236}">
                  <a16:creationId xmlns:a16="http://schemas.microsoft.com/office/drawing/2014/main" id="{FE420AA2-0E51-6E8E-5C58-992DA7E2CD06}"/>
                </a:ext>
              </a:extLst>
            </p:cNvPr>
            <p:cNvSpPr/>
            <p:nvPr/>
          </p:nvSpPr>
          <p:spPr>
            <a:xfrm rot="3540970">
              <a:off x="35169" y="1583892"/>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grp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11" name="TextBox 10">
              <a:extLst>
                <a:ext uri="{FF2B5EF4-FFF2-40B4-BE49-F238E27FC236}">
                  <a16:creationId xmlns:a16="http://schemas.microsoft.com/office/drawing/2014/main" id="{63F02B58-A2EE-DD77-CEEB-D4B6F1AE7283}"/>
                </a:ext>
              </a:extLst>
            </p:cNvPr>
            <p:cNvSpPr txBox="1"/>
            <p:nvPr/>
          </p:nvSpPr>
          <p:spPr>
            <a:xfrm rot="3540970">
              <a:off x="4416" y="1846687"/>
              <a:ext cx="3320418" cy="492443"/>
            </a:xfrm>
            <a:prstGeom prst="rect">
              <a:avLst/>
            </a:prstGeom>
            <a:grpFill/>
            <a:ln w="0">
              <a:noFill/>
            </a:ln>
          </p:spPr>
          <p:txBody>
            <a:bodyPr wrap="square" lIns="0" tIns="0" rIns="0" bIns="0" anchor="t">
              <a:spAutoFit/>
            </a:bodyPr>
            <a:lstStyle/>
            <a:p>
              <a:pPr algn="ctr"/>
              <a:r>
                <a:rPr lang="en-US" sz="3200" dirty="0">
                  <a:solidFill>
                    <a:srgbClr val="C00000"/>
                  </a:solidFill>
                  <a:latin typeface="SourceCodePro"/>
                  <a:ea typeface="SourceCodePro"/>
                </a:rPr>
                <a:t>Convicted of UB</a:t>
              </a:r>
              <a:endParaRPr lang="en-US" sz="3200" b="0" u="none" strike="noStrike" dirty="0">
                <a:solidFill>
                  <a:srgbClr val="C00000"/>
                </a:solidFill>
                <a:effectLst/>
                <a:uFillTx/>
                <a:latin typeface="SourceCodePro"/>
                <a:ea typeface="SourceCodePro"/>
              </a:endParaRPr>
            </a:p>
          </p:txBody>
        </p:sp>
      </p:grpSp>
      <p:pic>
        <p:nvPicPr>
          <p:cNvPr id="13" name="Graphic 12">
            <a:extLst>
              <a:ext uri="{FF2B5EF4-FFF2-40B4-BE49-F238E27FC236}">
                <a16:creationId xmlns:a16="http://schemas.microsoft.com/office/drawing/2014/main" id="{7FD06611-3B4C-14A1-4286-AB87ABD69E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91897" y="496404"/>
            <a:ext cx="1710632" cy="2120899"/>
          </a:xfrm>
          <a:prstGeom prst="rect">
            <a:avLst/>
          </a:prstGeom>
        </p:spPr>
      </p:pic>
      <p:pic>
        <p:nvPicPr>
          <p:cNvPr id="18" name="Graphic 17">
            <a:extLst>
              <a:ext uri="{FF2B5EF4-FFF2-40B4-BE49-F238E27FC236}">
                <a16:creationId xmlns:a16="http://schemas.microsoft.com/office/drawing/2014/main" id="{794BDA88-F011-41BE-F087-CC7587FA3B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3403656" y="3810000"/>
            <a:ext cx="1282823" cy="1384299"/>
          </a:xfrm>
          <a:prstGeom prst="rect">
            <a:avLst/>
          </a:prstGeom>
        </p:spPr>
      </p:pic>
      <p:pic>
        <p:nvPicPr>
          <p:cNvPr id="20" name="Graphic 19">
            <a:extLst>
              <a:ext uri="{FF2B5EF4-FFF2-40B4-BE49-F238E27FC236}">
                <a16:creationId xmlns:a16="http://schemas.microsoft.com/office/drawing/2014/main" id="{6D3EE15D-4651-CEA3-633D-3D1D5FC93A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5118580" y="1690688"/>
            <a:ext cx="1282823" cy="1384299"/>
          </a:xfrm>
          <a:prstGeom prst="rect">
            <a:avLst/>
          </a:prstGeom>
        </p:spPr>
      </p:pic>
      <p:pic>
        <p:nvPicPr>
          <p:cNvPr id="22" name="Graphic 21">
            <a:extLst>
              <a:ext uri="{FF2B5EF4-FFF2-40B4-BE49-F238E27FC236}">
                <a16:creationId xmlns:a16="http://schemas.microsoft.com/office/drawing/2014/main" id="{E63CD4D1-E5FB-176D-9F1E-1683371ACAF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174297" y="3915664"/>
            <a:ext cx="922465" cy="1278635"/>
          </a:xfrm>
          <a:prstGeom prst="rect">
            <a:avLst/>
          </a:prstGeom>
        </p:spPr>
      </p:pic>
      <p:sp>
        <p:nvSpPr>
          <p:cNvPr id="4" name="Slide Number Placeholder 3">
            <a:extLst>
              <a:ext uri="{FF2B5EF4-FFF2-40B4-BE49-F238E27FC236}">
                <a16:creationId xmlns:a16="http://schemas.microsoft.com/office/drawing/2014/main" id="{875BC108-218B-EFA2-CFB9-8AAECC3A2259}"/>
              </a:ext>
            </a:extLst>
          </p:cNvPr>
          <p:cNvSpPr>
            <a:spLocks noGrp="1"/>
          </p:cNvSpPr>
          <p:nvPr>
            <p:ph type="sldNum" sz="quarter" idx="12"/>
          </p:nvPr>
        </p:nvSpPr>
        <p:spPr/>
        <p:txBody>
          <a:bodyPr/>
          <a:lstStyle/>
          <a:p>
            <a:fld id="{A8D619E7-4118-4CE2-9D02-1AAE6DCE22A2}" type="slidenum">
              <a:rPr lang="en-US" smtClean="0"/>
              <a:t>17</a:t>
            </a:fld>
            <a:endParaRPr lang="en-US"/>
          </a:p>
        </p:txBody>
      </p:sp>
    </p:spTree>
    <p:extLst>
      <p:ext uri="{BB962C8B-B14F-4D97-AF65-F5344CB8AC3E}">
        <p14:creationId xmlns:p14="http://schemas.microsoft.com/office/powerpoint/2010/main" val="2233567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EEF16-578B-3ECB-FC1D-5407E94924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64B8D-E143-54B3-6958-429C16482B8E}"/>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Rabbit Hat</a:t>
            </a:r>
            <a:endParaRPr lang="en-US" dirty="0"/>
          </a:p>
        </p:txBody>
      </p:sp>
      <p:sp>
        <p:nvSpPr>
          <p:cNvPr id="3" name="Content Placeholder 2">
            <a:extLst>
              <a:ext uri="{FF2B5EF4-FFF2-40B4-BE49-F238E27FC236}">
                <a16:creationId xmlns:a16="http://schemas.microsoft.com/office/drawing/2014/main" id="{0BF6BD8B-D4AF-27FE-4765-0AAD9D505AEA}"/>
              </a:ext>
            </a:extLst>
          </p:cNvPr>
          <p:cNvSpPr>
            <a:spLocks noGrp="1"/>
          </p:cNvSpPr>
          <p:nvPr>
            <p:ph idx="1"/>
          </p:nvPr>
        </p:nvSpPr>
        <p:spPr>
          <a:xfrm>
            <a:off x="838200" y="1825625"/>
            <a:ext cx="4055533" cy="1984375"/>
          </a:xfrm>
        </p:spPr>
        <p:txBody>
          <a:bodyPr>
            <a:normAutofit/>
          </a:bodyPr>
          <a:lstStyle/>
          <a:p>
            <a:pPr marL="0" indent="0">
              <a:buNone/>
            </a:pPr>
            <a:r>
              <a:rPr lang="en-US" sz="2200" dirty="0">
                <a:solidFill>
                  <a:schemeClr val="tx2">
                    <a:lumMod val="90000"/>
                    <a:lumOff val="10000"/>
                  </a:schemeClr>
                </a:solidFill>
                <a:latin typeface="SourceCodePro"/>
                <a:ea typeface="SourceCodePro"/>
              </a:rPr>
              <a:t>queue&lt;rabbit&gt; hat;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is_hat_empty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rabbit_to_pet</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hat_pop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13" name="TextBox 12">
            <a:extLst>
              <a:ext uri="{FF2B5EF4-FFF2-40B4-BE49-F238E27FC236}">
                <a16:creationId xmlns:a16="http://schemas.microsoft.com/office/drawing/2014/main" id="{5DAF5510-D587-F78B-9619-001A5732F944}"/>
              </a:ext>
            </a:extLst>
          </p:cNvPr>
          <p:cNvSpPr txBox="1"/>
          <p:nvPr/>
        </p:nvSpPr>
        <p:spPr>
          <a:xfrm>
            <a:off x="838200" y="4229557"/>
            <a:ext cx="11159067" cy="2123658"/>
          </a:xfrm>
          <a:prstGeom prst="rect">
            <a:avLst/>
          </a:prstGeom>
          <a:noFill/>
        </p:spPr>
        <p:txBody>
          <a:bodyPr wrap="square">
            <a:spAutoFit/>
          </a:bodyPr>
          <a:lstStyle/>
          <a:p>
            <a:r>
              <a:rPr lang="en-US" sz="2200" dirty="0"/>
              <a:t>The individual methods are locked.</a:t>
            </a:r>
          </a:p>
          <a:p>
            <a:endParaRPr lang="en-US" sz="2200" dirty="0"/>
          </a:p>
          <a:p>
            <a:r>
              <a:rPr lang="en-US" sz="2200" dirty="0"/>
              <a:t>No rabbit vanishes. The hat runs dry in the unlocked gap between the check</a:t>
            </a:r>
          </a:p>
          <a:p>
            <a:r>
              <a:rPr lang="en-US" sz="2200" dirty="0"/>
              <a:t>and the action.</a:t>
            </a:r>
          </a:p>
          <a:p>
            <a:endParaRPr lang="en-US" sz="2200" dirty="0"/>
          </a:p>
          <a:p>
            <a:r>
              <a:rPr lang="en-US" sz="2200" dirty="0"/>
              <a:t>The </a:t>
            </a:r>
            <a:r>
              <a:rPr lang="en-US" sz="2200" b="1" dirty="0"/>
              <a:t>check-then-act sequence</a:t>
            </a:r>
            <a:r>
              <a:rPr lang="en-US" sz="2200" dirty="0"/>
              <a:t> is not one indivisible operation.</a:t>
            </a:r>
          </a:p>
        </p:txBody>
      </p:sp>
      <p:pic>
        <p:nvPicPr>
          <p:cNvPr id="5" name="Graphic 4">
            <a:extLst>
              <a:ext uri="{FF2B5EF4-FFF2-40B4-BE49-F238E27FC236}">
                <a16:creationId xmlns:a16="http://schemas.microsoft.com/office/drawing/2014/main" id="{EDEF8856-623E-11B2-D4CA-4D1BDF8B2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91897" y="496404"/>
            <a:ext cx="1710632" cy="2120899"/>
          </a:xfrm>
          <a:prstGeom prst="rect">
            <a:avLst/>
          </a:prstGeom>
        </p:spPr>
      </p:pic>
      <p:sp>
        <p:nvSpPr>
          <p:cNvPr id="4" name="Slide Number Placeholder 3">
            <a:extLst>
              <a:ext uri="{FF2B5EF4-FFF2-40B4-BE49-F238E27FC236}">
                <a16:creationId xmlns:a16="http://schemas.microsoft.com/office/drawing/2014/main" id="{BC0296E8-1F74-7317-789C-8C20828DEFD6}"/>
              </a:ext>
            </a:extLst>
          </p:cNvPr>
          <p:cNvSpPr>
            <a:spLocks noGrp="1"/>
          </p:cNvSpPr>
          <p:nvPr>
            <p:ph type="sldNum" sz="quarter" idx="12"/>
          </p:nvPr>
        </p:nvSpPr>
        <p:spPr/>
        <p:txBody>
          <a:bodyPr/>
          <a:lstStyle/>
          <a:p>
            <a:fld id="{A8D619E7-4118-4CE2-9D02-1AAE6DCE22A2}" type="slidenum">
              <a:rPr lang="en-US" smtClean="0"/>
              <a:t>18</a:t>
            </a:fld>
            <a:endParaRPr lang="en-US"/>
          </a:p>
        </p:txBody>
      </p:sp>
    </p:spTree>
    <p:extLst>
      <p:ext uri="{BB962C8B-B14F-4D97-AF65-F5344CB8AC3E}">
        <p14:creationId xmlns:p14="http://schemas.microsoft.com/office/powerpoint/2010/main" val="17224329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44BDA-5E6F-B48C-F607-679073DC86B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75D9FD6-8961-7189-7B90-856763124E81}"/>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FAC7ACC6-3605-56B4-F202-8D18B868560D}"/>
              </a:ext>
            </a:extLst>
          </p:cNvPr>
          <p:cNvSpPr txBox="1">
            <a:spLocks/>
          </p:cNvSpPr>
          <p:nvPr/>
        </p:nvSpPr>
        <p:spPr>
          <a:xfrm>
            <a:off x="6206072" y="541867"/>
            <a:ext cx="5147728" cy="5635096"/>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optional&lt;rabbit&gt; </a:t>
            </a:r>
            <a:r>
              <a:rPr lang="en-US" sz="2200" dirty="0" err="1">
                <a:solidFill>
                  <a:schemeClr val="tx2">
                    <a:lumMod val="90000"/>
                    <a:lumOff val="10000"/>
                  </a:schemeClr>
                </a:solidFill>
                <a:latin typeface="SourceCodePro"/>
                <a:ea typeface="SourceCodePro"/>
              </a:rPr>
              <a:t>try_pull_rabbit</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lock(m);</a:t>
            </a:r>
          </a:p>
          <a:p>
            <a:pPr marL="0" indent="0">
              <a:buNone/>
            </a:pPr>
            <a:r>
              <a:rPr lang="en-US" sz="2200" dirty="0">
                <a:solidFill>
                  <a:schemeClr val="tx2">
                    <a:lumMod val="90000"/>
                    <a:lumOff val="10000"/>
                  </a:schemeClr>
                </a:solidFill>
                <a:latin typeface="SourceCodePro"/>
                <a:ea typeface="SourceCodePro"/>
              </a:rPr>
              <a:t>    if (</a:t>
            </a:r>
            <a:r>
              <a:rPr lang="en-US" sz="2200" dirty="0" err="1">
                <a:solidFill>
                  <a:schemeClr val="tx2">
                    <a:lumMod val="90000"/>
                    <a:lumOff val="10000"/>
                  </a:schemeClr>
                </a:solidFill>
                <a:latin typeface="SourceCodePro"/>
                <a:ea typeface="SourceCodePro"/>
              </a:rPr>
              <a:t>hat.empty</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auto rabbit = </a:t>
            </a:r>
            <a:r>
              <a:rPr lang="en-US" sz="2200" dirty="0" err="1">
                <a:solidFill>
                  <a:schemeClr val="tx2">
                    <a:lumMod val="90000"/>
                    <a:lumOff val="10000"/>
                  </a:schemeClr>
                </a:solidFill>
                <a:latin typeface="SourceCodePro"/>
                <a:ea typeface="SourceCodePro"/>
              </a:rPr>
              <a:t>hat.front</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hat.pop</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rabbit;</a:t>
            </a:r>
          </a:p>
          <a:p>
            <a:pPr marL="0" inden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031134B2-B976-FD09-1620-97C60CF926D3}"/>
              </a:ext>
            </a:extLst>
          </p:cNvPr>
          <p:cNvSpPr txBox="1"/>
          <p:nvPr/>
        </p:nvSpPr>
        <p:spPr>
          <a:xfrm>
            <a:off x="1803401" y="372457"/>
            <a:ext cx="2827866" cy="430887"/>
          </a:xfrm>
          <a:prstGeom prst="rect">
            <a:avLst/>
          </a:prstGeom>
          <a:noFill/>
        </p:spPr>
        <p:txBody>
          <a:bodyPr wrap="square">
            <a:spAutoFit/>
          </a:bodyPr>
          <a:lstStyle/>
          <a:p>
            <a:r>
              <a:rPr lang="en-US" sz="2200" b="1" dirty="0"/>
              <a:t>The Rabbit Hat</a:t>
            </a:r>
            <a:endParaRPr lang="en-US" b="1" dirty="0"/>
          </a:p>
        </p:txBody>
      </p:sp>
      <p:pic>
        <p:nvPicPr>
          <p:cNvPr id="4" name="Graphic 3">
            <a:extLst>
              <a:ext uri="{FF2B5EF4-FFF2-40B4-BE49-F238E27FC236}">
                <a16:creationId xmlns:a16="http://schemas.microsoft.com/office/drawing/2014/main" id="{C49E636C-5BDF-8B62-3393-B810FDF7FF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4240" y="1069302"/>
            <a:ext cx="1710632" cy="2120899"/>
          </a:xfrm>
          <a:prstGeom prst="rect">
            <a:avLst/>
          </a:prstGeom>
        </p:spPr>
      </p:pic>
      <p:sp>
        <p:nvSpPr>
          <p:cNvPr id="20" name="TextBox 19">
            <a:extLst>
              <a:ext uri="{FF2B5EF4-FFF2-40B4-BE49-F238E27FC236}">
                <a16:creationId xmlns:a16="http://schemas.microsoft.com/office/drawing/2014/main" id="{E6A46DF8-CCEA-0811-65C1-9142E1A1D710}"/>
              </a:ext>
            </a:extLst>
          </p:cNvPr>
          <p:cNvSpPr txBox="1"/>
          <p:nvPr/>
        </p:nvSpPr>
        <p:spPr>
          <a:xfrm>
            <a:off x="1229352" y="3541034"/>
            <a:ext cx="4461932" cy="707886"/>
          </a:xfrm>
          <a:prstGeom prst="rect">
            <a:avLst/>
          </a:prstGeom>
          <a:noFill/>
        </p:spPr>
        <p:txBody>
          <a:bodyPr wrap="square">
            <a:spAutoFit/>
          </a:bodyPr>
          <a:lstStyle/>
          <a:p>
            <a:r>
              <a:rPr lang="en-US" sz="2000" dirty="0"/>
              <a:t>empty() + pop(), contains() + insert(), </a:t>
            </a:r>
          </a:p>
          <a:p>
            <a:r>
              <a:rPr lang="en-US" sz="2000" dirty="0"/>
              <a:t>if (</a:t>
            </a:r>
            <a:r>
              <a:rPr lang="en-US" sz="2000" dirty="0" err="1"/>
              <a:t>ptr</a:t>
            </a:r>
            <a:r>
              <a:rPr lang="en-US" sz="2000" dirty="0"/>
              <a:t>) + dereference </a:t>
            </a:r>
          </a:p>
        </p:txBody>
      </p:sp>
      <p:sp>
        <p:nvSpPr>
          <p:cNvPr id="23" name="TextBox 22">
            <a:extLst>
              <a:ext uri="{FF2B5EF4-FFF2-40B4-BE49-F238E27FC236}">
                <a16:creationId xmlns:a16="http://schemas.microsoft.com/office/drawing/2014/main" id="{C4955FFE-2D5A-0253-9148-4138D6C8F1A9}"/>
              </a:ext>
            </a:extLst>
          </p:cNvPr>
          <p:cNvSpPr txBox="1"/>
          <p:nvPr/>
        </p:nvSpPr>
        <p:spPr>
          <a:xfrm>
            <a:off x="1229352" y="4265854"/>
            <a:ext cx="4715936" cy="707886"/>
          </a:xfrm>
          <a:prstGeom prst="rect">
            <a:avLst/>
          </a:prstGeom>
          <a:noFill/>
        </p:spPr>
        <p:txBody>
          <a:bodyPr wrap="square">
            <a:spAutoFit/>
          </a:bodyPr>
          <a:lstStyle/>
          <a:p>
            <a:r>
              <a:rPr lang="en-US" sz="2000" dirty="0"/>
              <a:t>another thread drains the supply </a:t>
            </a:r>
          </a:p>
          <a:p>
            <a:r>
              <a:rPr lang="en-US" sz="2000" dirty="0"/>
              <a:t>after you check it</a:t>
            </a:r>
          </a:p>
        </p:txBody>
      </p:sp>
      <p:sp>
        <p:nvSpPr>
          <p:cNvPr id="25" name="TextBox 24">
            <a:extLst>
              <a:ext uri="{FF2B5EF4-FFF2-40B4-BE49-F238E27FC236}">
                <a16:creationId xmlns:a16="http://schemas.microsoft.com/office/drawing/2014/main" id="{998288DB-B94C-780E-EE65-6314B1CE6EDA}"/>
              </a:ext>
            </a:extLst>
          </p:cNvPr>
          <p:cNvSpPr txBox="1"/>
          <p:nvPr/>
        </p:nvSpPr>
        <p:spPr>
          <a:xfrm>
            <a:off x="1229352" y="5690439"/>
            <a:ext cx="4142748" cy="707886"/>
          </a:xfrm>
          <a:prstGeom prst="rect">
            <a:avLst/>
          </a:prstGeom>
          <a:noFill/>
        </p:spPr>
        <p:txBody>
          <a:bodyPr wrap="square">
            <a:spAutoFit/>
          </a:bodyPr>
          <a:lstStyle/>
          <a:p>
            <a:r>
              <a:rPr lang="en-US" sz="2000" dirty="0"/>
              <a:t>put the question and action under one lock</a:t>
            </a:r>
          </a:p>
        </p:txBody>
      </p:sp>
      <p:sp>
        <p:nvSpPr>
          <p:cNvPr id="27" name="TextBox 26">
            <a:extLst>
              <a:ext uri="{FF2B5EF4-FFF2-40B4-BE49-F238E27FC236}">
                <a16:creationId xmlns:a16="http://schemas.microsoft.com/office/drawing/2014/main" id="{5B65A16A-9529-A3B8-07AC-EC8CCECA6FBD}"/>
              </a:ext>
            </a:extLst>
          </p:cNvPr>
          <p:cNvSpPr txBox="1"/>
          <p:nvPr/>
        </p:nvSpPr>
        <p:spPr>
          <a:xfrm>
            <a:off x="1229352" y="4965273"/>
            <a:ext cx="4428074" cy="400110"/>
          </a:xfrm>
          <a:prstGeom prst="rect">
            <a:avLst/>
          </a:prstGeom>
          <a:noFill/>
        </p:spPr>
        <p:txBody>
          <a:bodyPr wrap="square">
            <a:spAutoFit/>
          </a:bodyPr>
          <a:lstStyle/>
          <a:p>
            <a:r>
              <a:rPr lang="en-US" sz="2000" dirty="0"/>
              <a:t>every individual call is thread-safe</a:t>
            </a:r>
          </a:p>
        </p:txBody>
      </p:sp>
      <p:sp>
        <p:nvSpPr>
          <p:cNvPr id="2" name="Slide Number Placeholder 1">
            <a:extLst>
              <a:ext uri="{FF2B5EF4-FFF2-40B4-BE49-F238E27FC236}">
                <a16:creationId xmlns:a16="http://schemas.microsoft.com/office/drawing/2014/main" id="{6A52F598-06C2-E9ED-A828-FE7521067869}"/>
              </a:ext>
            </a:extLst>
          </p:cNvPr>
          <p:cNvSpPr>
            <a:spLocks noGrp="1"/>
          </p:cNvSpPr>
          <p:nvPr>
            <p:ph type="sldNum" sz="quarter" idx="12"/>
          </p:nvPr>
        </p:nvSpPr>
        <p:spPr/>
        <p:txBody>
          <a:bodyPr/>
          <a:lstStyle/>
          <a:p>
            <a:fld id="{A8D619E7-4118-4CE2-9D02-1AAE6DCE22A2}" type="slidenum">
              <a:rPr lang="en-US" smtClean="0"/>
              <a:t>19</a:t>
            </a:fld>
            <a:endParaRPr lang="en-US"/>
          </a:p>
        </p:txBody>
      </p:sp>
    </p:spTree>
    <p:extLst>
      <p:ext uri="{BB962C8B-B14F-4D97-AF65-F5344CB8AC3E}">
        <p14:creationId xmlns:p14="http://schemas.microsoft.com/office/powerpoint/2010/main" val="3263434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5" presetClass="emph" presetSubtype="0" nodeType="clickEffect">
                                  <p:stCondLst>
                                    <p:cond delay="0"/>
                                  </p:stCondLst>
                                  <p:endCondLst>
                                    <p:cond evt="onNext" delay="0">
                                      <p:tgtEl>
                                        <p:sldTgt/>
                                      </p:tgtEl>
                                    </p:cond>
                                  </p:endCondLst>
                                  <p:childTnLst>
                                    <p:set>
                                      <p:cBhvr override="childStyle">
                                        <p:cTn id="42" dur="indefinite"/>
                                        <p:tgtEl>
                                          <p:spTgt spid="22">
                                            <p:txEl>
                                              <p:pRg st="2" end="2"/>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uiExpand="1" build="allAtOnce"/>
      <p:bldP spid="20" grpId="0"/>
      <p:bldP spid="23" grpId="0"/>
      <p:bldP spid="25" grpId="0"/>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767D3-57F3-5B32-9D4D-A11E278318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4B4EB0-9532-564B-0AF6-8DB7106AAD12}"/>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Phantom Bellringer</a:t>
            </a:r>
            <a:endParaRPr lang="en-US" dirty="0"/>
          </a:p>
        </p:txBody>
      </p:sp>
      <p:sp>
        <p:nvSpPr>
          <p:cNvPr id="7" name="TextBox 6">
            <a:extLst>
              <a:ext uri="{FF2B5EF4-FFF2-40B4-BE49-F238E27FC236}">
                <a16:creationId xmlns:a16="http://schemas.microsoft.com/office/drawing/2014/main" id="{72A7B5F1-B2B4-A532-B106-5CC48791D3BE}"/>
              </a:ext>
            </a:extLst>
          </p:cNvPr>
          <p:cNvSpPr txBox="1"/>
          <p:nvPr/>
        </p:nvSpPr>
        <p:spPr>
          <a:xfrm>
            <a:off x="838200" y="3870930"/>
            <a:ext cx="10199914" cy="2462213"/>
          </a:xfrm>
          <a:prstGeom prst="rect">
            <a:avLst/>
          </a:prstGeom>
          <a:noFill/>
        </p:spPr>
        <p:txBody>
          <a:bodyPr wrap="square" rtlCol="0">
            <a:spAutoFit/>
          </a:bodyPr>
          <a:lstStyle/>
          <a:p>
            <a:r>
              <a:rPr lang="en-US" sz="2200" i="1" dirty="0">
                <a:latin typeface="SourceSans3ExtraLight"/>
              </a:rPr>
              <a:t>Never seen. Never scheduled.</a:t>
            </a:r>
          </a:p>
          <a:p>
            <a:endParaRPr lang="en-US" sz="2200" i="1" dirty="0">
              <a:latin typeface="SourceSans3ExtraLight"/>
            </a:endParaRPr>
          </a:p>
          <a:p>
            <a:r>
              <a:rPr lang="en-US" sz="2200" i="1" dirty="0">
                <a:latin typeface="SourceSans3ExtraLight"/>
              </a:rPr>
              <a:t>Rings when nobody is listening.</a:t>
            </a:r>
          </a:p>
          <a:p>
            <a:endParaRPr lang="en-US" sz="2200" i="1" dirty="0">
              <a:latin typeface="SourceSans3ExtraLight"/>
            </a:endParaRPr>
          </a:p>
          <a:p>
            <a:r>
              <a:rPr lang="en-US" sz="2200" i="1" dirty="0">
                <a:latin typeface="SourceSans3ExtraLight"/>
              </a:rPr>
              <a:t>Rings when nobody asked it to.</a:t>
            </a:r>
          </a:p>
          <a:p>
            <a:endParaRPr lang="en-US" sz="2200" i="1" dirty="0">
              <a:latin typeface="SourceSans3ExtraLight"/>
            </a:endParaRPr>
          </a:p>
          <a:p>
            <a:r>
              <a:rPr lang="en-US" sz="2200" i="1" dirty="0">
                <a:latin typeface="SourceSans3ExtraLight"/>
              </a:rPr>
              <a:t>Sometimes it rings just out of boredom and nothing happens at all.</a:t>
            </a:r>
          </a:p>
        </p:txBody>
      </p:sp>
      <p:pic>
        <p:nvPicPr>
          <p:cNvPr id="4" name="Graphic 3">
            <a:extLst>
              <a:ext uri="{FF2B5EF4-FFF2-40B4-BE49-F238E27FC236}">
                <a16:creationId xmlns:a16="http://schemas.microsoft.com/office/drawing/2014/main" id="{F85E7F04-12E8-DF0F-6C34-B99A2C45F8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90075" y="524857"/>
            <a:ext cx="1863725" cy="1530095"/>
          </a:xfrm>
          <a:prstGeom prst="rect">
            <a:avLst/>
          </a:prstGeom>
        </p:spPr>
      </p:pic>
      <p:sp>
        <p:nvSpPr>
          <p:cNvPr id="3" name="Slide Number Placeholder 2">
            <a:extLst>
              <a:ext uri="{FF2B5EF4-FFF2-40B4-BE49-F238E27FC236}">
                <a16:creationId xmlns:a16="http://schemas.microsoft.com/office/drawing/2014/main" id="{C1F803B5-52E3-B7B4-3480-0AA2C8A36115}"/>
              </a:ext>
            </a:extLst>
          </p:cNvPr>
          <p:cNvSpPr>
            <a:spLocks noGrp="1"/>
          </p:cNvSpPr>
          <p:nvPr>
            <p:ph type="sldNum" sz="quarter" idx="12"/>
          </p:nvPr>
        </p:nvSpPr>
        <p:spPr/>
        <p:txBody>
          <a:bodyPr/>
          <a:lstStyle/>
          <a:p>
            <a:fld id="{A8D619E7-4118-4CE2-9D02-1AAE6DCE22A2}" type="slidenum">
              <a:rPr lang="en-US" smtClean="0"/>
              <a:t>20</a:t>
            </a:fld>
            <a:endParaRPr lang="en-US"/>
          </a:p>
        </p:txBody>
      </p:sp>
    </p:spTree>
    <p:extLst>
      <p:ext uri="{BB962C8B-B14F-4D97-AF65-F5344CB8AC3E}">
        <p14:creationId xmlns:p14="http://schemas.microsoft.com/office/powerpoint/2010/main" val="10060387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67978-BA45-2FD8-E5C0-30BF92A07D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B771-4BD5-9FFF-85B5-2CABCC91145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Phantom Bellringer</a:t>
            </a:r>
            <a:endParaRPr lang="en-US" dirty="0"/>
          </a:p>
        </p:txBody>
      </p:sp>
      <p:sp>
        <p:nvSpPr>
          <p:cNvPr id="3" name="Content Placeholder 2">
            <a:extLst>
              <a:ext uri="{FF2B5EF4-FFF2-40B4-BE49-F238E27FC236}">
                <a16:creationId xmlns:a16="http://schemas.microsoft.com/office/drawing/2014/main" id="{607E385D-E172-2FB3-F5A6-17EB11922343}"/>
              </a:ext>
            </a:extLst>
          </p:cNvPr>
          <p:cNvSpPr txBox="1">
            <a:spLocks/>
          </p:cNvSpPr>
          <p:nvPr/>
        </p:nvSpPr>
        <p:spPr>
          <a:xfrm>
            <a:off x="4215515" y="1689338"/>
            <a:ext cx="4826000" cy="467746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night_stocker</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unique_lock</a:t>
            </a:r>
            <a:r>
              <a:rPr lang="en-US" sz="2200" dirty="0">
                <a:solidFill>
                  <a:schemeClr val="tx2">
                    <a:lumMod val="90000"/>
                    <a:lumOff val="10000"/>
                  </a:schemeClr>
                </a:solidFill>
                <a:latin typeface="SourceCodePro"/>
                <a:ea typeface="SourceCodePro"/>
              </a:rPr>
              <a:t> lock(m);</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bell.wait</a:t>
            </a:r>
            <a:r>
              <a:rPr lang="en-US" sz="2200" dirty="0">
                <a:solidFill>
                  <a:schemeClr val="tx2">
                    <a:lumMod val="90000"/>
                    <a:lumOff val="10000"/>
                  </a:schemeClr>
                </a:solidFill>
                <a:latin typeface="SourceCodePro"/>
                <a:ea typeface="SourceCodePro"/>
              </a:rPr>
              <a:t>(lock);              </a:t>
            </a:r>
          </a:p>
          <a:p>
            <a:pPr marL="0" indent="0">
              <a:buNone/>
            </a:pPr>
            <a:r>
              <a:rPr lang="en-US" sz="2200" dirty="0">
                <a:solidFill>
                  <a:schemeClr val="tx2">
                    <a:lumMod val="90000"/>
                    <a:lumOff val="10000"/>
                  </a:schemeClr>
                </a:solidFill>
                <a:latin typeface="SourceCodePro"/>
                <a:ea typeface="SourceCodePro"/>
              </a:rPr>
              <a:t>    stock(</a:t>
            </a:r>
            <a:r>
              <a:rPr lang="en-US" sz="2200" dirty="0" err="1">
                <a:solidFill>
                  <a:schemeClr val="tx2">
                    <a:lumMod val="90000"/>
                    <a:lumOff val="10000"/>
                  </a:schemeClr>
                </a:solidFill>
                <a:latin typeface="SourceCodePro"/>
                <a:ea typeface="SourceCodePro"/>
              </a:rPr>
              <a:t>deliveries.front</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deliveries.pop</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p:txBody>
      </p:sp>
      <p:sp>
        <p:nvSpPr>
          <p:cNvPr id="6" name="Content Placeholder 2">
            <a:extLst>
              <a:ext uri="{FF2B5EF4-FFF2-40B4-BE49-F238E27FC236}">
                <a16:creationId xmlns:a16="http://schemas.microsoft.com/office/drawing/2014/main" id="{5BCCCA35-159E-EFAA-3B58-128C92FA7958}"/>
              </a:ext>
            </a:extLst>
          </p:cNvPr>
          <p:cNvSpPr txBox="1">
            <a:spLocks/>
          </p:cNvSpPr>
          <p:nvPr/>
        </p:nvSpPr>
        <p:spPr>
          <a:xfrm>
            <a:off x="7867332" y="1689894"/>
            <a:ext cx="4361059" cy="4667250"/>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rPr>
              <a:t>void </a:t>
            </a:r>
            <a:r>
              <a:rPr lang="en-US" sz="2200" dirty="0" err="1">
                <a:solidFill>
                  <a:schemeClr val="tx2">
                    <a:lumMod val="90000"/>
                    <a:lumOff val="10000"/>
                  </a:schemeClr>
                </a:solidFill>
                <a:latin typeface="SourceCodePro"/>
              </a:rPr>
              <a:t>delivery_truck</a:t>
            </a:r>
            <a:r>
              <a:rPr lang="en-US" sz="2200" dirty="0">
                <a:solidFill>
                  <a:schemeClr val="tx2">
                    <a:lumMod val="90000"/>
                    <a:lumOff val="10000"/>
                  </a:schemeClr>
                </a:solidFill>
                <a:latin typeface="SourceCodePro"/>
              </a:rPr>
              <a:t>(crate delivery) {</a:t>
            </a:r>
          </a:p>
          <a:p>
            <a:pPr marL="0" indent="0">
              <a:buNone/>
            </a:pPr>
            <a:r>
              <a:rPr lang="en-US" sz="2200" dirty="0">
                <a:solidFill>
                  <a:schemeClr val="tx2">
                    <a:lumMod val="90000"/>
                    <a:lumOff val="10000"/>
                  </a:schemeClr>
                </a:solidFill>
                <a:latin typeface="SourceCodePro"/>
              </a:rPr>
              <a:t>    {</a:t>
            </a: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rPr>
              <a:t>lock_guard</a:t>
            </a:r>
            <a:r>
              <a:rPr lang="en-US" sz="2200" dirty="0">
                <a:solidFill>
                  <a:schemeClr val="tx2">
                    <a:lumMod val="90000"/>
                    <a:lumOff val="10000"/>
                  </a:schemeClr>
                </a:solidFill>
                <a:latin typeface="SourceCodePro"/>
              </a:rPr>
              <a:t> lock(m);</a:t>
            </a: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rPr>
              <a:t>deliveries.push</a:t>
            </a:r>
            <a:r>
              <a:rPr lang="en-US" sz="2200" dirty="0">
                <a:solidFill>
                  <a:schemeClr val="tx2">
                    <a:lumMod val="90000"/>
                    <a:lumOff val="10000"/>
                  </a:schemeClr>
                </a:solidFill>
                <a:latin typeface="SourceCodePro"/>
              </a:rPr>
              <a:t>(delivery);</a:t>
            </a:r>
          </a:p>
          <a:p>
            <a:pPr marL="0" indent="0">
              <a:buNone/>
            </a:pPr>
            <a:r>
              <a:rPr lang="en-US" sz="2200" dirty="0">
                <a:solidFill>
                  <a:schemeClr val="tx2">
                    <a:lumMod val="90000"/>
                    <a:lumOff val="10000"/>
                  </a:schemeClr>
                </a:solidFill>
                <a:latin typeface="SourceCodePro"/>
              </a:rPr>
              <a:t>    }</a:t>
            </a: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rPr>
              <a:t>bell.notify_one</a:t>
            </a:r>
            <a:r>
              <a:rPr lang="en-US" sz="2200" dirty="0">
                <a:solidFill>
                  <a:schemeClr val="tx2">
                    <a:lumMod val="90000"/>
                    <a:lumOff val="10000"/>
                  </a:schemeClr>
                </a:solidFill>
                <a:latin typeface="SourceCodePro"/>
              </a:rPr>
              <a:t>();</a:t>
            </a:r>
          </a:p>
          <a:p>
            <a:pPr marL="0" indent="0">
              <a:buNone/>
            </a:pPr>
            <a:r>
              <a:rPr lang="en-US" sz="2200" dirty="0">
                <a:solidFill>
                  <a:schemeClr val="tx2">
                    <a:lumMod val="90000"/>
                    <a:lumOff val="10000"/>
                  </a:schemeClr>
                </a:solidFill>
                <a:latin typeface="SourceCodePro"/>
              </a:rPr>
              <a:t>}</a:t>
            </a:r>
          </a:p>
        </p:txBody>
      </p:sp>
      <p:sp>
        <p:nvSpPr>
          <p:cNvPr id="9" name="TextBox 8">
            <a:extLst>
              <a:ext uri="{FF2B5EF4-FFF2-40B4-BE49-F238E27FC236}">
                <a16:creationId xmlns:a16="http://schemas.microsoft.com/office/drawing/2014/main" id="{991D9C2B-B8A4-CD7C-E9D2-540579952F2B}"/>
              </a:ext>
            </a:extLst>
          </p:cNvPr>
          <p:cNvSpPr txBox="1"/>
          <p:nvPr/>
        </p:nvSpPr>
        <p:spPr>
          <a:xfrm>
            <a:off x="838199" y="5353563"/>
            <a:ext cx="9414933" cy="769441"/>
          </a:xfrm>
          <a:prstGeom prst="rect">
            <a:avLst/>
          </a:prstGeom>
          <a:noFill/>
        </p:spPr>
        <p:txBody>
          <a:bodyPr wrap="square">
            <a:spAutoFit/>
          </a:bodyPr>
          <a:lstStyle/>
          <a:p>
            <a:r>
              <a:rPr lang="en-US" sz="2200" dirty="0"/>
              <a:t>Overnight deliveries arrive at the zoo gift shop’s loading dock. </a:t>
            </a:r>
          </a:p>
          <a:p>
            <a:r>
              <a:rPr lang="en-US" sz="2200" dirty="0"/>
              <a:t>The driver rings the service bell, and the night stocker shelves the next crate.</a:t>
            </a:r>
          </a:p>
        </p:txBody>
      </p:sp>
      <p:sp>
        <p:nvSpPr>
          <p:cNvPr id="11" name="Content Placeholder 2">
            <a:extLst>
              <a:ext uri="{FF2B5EF4-FFF2-40B4-BE49-F238E27FC236}">
                <a16:creationId xmlns:a16="http://schemas.microsoft.com/office/drawing/2014/main" id="{02118126-61BC-4F64-CFA4-F7491B44B446}"/>
              </a:ext>
            </a:extLst>
          </p:cNvPr>
          <p:cNvSpPr txBox="1">
            <a:spLocks/>
          </p:cNvSpPr>
          <p:nvPr/>
        </p:nvSpPr>
        <p:spPr>
          <a:xfrm>
            <a:off x="838199" y="1690688"/>
            <a:ext cx="3170885" cy="154410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mutex m;</a:t>
            </a:r>
          </a:p>
          <a:p>
            <a:pPr marL="0" indent="0">
              <a:buNone/>
            </a:pPr>
            <a:r>
              <a:rPr lang="en-US" sz="2200" dirty="0" err="1">
                <a:solidFill>
                  <a:schemeClr val="tx2">
                    <a:lumMod val="90000"/>
                    <a:lumOff val="10000"/>
                  </a:schemeClr>
                </a:solidFill>
                <a:latin typeface="SourceCodePro"/>
                <a:ea typeface="SourceCodePro"/>
              </a:rPr>
              <a:t>condition_variable</a:t>
            </a:r>
            <a:r>
              <a:rPr lang="en-US" sz="2200" dirty="0">
                <a:solidFill>
                  <a:schemeClr val="tx2">
                    <a:lumMod val="90000"/>
                    <a:lumOff val="10000"/>
                  </a:schemeClr>
                </a:solidFill>
                <a:latin typeface="SourceCodePro"/>
                <a:ea typeface="SourceCodePro"/>
              </a:rPr>
              <a:t> bell;</a:t>
            </a:r>
          </a:p>
          <a:p>
            <a:pPr marL="0" indent="0">
              <a:buNone/>
            </a:pPr>
            <a:r>
              <a:rPr lang="en-US" sz="2200" dirty="0">
                <a:solidFill>
                  <a:schemeClr val="tx2">
                    <a:lumMod val="90000"/>
                    <a:lumOff val="10000"/>
                  </a:schemeClr>
                </a:solidFill>
                <a:latin typeface="SourceCodePro"/>
                <a:ea typeface="SourceCodePro"/>
              </a:rPr>
              <a:t>queue&lt;crate&gt; deliveries;</a:t>
            </a:r>
          </a:p>
        </p:txBody>
      </p:sp>
      <p:sp>
        <p:nvSpPr>
          <p:cNvPr id="4" name="Slide Number Placeholder 3">
            <a:extLst>
              <a:ext uri="{FF2B5EF4-FFF2-40B4-BE49-F238E27FC236}">
                <a16:creationId xmlns:a16="http://schemas.microsoft.com/office/drawing/2014/main" id="{E3E2BACB-CB83-49E2-08A4-0633FAF6E9DA}"/>
              </a:ext>
            </a:extLst>
          </p:cNvPr>
          <p:cNvSpPr>
            <a:spLocks noGrp="1"/>
          </p:cNvSpPr>
          <p:nvPr>
            <p:ph type="sldNum" sz="quarter" idx="12"/>
          </p:nvPr>
        </p:nvSpPr>
        <p:spPr/>
        <p:txBody>
          <a:bodyPr/>
          <a:lstStyle/>
          <a:p>
            <a:fld id="{A8D619E7-4118-4CE2-9D02-1AAE6DCE22A2}" type="slidenum">
              <a:rPr lang="en-US" smtClean="0"/>
              <a:t>21</a:t>
            </a:fld>
            <a:endParaRPr lang="en-US"/>
          </a:p>
        </p:txBody>
      </p:sp>
    </p:spTree>
    <p:extLst>
      <p:ext uri="{BB962C8B-B14F-4D97-AF65-F5344CB8AC3E}">
        <p14:creationId xmlns:p14="http://schemas.microsoft.com/office/powerpoint/2010/main" val="316089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
                                            <p:txEl>
                                              <p:pRg st="4" end="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5" presetClass="emph" presetSubtype="0" nodeType="clickEffect">
                                  <p:stCondLst>
                                    <p:cond delay="0"/>
                                  </p:stCondLst>
                                  <p:endCondLst>
                                    <p:cond evt="onNext" delay="0">
                                      <p:tgtEl>
                                        <p:sldTgt/>
                                      </p:tgtEl>
                                    </p:cond>
                                  </p:endCondLst>
                                  <p:childTnLst>
                                    <p:set>
                                      <p:cBhvr override="childStyle">
                                        <p:cTn id="40" dur="indefinite"/>
                                        <p:tgtEl>
                                          <p:spTgt spid="3">
                                            <p:txEl>
                                              <p:pRg st="2" end="2"/>
                                            </p:txEl>
                                          </p:spTgt>
                                        </p:tgtEl>
                                        <p:attrNameLst>
                                          <p:attrName>style.fontWeight</p:attrName>
                                        </p:attrNameLst>
                                      </p:cBhvr>
                                      <p:to>
                                        <p:strVal val="bold"/>
                                      </p:to>
                                    </p:set>
                                  </p:childTnLst>
                                </p:cTn>
                              </p:par>
                              <p:par>
                                <p:cTn id="41" presetID="15" presetClass="emph" presetSubtype="0" nodeType="withEffect">
                                  <p:stCondLst>
                                    <p:cond delay="0"/>
                                  </p:stCondLst>
                                  <p:endCondLst>
                                    <p:cond evt="onNext" delay="0">
                                      <p:tgtEl>
                                        <p:sldTgt/>
                                      </p:tgtEl>
                                    </p:cond>
                                  </p:endCondLst>
                                  <p:childTnLst>
                                    <p:set>
                                      <p:cBhvr override="childStyle">
                                        <p:cTn id="42" dur="indefinite"/>
                                        <p:tgtEl>
                                          <p:spTgt spid="6">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BBA3-4143-2FA1-BB68-BD0641E07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03B7FF-F7CC-3AE6-0DDB-0C9F62E4ACD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Phantom Bellringer</a:t>
            </a:r>
            <a:endParaRPr lang="en-US" dirty="0"/>
          </a:p>
        </p:txBody>
      </p:sp>
      <p:sp>
        <p:nvSpPr>
          <p:cNvPr id="9" name="TextBox 8">
            <a:extLst>
              <a:ext uri="{FF2B5EF4-FFF2-40B4-BE49-F238E27FC236}">
                <a16:creationId xmlns:a16="http://schemas.microsoft.com/office/drawing/2014/main" id="{197337A3-E25A-D2C8-800B-A58B48A3D723}"/>
              </a:ext>
            </a:extLst>
          </p:cNvPr>
          <p:cNvSpPr txBox="1"/>
          <p:nvPr/>
        </p:nvSpPr>
        <p:spPr>
          <a:xfrm>
            <a:off x="838200" y="4769363"/>
            <a:ext cx="10733317" cy="1785104"/>
          </a:xfrm>
          <a:prstGeom prst="rect">
            <a:avLst/>
          </a:prstGeom>
          <a:noFill/>
        </p:spPr>
        <p:txBody>
          <a:bodyPr wrap="square">
            <a:spAutoFit/>
          </a:bodyPr>
          <a:lstStyle/>
          <a:p>
            <a:r>
              <a:rPr lang="en-US" sz="2200" dirty="0"/>
              <a:t>Condition-variable waits may also return without a notification</a:t>
            </a:r>
          </a:p>
          <a:p>
            <a:endParaRPr lang="en-US" sz="2200" dirty="0"/>
          </a:p>
          <a:p>
            <a:r>
              <a:rPr lang="en-US" sz="2200" dirty="0"/>
              <a:t>This is a </a:t>
            </a:r>
            <a:r>
              <a:rPr lang="en-US" sz="2200" b="1" dirty="0"/>
              <a:t>spurious wakeup</a:t>
            </a:r>
            <a:r>
              <a:rPr lang="en-US" sz="2200" dirty="0"/>
              <a:t>.</a:t>
            </a:r>
          </a:p>
          <a:p>
            <a:endParaRPr lang="en-US" sz="2200" dirty="0"/>
          </a:p>
          <a:p>
            <a:r>
              <a:rPr lang="en-US" sz="2200" dirty="0"/>
              <a:t>Code must be correct regardless of why the thread woke.</a:t>
            </a:r>
          </a:p>
        </p:txBody>
      </p:sp>
      <p:pic>
        <p:nvPicPr>
          <p:cNvPr id="4" name="Graphic 3">
            <a:extLst>
              <a:ext uri="{FF2B5EF4-FFF2-40B4-BE49-F238E27FC236}">
                <a16:creationId xmlns:a16="http://schemas.microsoft.com/office/drawing/2014/main" id="{23DF0935-A3AE-EB55-BD20-8306C6C60A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90075" y="524857"/>
            <a:ext cx="1863725" cy="1530095"/>
          </a:xfrm>
          <a:prstGeom prst="rect">
            <a:avLst/>
          </a:prstGeom>
        </p:spPr>
      </p:pic>
      <p:pic>
        <p:nvPicPr>
          <p:cNvPr id="6" name="Graphic 5">
            <a:extLst>
              <a:ext uri="{FF2B5EF4-FFF2-40B4-BE49-F238E27FC236}">
                <a16:creationId xmlns:a16="http://schemas.microsoft.com/office/drawing/2014/main" id="{A37D4713-C197-982B-FBFF-929CA098A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5892799" y="1883946"/>
            <a:ext cx="1611930" cy="2391177"/>
          </a:xfrm>
          <a:prstGeom prst="rect">
            <a:avLst/>
          </a:prstGeom>
        </p:spPr>
      </p:pic>
      <p:sp>
        <p:nvSpPr>
          <p:cNvPr id="3" name="Slide Number Placeholder 2">
            <a:extLst>
              <a:ext uri="{FF2B5EF4-FFF2-40B4-BE49-F238E27FC236}">
                <a16:creationId xmlns:a16="http://schemas.microsoft.com/office/drawing/2014/main" id="{9578CD0E-29B4-9A22-C4D6-1F63EAF5747C}"/>
              </a:ext>
            </a:extLst>
          </p:cNvPr>
          <p:cNvSpPr>
            <a:spLocks noGrp="1"/>
          </p:cNvSpPr>
          <p:nvPr>
            <p:ph type="sldNum" sz="quarter" idx="12"/>
          </p:nvPr>
        </p:nvSpPr>
        <p:spPr/>
        <p:txBody>
          <a:bodyPr/>
          <a:lstStyle/>
          <a:p>
            <a:fld id="{A8D619E7-4118-4CE2-9D02-1AAE6DCE22A2}" type="slidenum">
              <a:rPr lang="en-US" smtClean="0"/>
              <a:t>22</a:t>
            </a:fld>
            <a:endParaRPr lang="en-US"/>
          </a:p>
        </p:txBody>
      </p:sp>
    </p:spTree>
    <p:extLst>
      <p:ext uri="{BB962C8B-B14F-4D97-AF65-F5344CB8AC3E}">
        <p14:creationId xmlns:p14="http://schemas.microsoft.com/office/powerpoint/2010/main" val="3785401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par>
                          <p:cTn id="8" fill="hold">
                            <p:stCondLst>
                              <p:cond delay="1000"/>
                            </p:stCondLst>
                            <p:childTnLst>
                              <p:par>
                                <p:cTn id="9" presetID="10" presetClass="exit" presetSubtype="0" fill="hold" nodeType="afterEffect">
                                  <p:stCondLst>
                                    <p:cond delay="0"/>
                                  </p:stCondLst>
                                  <p:childTnLst>
                                    <p:animEffect transition="out" filter="fade">
                                      <p:cBhvr>
                                        <p:cTn id="10" dur="1000"/>
                                        <p:tgtEl>
                                          <p:spTgt spid="4"/>
                                        </p:tgtEl>
                                      </p:cBhvr>
                                    </p:animEffect>
                                    <p:set>
                                      <p:cBhvr>
                                        <p:cTn id="11" dur="1" fill="hold">
                                          <p:stCondLst>
                                            <p:cond delay="999"/>
                                          </p:stCondLst>
                                        </p:cTn>
                                        <p:tgtEl>
                                          <p:spTgt spid="4"/>
                                        </p:tgtEl>
                                        <p:attrNameLst>
                                          <p:attrName>style.visibility</p:attrName>
                                        </p:attrNameLst>
                                      </p:cBhvr>
                                      <p:to>
                                        <p:strVal val="hidden"/>
                                      </p:to>
                                    </p:set>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CC200-5BB0-7200-7620-04BA9C4769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C894B-6F12-93C0-EB8A-49A120B38FDC}"/>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Phantom Bellringer</a:t>
            </a:r>
            <a:endParaRPr lang="en-US" dirty="0"/>
          </a:p>
        </p:txBody>
      </p:sp>
      <p:sp>
        <p:nvSpPr>
          <p:cNvPr id="9" name="TextBox 8">
            <a:extLst>
              <a:ext uri="{FF2B5EF4-FFF2-40B4-BE49-F238E27FC236}">
                <a16:creationId xmlns:a16="http://schemas.microsoft.com/office/drawing/2014/main" id="{FF121579-6FEE-073E-C4D6-8279F0F4287B}"/>
              </a:ext>
            </a:extLst>
          </p:cNvPr>
          <p:cNvSpPr txBox="1"/>
          <p:nvPr/>
        </p:nvSpPr>
        <p:spPr>
          <a:xfrm>
            <a:off x="838200" y="4769363"/>
            <a:ext cx="10733317" cy="1785104"/>
          </a:xfrm>
          <a:prstGeom prst="rect">
            <a:avLst/>
          </a:prstGeom>
          <a:noFill/>
        </p:spPr>
        <p:txBody>
          <a:bodyPr wrap="square">
            <a:spAutoFit/>
          </a:bodyPr>
          <a:lstStyle/>
          <a:p>
            <a:r>
              <a:rPr lang="en-US" sz="2200" dirty="0"/>
              <a:t>The truck came before the stocker’s shift. By the time the stocker arrived,</a:t>
            </a:r>
          </a:p>
          <a:p>
            <a:r>
              <a:rPr lang="en-US" sz="2200" dirty="0"/>
              <a:t>the bell had already rung.</a:t>
            </a:r>
          </a:p>
          <a:p>
            <a:endParaRPr lang="en-US" sz="2200" dirty="0"/>
          </a:p>
          <a:p>
            <a:r>
              <a:rPr lang="en-US" sz="2200" dirty="0"/>
              <a:t>Notifications are not stored for future waiters.  </a:t>
            </a:r>
          </a:p>
          <a:p>
            <a:r>
              <a:rPr lang="en-US" sz="2200" dirty="0"/>
              <a:t>The stocker waits for the next ring while a crate sits on the loading dock.</a:t>
            </a:r>
          </a:p>
        </p:txBody>
      </p:sp>
      <p:pic>
        <p:nvPicPr>
          <p:cNvPr id="4" name="Graphic 3">
            <a:extLst>
              <a:ext uri="{FF2B5EF4-FFF2-40B4-BE49-F238E27FC236}">
                <a16:creationId xmlns:a16="http://schemas.microsoft.com/office/drawing/2014/main" id="{F2F6A41B-E417-4045-AABE-368CFF57774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484070" y="1690688"/>
            <a:ext cx="1611930" cy="2391177"/>
          </a:xfrm>
          <a:prstGeom prst="rect">
            <a:avLst/>
          </a:prstGeom>
        </p:spPr>
      </p:pic>
      <p:pic>
        <p:nvPicPr>
          <p:cNvPr id="6" name="Graphic 5">
            <a:extLst>
              <a:ext uri="{FF2B5EF4-FFF2-40B4-BE49-F238E27FC236}">
                <a16:creationId xmlns:a16="http://schemas.microsoft.com/office/drawing/2014/main" id="{2323462C-187D-0255-1D16-44E9EB13B4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32436" y="1560713"/>
            <a:ext cx="4333624" cy="2391177"/>
          </a:xfrm>
          <a:prstGeom prst="rect">
            <a:avLst/>
          </a:prstGeom>
        </p:spPr>
      </p:pic>
      <p:pic>
        <p:nvPicPr>
          <p:cNvPr id="5" name="Graphic 4">
            <a:extLst>
              <a:ext uri="{FF2B5EF4-FFF2-40B4-BE49-F238E27FC236}">
                <a16:creationId xmlns:a16="http://schemas.microsoft.com/office/drawing/2014/main" id="{A137E0CE-834D-F8AC-BD05-C741B6AA1A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490075" y="524857"/>
            <a:ext cx="1863725" cy="1530095"/>
          </a:xfrm>
          <a:prstGeom prst="rect">
            <a:avLst/>
          </a:prstGeom>
        </p:spPr>
      </p:pic>
      <p:sp>
        <p:nvSpPr>
          <p:cNvPr id="3" name="Slide Number Placeholder 2">
            <a:extLst>
              <a:ext uri="{FF2B5EF4-FFF2-40B4-BE49-F238E27FC236}">
                <a16:creationId xmlns:a16="http://schemas.microsoft.com/office/drawing/2014/main" id="{C70C09F9-EA20-38F8-E399-C6FA85A85D15}"/>
              </a:ext>
            </a:extLst>
          </p:cNvPr>
          <p:cNvSpPr>
            <a:spLocks noGrp="1"/>
          </p:cNvSpPr>
          <p:nvPr>
            <p:ph type="sldNum" sz="quarter" idx="12"/>
          </p:nvPr>
        </p:nvSpPr>
        <p:spPr/>
        <p:txBody>
          <a:bodyPr/>
          <a:lstStyle/>
          <a:p>
            <a:fld id="{A8D619E7-4118-4CE2-9D02-1AAE6DCE22A2}" type="slidenum">
              <a:rPr lang="en-US" smtClean="0"/>
              <a:t>23</a:t>
            </a:fld>
            <a:endParaRPr lang="en-US"/>
          </a:p>
        </p:txBody>
      </p:sp>
    </p:spTree>
    <p:extLst>
      <p:ext uri="{BB962C8B-B14F-4D97-AF65-F5344CB8AC3E}">
        <p14:creationId xmlns:p14="http://schemas.microsoft.com/office/powerpoint/2010/main" val="295722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11679 0.1463 L -0.11679 0.14653 C -0.10651 0.14421 -0.09596 0.14236 -0.08606 0.14005 C -0.07226 0.13727 -0.05963 0.1331 -0.04531 0.13102 C -0.03724 0.12986 -0.025 0.12824 -0.01653 0.12755 C 0.01029 0.12546 0.01628 0.12593 0.04545 0.12546 C 0.12435 0.13195 0.03386 0.12408 0.1 0.13102 C 0.10808 0.13195 0.11615 0.13241 0.12409 0.1331 C 0.14922 0.13542 0.12709 0.1338 0.153 0.13658 C 0.1569 0.13704 0.16107 0.13727 0.16459 0.13773 C 0.16966 0.1382 0.17487 0.13866 0.17969 0.13912 L 0.21901 0.13866 C 0.225 0.13843 0.23021 0.13681 0.23581 0.13611 C 0.24297 0.13519 0.24987 0.13426 0.2569 0.13357 C 0.28125 0.13102 0.28086 0.13195 0.3017 0.12847 C 0.3099 0.12709 0.3181 0.1257 0.32618 0.12384 C 0.33308 0.12246 0.33959 0.1206 0.34662 0.11921 C 0.35612 0.11783 0.36589 0.11644 0.37552 0.11528 C 0.41302 0.11065 0.41341 0.11273 0.46433 0.11227 C 0.53659 0.11528 0.52097 0.11389 0.57552 0.11783 C 0.58633 0.11852 0.59753 0.11921 0.6086 0.12037 C 0.63008 0.12246 0.65131 0.12477 0.6724 0.12755 L 0.69662 0.13056 C 0.70209 0.13125 0.70756 0.13264 0.71341 0.1331 C 0.72006 0.13357 0.72696 0.13334 0.73386 0.13357 C 0.77878 0.13287 0.79922 0.13426 0.8392 0.12894 C 0.84727 0.12801 0.85456 0.1257 0.86224 0.12454 C 0.87058 0.12292 0.87917 0.12222 0.8875 0.12084 C 0.90456 0.11783 0.90144 0.11667 0.91615 0.11482 C 0.9211 0.11412 0.92605 0.11366 0.93073 0.1132 C 0.95274 0.11111 0.94519 0.11181 0.97071 0.11088 C 0.99414 0.11111 1.01758 0.11111 1.04115 0.11227 C 1.0474 0.1125 1.05339 0.11412 1.05964 0.11482 C 1.06302 0.11528 1.06641 0.11551 1.0698 0.11574 C 1.07474 0.11621 1.10105 0.11667 1.10404 0.1169 L 1.17071 0.11574 C 1.17422 0.11574 1.18112 0.11528 1.18112 0.11528 " pathEditMode="relative" rAng="0" ptsTypes="AAAAAAAAAAAAAAAAAAAAAAAAAAAAAAAAAAAAA">
                                      <p:cBhvr>
                                        <p:cTn id="6" dur="5000" fill="hold"/>
                                        <p:tgtEl>
                                          <p:spTgt spid="6"/>
                                        </p:tgtEl>
                                        <p:attrNameLst>
                                          <p:attrName>ppt_x</p:attrName>
                                          <p:attrName>ppt_y</p:attrName>
                                        </p:attrNameLst>
                                      </p:cBhvr>
                                      <p:rCtr x="64896" y="-1759"/>
                                    </p:animMotion>
                                  </p:childTnLst>
                                </p:cTn>
                              </p:par>
                            </p:childTnLst>
                          </p:cTn>
                        </p:par>
                        <p:par>
                          <p:cTn id="7" fill="hold">
                            <p:stCondLst>
                              <p:cond delay="5000"/>
                            </p:stCondLst>
                            <p:childTnLst>
                              <p:par>
                                <p:cTn id="8" presetID="10"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000"/>
                                        <p:tgtEl>
                                          <p:spTgt spid="5"/>
                                        </p:tgtEl>
                                      </p:cBhvr>
                                    </p:animEffect>
                                  </p:childTnLst>
                                </p:cTn>
                              </p:par>
                            </p:childTnLst>
                          </p:cTn>
                        </p:par>
                        <p:par>
                          <p:cTn id="11" fill="hold">
                            <p:stCondLst>
                              <p:cond delay="7000"/>
                            </p:stCondLst>
                            <p:childTnLst>
                              <p:par>
                                <p:cTn id="12" presetID="10" presetClass="exit" presetSubtype="0" fill="hold" nodeType="afterEffect">
                                  <p:stCondLst>
                                    <p:cond delay="0"/>
                                  </p:stCondLst>
                                  <p:childTnLst>
                                    <p:animEffect transition="out" filter="fade">
                                      <p:cBhvr>
                                        <p:cTn id="13" dur="500"/>
                                        <p:tgtEl>
                                          <p:spTgt spid="5"/>
                                        </p:tgtEl>
                                      </p:cBhvr>
                                    </p:animEffect>
                                    <p:set>
                                      <p:cBhvr>
                                        <p:cTn id="14" dur="1" fill="hold">
                                          <p:stCondLst>
                                            <p:cond delay="499"/>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490CF-34AA-85C3-7C2F-9B14EB34E7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8670CD7-31E8-18C1-8180-39EF414A54A6}"/>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E7178AB4-C4B6-C7A4-62B0-B9392638CC04}"/>
              </a:ext>
            </a:extLst>
          </p:cNvPr>
          <p:cNvSpPr txBox="1">
            <a:spLocks/>
          </p:cNvSpPr>
          <p:nvPr/>
        </p:nvSpPr>
        <p:spPr>
          <a:xfrm>
            <a:off x="6206071" y="541867"/>
            <a:ext cx="5825061" cy="5635096"/>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err="1">
                <a:solidFill>
                  <a:schemeClr val="tx2">
                    <a:lumMod val="90000"/>
                    <a:lumOff val="10000"/>
                  </a:schemeClr>
                </a:solidFill>
                <a:latin typeface="SourceCodePro"/>
                <a:ea typeface="SourceCodePro"/>
              </a:rPr>
              <a:t>unique_lock</a:t>
            </a:r>
            <a:r>
              <a:rPr lang="en-US" sz="2200" dirty="0">
                <a:solidFill>
                  <a:schemeClr val="tx2">
                    <a:lumMod val="90000"/>
                    <a:lumOff val="10000"/>
                  </a:schemeClr>
                </a:solidFill>
                <a:latin typeface="SourceCodePro"/>
                <a:ea typeface="SourceCodePro"/>
              </a:rPr>
              <a:t> lock(m);</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err="1">
                <a:solidFill>
                  <a:schemeClr val="tx2">
                    <a:lumMod val="90000"/>
                    <a:lumOff val="10000"/>
                  </a:schemeClr>
                </a:solidFill>
                <a:latin typeface="SourceCodePro"/>
                <a:ea typeface="SourceCodePro"/>
              </a:rPr>
              <a:t>bell.wait</a:t>
            </a:r>
            <a:r>
              <a:rPr lang="en-US" sz="2200" dirty="0">
                <a:solidFill>
                  <a:schemeClr val="tx2">
                    <a:lumMod val="90000"/>
                    <a:lumOff val="10000"/>
                  </a:schemeClr>
                </a:solidFill>
                <a:latin typeface="SourceCodePro"/>
                <a:ea typeface="SourceCodePro"/>
              </a:rPr>
              <a:t>(lock, [] { return !</a:t>
            </a:r>
            <a:r>
              <a:rPr lang="en-US" sz="2200" dirty="0" err="1">
                <a:solidFill>
                  <a:schemeClr val="tx2">
                    <a:lumMod val="90000"/>
                    <a:lumOff val="10000"/>
                  </a:schemeClr>
                </a:solidFill>
                <a:latin typeface="SourceCodePro"/>
                <a:ea typeface="SourceCodePro"/>
              </a:rPr>
              <a:t>deliveries.empty</a:t>
            </a:r>
            <a:r>
              <a:rPr lang="en-US" sz="2200" dirty="0">
                <a:solidFill>
                  <a:schemeClr val="tx2">
                    <a:lumMod val="90000"/>
                    <a:lumOff val="10000"/>
                  </a:schemeClr>
                </a:solidFill>
                <a:latin typeface="SourceCodePro"/>
                <a:ea typeface="SourceCodePro"/>
              </a:rPr>
              <a:t>();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stock(</a:t>
            </a:r>
            <a:r>
              <a:rPr lang="en-US" sz="2200" dirty="0" err="1">
                <a:solidFill>
                  <a:schemeClr val="tx2">
                    <a:lumMod val="90000"/>
                    <a:lumOff val="10000"/>
                  </a:schemeClr>
                </a:solidFill>
                <a:latin typeface="SourceCodePro"/>
                <a:ea typeface="SourceCodePro"/>
              </a:rPr>
              <a:t>deliveries.front</a:t>
            </a:r>
            <a:r>
              <a:rPr lang="en-US" sz="2200" dirty="0">
                <a:solidFill>
                  <a:schemeClr val="tx2">
                    <a:lumMod val="90000"/>
                    <a:lumOff val="10000"/>
                  </a:schemeClr>
                </a:solidFill>
                <a:latin typeface="SourceCodePro"/>
                <a:ea typeface="SourceCodePro"/>
              </a:rPr>
              <a:t>());</a:t>
            </a:r>
          </a:p>
          <a:p>
            <a:pPr marL="0" indent="0">
              <a:buNone/>
            </a:pPr>
            <a:r>
              <a:rPr lang="en-US" sz="2200" dirty="0" err="1">
                <a:solidFill>
                  <a:schemeClr val="tx2">
                    <a:lumMod val="90000"/>
                    <a:lumOff val="10000"/>
                  </a:schemeClr>
                </a:solidFill>
                <a:latin typeface="SourceCodePro"/>
                <a:ea typeface="SourceCodePro"/>
              </a:rPr>
              <a:t>deliveries.pop</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23A62CE9-F91B-972A-85C8-ECE1446FC5A6}"/>
              </a:ext>
            </a:extLst>
          </p:cNvPr>
          <p:cNvSpPr txBox="1"/>
          <p:nvPr/>
        </p:nvSpPr>
        <p:spPr>
          <a:xfrm>
            <a:off x="1515533" y="380925"/>
            <a:ext cx="3191933" cy="430887"/>
          </a:xfrm>
          <a:prstGeom prst="rect">
            <a:avLst/>
          </a:prstGeom>
          <a:noFill/>
        </p:spPr>
        <p:txBody>
          <a:bodyPr wrap="square">
            <a:spAutoFit/>
          </a:bodyPr>
          <a:lstStyle/>
          <a:p>
            <a:r>
              <a:rPr lang="en-US" sz="2200" b="1" dirty="0"/>
              <a:t>The Phantom Bellringer</a:t>
            </a:r>
            <a:endParaRPr lang="en-US" b="1" dirty="0"/>
          </a:p>
        </p:txBody>
      </p:sp>
      <p:sp>
        <p:nvSpPr>
          <p:cNvPr id="7" name="TextBox 6">
            <a:extLst>
              <a:ext uri="{FF2B5EF4-FFF2-40B4-BE49-F238E27FC236}">
                <a16:creationId xmlns:a16="http://schemas.microsoft.com/office/drawing/2014/main" id="{E21B12CE-AA14-38BE-3F41-8CFAAEE4BCCB}"/>
              </a:ext>
            </a:extLst>
          </p:cNvPr>
          <p:cNvSpPr txBox="1"/>
          <p:nvPr/>
        </p:nvSpPr>
        <p:spPr>
          <a:xfrm>
            <a:off x="6206071" y="5275350"/>
            <a:ext cx="6096000" cy="769441"/>
          </a:xfrm>
          <a:prstGeom prst="rect">
            <a:avLst/>
          </a:prstGeom>
          <a:noFill/>
        </p:spPr>
        <p:txBody>
          <a:bodyPr wrap="square">
            <a:spAutoFit/>
          </a:bodyPr>
          <a:lstStyle/>
          <a:p>
            <a:r>
              <a:rPr lang="en-US" sz="2200" dirty="0"/>
              <a:t>The predicate prevents both lost and spurious wakeup bugs.</a:t>
            </a:r>
          </a:p>
        </p:txBody>
      </p:sp>
      <p:pic>
        <p:nvPicPr>
          <p:cNvPr id="5" name="Graphic 4">
            <a:extLst>
              <a:ext uri="{FF2B5EF4-FFF2-40B4-BE49-F238E27FC236}">
                <a16:creationId xmlns:a16="http://schemas.microsoft.com/office/drawing/2014/main" id="{04DA0040-09DC-7AF6-14C2-2981984366B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79636" y="1395456"/>
            <a:ext cx="1863725" cy="1530095"/>
          </a:xfrm>
          <a:prstGeom prst="rect">
            <a:avLst/>
          </a:prstGeom>
        </p:spPr>
      </p:pic>
      <p:sp>
        <p:nvSpPr>
          <p:cNvPr id="9" name="TextBox 8">
            <a:extLst>
              <a:ext uri="{FF2B5EF4-FFF2-40B4-BE49-F238E27FC236}">
                <a16:creationId xmlns:a16="http://schemas.microsoft.com/office/drawing/2014/main" id="{951852DE-5191-C060-1447-AD63A77A9024}"/>
              </a:ext>
            </a:extLst>
          </p:cNvPr>
          <p:cNvSpPr txBox="1"/>
          <p:nvPr/>
        </p:nvSpPr>
        <p:spPr>
          <a:xfrm>
            <a:off x="1229352" y="3541034"/>
            <a:ext cx="4461932" cy="707886"/>
          </a:xfrm>
          <a:prstGeom prst="rect">
            <a:avLst/>
          </a:prstGeom>
          <a:noFill/>
        </p:spPr>
        <p:txBody>
          <a:bodyPr wrap="square">
            <a:spAutoFit/>
          </a:bodyPr>
          <a:lstStyle/>
          <a:p>
            <a:r>
              <a:rPr lang="en-US" sz="2000" dirty="0" err="1"/>
              <a:t>condition_variable</a:t>
            </a:r>
            <a:r>
              <a:rPr lang="en-US" sz="2000" dirty="0"/>
              <a:t>::wait without a state predicate</a:t>
            </a:r>
          </a:p>
        </p:txBody>
      </p:sp>
      <p:sp>
        <p:nvSpPr>
          <p:cNvPr id="13" name="TextBox 12">
            <a:extLst>
              <a:ext uri="{FF2B5EF4-FFF2-40B4-BE49-F238E27FC236}">
                <a16:creationId xmlns:a16="http://schemas.microsoft.com/office/drawing/2014/main" id="{A81A0EEF-FA21-8593-8699-C5433EF69BB0}"/>
              </a:ext>
            </a:extLst>
          </p:cNvPr>
          <p:cNvSpPr txBox="1"/>
          <p:nvPr/>
        </p:nvSpPr>
        <p:spPr>
          <a:xfrm>
            <a:off x="1229352" y="4265854"/>
            <a:ext cx="3939548" cy="707886"/>
          </a:xfrm>
          <a:prstGeom prst="rect">
            <a:avLst/>
          </a:prstGeom>
          <a:noFill/>
        </p:spPr>
        <p:txBody>
          <a:bodyPr wrap="square">
            <a:spAutoFit/>
          </a:bodyPr>
          <a:lstStyle/>
          <a:p>
            <a:r>
              <a:rPr lang="en-US" sz="2000" dirty="0"/>
              <a:t>sleeps through real events or wakes for no useful event</a:t>
            </a:r>
          </a:p>
        </p:txBody>
      </p:sp>
      <p:sp>
        <p:nvSpPr>
          <p:cNvPr id="16" name="TextBox 15">
            <a:extLst>
              <a:ext uri="{FF2B5EF4-FFF2-40B4-BE49-F238E27FC236}">
                <a16:creationId xmlns:a16="http://schemas.microsoft.com/office/drawing/2014/main" id="{E265C5F0-A12F-5E6E-A96A-038EA55C7D9E}"/>
              </a:ext>
            </a:extLst>
          </p:cNvPr>
          <p:cNvSpPr txBox="1"/>
          <p:nvPr/>
        </p:nvSpPr>
        <p:spPr>
          <a:xfrm>
            <a:off x="1229352" y="5690439"/>
            <a:ext cx="4428074" cy="400110"/>
          </a:xfrm>
          <a:prstGeom prst="rect">
            <a:avLst/>
          </a:prstGeom>
          <a:noFill/>
        </p:spPr>
        <p:txBody>
          <a:bodyPr wrap="square">
            <a:spAutoFit/>
          </a:bodyPr>
          <a:lstStyle/>
          <a:p>
            <a:r>
              <a:rPr lang="en-US" sz="2000" dirty="0"/>
              <a:t>wait for state, not for a bell</a:t>
            </a:r>
          </a:p>
        </p:txBody>
      </p:sp>
      <p:sp>
        <p:nvSpPr>
          <p:cNvPr id="19" name="TextBox 18">
            <a:extLst>
              <a:ext uri="{FF2B5EF4-FFF2-40B4-BE49-F238E27FC236}">
                <a16:creationId xmlns:a16="http://schemas.microsoft.com/office/drawing/2014/main" id="{9B15CA7A-CC35-9AEC-CBDA-5B82D6BBA746}"/>
              </a:ext>
            </a:extLst>
          </p:cNvPr>
          <p:cNvSpPr txBox="1"/>
          <p:nvPr/>
        </p:nvSpPr>
        <p:spPr>
          <a:xfrm>
            <a:off x="1229352" y="4965273"/>
            <a:ext cx="3939548" cy="707886"/>
          </a:xfrm>
          <a:prstGeom prst="rect">
            <a:avLst/>
          </a:prstGeom>
          <a:noFill/>
        </p:spPr>
        <p:txBody>
          <a:bodyPr wrap="square">
            <a:spAutoFit/>
          </a:bodyPr>
          <a:lstStyle/>
          <a:p>
            <a:r>
              <a:rPr lang="en-US" sz="2000" dirty="0"/>
              <a:t>works whenever the waiter happens to arrive first</a:t>
            </a:r>
          </a:p>
        </p:txBody>
      </p:sp>
      <p:sp>
        <p:nvSpPr>
          <p:cNvPr id="2" name="Slide Number Placeholder 1">
            <a:extLst>
              <a:ext uri="{FF2B5EF4-FFF2-40B4-BE49-F238E27FC236}">
                <a16:creationId xmlns:a16="http://schemas.microsoft.com/office/drawing/2014/main" id="{7E5791DC-70E6-BED9-22D9-37045B78DF65}"/>
              </a:ext>
            </a:extLst>
          </p:cNvPr>
          <p:cNvSpPr>
            <a:spLocks noGrp="1"/>
          </p:cNvSpPr>
          <p:nvPr>
            <p:ph type="sldNum" sz="quarter" idx="12"/>
          </p:nvPr>
        </p:nvSpPr>
        <p:spPr/>
        <p:txBody>
          <a:bodyPr/>
          <a:lstStyle/>
          <a:p>
            <a:fld id="{A8D619E7-4118-4CE2-9D02-1AAE6DCE22A2}" type="slidenum">
              <a:rPr lang="en-US" smtClean="0"/>
              <a:t>24</a:t>
            </a:fld>
            <a:endParaRPr lang="en-US"/>
          </a:p>
        </p:txBody>
      </p:sp>
    </p:spTree>
    <p:extLst>
      <p:ext uri="{BB962C8B-B14F-4D97-AF65-F5344CB8AC3E}">
        <p14:creationId xmlns:p14="http://schemas.microsoft.com/office/powerpoint/2010/main" val="158353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5" presetClass="emph" presetSubtype="0" nodeType="clickEffect">
                                  <p:stCondLst>
                                    <p:cond delay="0"/>
                                  </p:stCondLst>
                                  <p:endCondLst>
                                    <p:cond evt="onNext" delay="0">
                                      <p:tgtEl>
                                        <p:sldTgt/>
                                      </p:tgtEl>
                                    </p:cond>
                                  </p:endCondLst>
                                  <p:childTnLst>
                                    <p:set>
                                      <p:cBhvr override="childStyle">
                                        <p:cTn id="32" dur="indefinite"/>
                                        <p:tgtEl>
                                          <p:spTgt spid="22">
                                            <p:txEl>
                                              <p:pRg st="2" end="2"/>
                                            </p:txEl>
                                          </p:spTgt>
                                        </p:tgtEl>
                                        <p:attrNameLst>
                                          <p:attrName>style.fontWeight</p:attrName>
                                        </p:attrNameLst>
                                      </p:cBhvr>
                                      <p:to>
                                        <p:strVal val="bold"/>
                                      </p:to>
                                    </p:set>
                                  </p:childTnLst>
                                </p:cTn>
                              </p:par>
                            </p:childTnLst>
                          </p:cTn>
                        </p:par>
                        <p:par>
                          <p:cTn id="33" fill="hold">
                            <p:stCondLst>
                              <p:cond delay="0"/>
                            </p:stCondLst>
                            <p:childTnLst>
                              <p:par>
                                <p:cTn id="34" presetID="1" presetClass="entr" presetSubtype="0" fill="hold" nodeType="after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3" grpId="0"/>
      <p:bldP spid="16" grpId="0"/>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8C2EA-C5DF-105D-4B3D-687E357E2B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DD6550-F778-1BA7-DAE5-D997B5F89016}"/>
              </a:ext>
            </a:extLst>
          </p:cNvPr>
          <p:cNvSpPr>
            <a:spLocks noGrp="1"/>
          </p:cNvSpPr>
          <p:nvPr>
            <p:ph type="title"/>
          </p:nvPr>
        </p:nvSpPr>
        <p:spPr/>
        <p:txBody>
          <a:bodyPr/>
          <a:lstStyle/>
          <a:p>
            <a:r>
              <a:rPr lang="en-US" b="1" dirty="0">
                <a:latin typeface="Fraunces-72pt-SemiBold-NonWonky"/>
              </a:rPr>
              <a:t>Zookeeper rule #2</a:t>
            </a:r>
          </a:p>
        </p:txBody>
      </p:sp>
      <p:sp>
        <p:nvSpPr>
          <p:cNvPr id="3" name="TextBox 2">
            <a:extLst>
              <a:ext uri="{FF2B5EF4-FFF2-40B4-BE49-F238E27FC236}">
                <a16:creationId xmlns:a16="http://schemas.microsoft.com/office/drawing/2014/main" id="{B7F36089-F1BF-F132-B145-B6D72499DFB4}"/>
              </a:ext>
            </a:extLst>
          </p:cNvPr>
          <p:cNvSpPr txBox="1"/>
          <p:nvPr/>
        </p:nvSpPr>
        <p:spPr>
          <a:xfrm>
            <a:off x="838200" y="1614196"/>
            <a:ext cx="5729649" cy="769441"/>
          </a:xfrm>
          <a:prstGeom prst="rect">
            <a:avLst/>
          </a:prstGeom>
          <a:noFill/>
        </p:spPr>
        <p:txBody>
          <a:bodyPr wrap="square" rtlCol="0">
            <a:spAutoFit/>
          </a:bodyPr>
          <a:lstStyle/>
          <a:p>
            <a:r>
              <a:rPr lang="en-US" sz="2200" i="1" dirty="0">
                <a:latin typeface="SourceSans3ExtraLight"/>
              </a:rPr>
              <a:t>A mutex is not just a door.  </a:t>
            </a:r>
          </a:p>
          <a:p>
            <a:r>
              <a:rPr lang="en-US" sz="2200" i="1" dirty="0">
                <a:latin typeface="SourceSans3ExtraLight"/>
              </a:rPr>
              <a:t>It is also a memory handshake</a:t>
            </a:r>
          </a:p>
        </p:txBody>
      </p:sp>
      <p:sp>
        <p:nvSpPr>
          <p:cNvPr id="4" name="TextBox 3">
            <a:extLst>
              <a:ext uri="{FF2B5EF4-FFF2-40B4-BE49-F238E27FC236}">
                <a16:creationId xmlns:a16="http://schemas.microsoft.com/office/drawing/2014/main" id="{E6EE008B-008B-511A-1711-2B94807B35BE}"/>
              </a:ext>
            </a:extLst>
          </p:cNvPr>
          <p:cNvSpPr txBox="1"/>
          <p:nvPr/>
        </p:nvSpPr>
        <p:spPr>
          <a:xfrm>
            <a:off x="838200" y="2855164"/>
            <a:ext cx="9549440" cy="258269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Change shared state while holding the mutex</a:t>
            </a:r>
          </a:p>
          <a:p>
            <a:pPr marL="285750" indent="-285750">
              <a:lnSpc>
                <a:spcPct val="150000"/>
              </a:lnSpc>
              <a:buFont typeface="Arial" panose="020B0604020202020204" pitchFamily="34" charset="0"/>
              <a:buChar char="•"/>
            </a:pPr>
            <a:r>
              <a:rPr lang="en-US" sz="2200" dirty="0"/>
              <a:t>Inspect it while holding the same mutex</a:t>
            </a:r>
          </a:p>
          <a:p>
            <a:pPr marL="285750" indent="-285750">
              <a:lnSpc>
                <a:spcPct val="150000"/>
              </a:lnSpc>
              <a:buFont typeface="Arial" panose="020B0604020202020204" pitchFamily="34" charset="0"/>
              <a:buChar char="•"/>
            </a:pPr>
            <a:r>
              <a:rPr lang="en-US" sz="2200" dirty="0"/>
              <a:t>The notification is only a prompt to check again</a:t>
            </a:r>
          </a:p>
          <a:p>
            <a:pPr marL="285750" indent="-285750">
              <a:lnSpc>
                <a:spcPct val="150000"/>
              </a:lnSpc>
              <a:buFont typeface="Arial" panose="020B0604020202020204" pitchFamily="34" charset="0"/>
              <a:buChar char="•"/>
            </a:pPr>
            <a:endParaRPr lang="en-US" sz="2200" dirty="0"/>
          </a:p>
          <a:p>
            <a:pPr>
              <a:lnSpc>
                <a:spcPct val="150000"/>
              </a:lnSpc>
            </a:pPr>
            <a:r>
              <a:rPr lang="en-US" sz="2200" dirty="0"/>
              <a:t>For a single atomic flag or counter atomic::wait / notify may be simpler.</a:t>
            </a:r>
          </a:p>
        </p:txBody>
      </p:sp>
      <p:sp>
        <p:nvSpPr>
          <p:cNvPr id="5" name="Slide Number Placeholder 4">
            <a:extLst>
              <a:ext uri="{FF2B5EF4-FFF2-40B4-BE49-F238E27FC236}">
                <a16:creationId xmlns:a16="http://schemas.microsoft.com/office/drawing/2014/main" id="{13C1042F-1DDE-A17B-FD31-1AFE39B5D201}"/>
              </a:ext>
            </a:extLst>
          </p:cNvPr>
          <p:cNvSpPr>
            <a:spLocks noGrp="1"/>
          </p:cNvSpPr>
          <p:nvPr>
            <p:ph type="sldNum" sz="quarter" idx="12"/>
          </p:nvPr>
        </p:nvSpPr>
        <p:spPr/>
        <p:txBody>
          <a:bodyPr/>
          <a:lstStyle/>
          <a:p>
            <a:fld id="{A8D619E7-4118-4CE2-9D02-1AAE6DCE22A2}" type="slidenum">
              <a:rPr lang="en-US" smtClean="0"/>
              <a:t>25</a:t>
            </a:fld>
            <a:endParaRPr lang="en-US"/>
          </a:p>
        </p:txBody>
      </p:sp>
    </p:spTree>
    <p:extLst>
      <p:ext uri="{BB962C8B-B14F-4D97-AF65-F5344CB8AC3E}">
        <p14:creationId xmlns:p14="http://schemas.microsoft.com/office/powerpoint/2010/main" val="4004109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D10D9-88AF-BFD0-A622-0EC5F2410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2E3967-12A7-F4D0-DC89-AB0A4E8DD47B}"/>
              </a:ext>
            </a:extLst>
          </p:cNvPr>
          <p:cNvSpPr>
            <a:spLocks noGrp="1"/>
          </p:cNvSpPr>
          <p:nvPr>
            <p:ph type="ctrTitle"/>
          </p:nvPr>
        </p:nvSpPr>
        <p:spPr>
          <a:xfrm>
            <a:off x="1524000" y="1122363"/>
            <a:ext cx="9144000" cy="2387600"/>
          </a:xfrm>
        </p:spPr>
        <p:txBody>
          <a:bodyPr/>
          <a:lstStyle/>
          <a:p>
            <a:r>
              <a:rPr lang="en-US" b="1" dirty="0">
                <a:solidFill>
                  <a:srgbClr val="1A1A1A"/>
                </a:solidFill>
                <a:latin typeface="Fraunces-72pt-SemiBold-NonWonky"/>
                <a:ea typeface="Fraunces-72pt-SemiBold-NonWonky"/>
              </a:rPr>
              <a:t>Zone 3: The Ruins</a:t>
            </a:r>
            <a:endParaRPr lang="en-US" dirty="0"/>
          </a:p>
        </p:txBody>
      </p:sp>
      <p:sp>
        <p:nvSpPr>
          <p:cNvPr id="5" name="Subtitle 4">
            <a:extLst>
              <a:ext uri="{FF2B5EF4-FFF2-40B4-BE49-F238E27FC236}">
                <a16:creationId xmlns:a16="http://schemas.microsoft.com/office/drawing/2014/main" id="{8B4FC854-8595-6E52-B94A-2EA4C919B507}"/>
              </a:ext>
            </a:extLst>
          </p:cNvPr>
          <p:cNvSpPr>
            <a:spLocks noGrp="1"/>
          </p:cNvSpPr>
          <p:nvPr>
            <p:ph type="subTitle" idx="1"/>
          </p:nvPr>
        </p:nvSpPr>
        <p:spPr/>
        <p:txBody>
          <a:bodyPr>
            <a:normAutofit/>
          </a:bodyPr>
          <a:lstStyle/>
          <a:p>
            <a:r>
              <a:rPr lang="en-US" i="1" dirty="0">
                <a:latin typeface="SourceSans3ExtraLight"/>
              </a:rPr>
              <a:t>The next monsters do not break synchronization</a:t>
            </a:r>
          </a:p>
          <a:p>
            <a:endParaRPr lang="en-US" i="1" dirty="0">
              <a:latin typeface="SourceSans3ExtraLight"/>
            </a:endParaRPr>
          </a:p>
          <a:p>
            <a:r>
              <a:rPr lang="en-US" i="1" dirty="0">
                <a:latin typeface="SourceSans3ExtraLight"/>
              </a:rPr>
              <a:t>They break lifetime.</a:t>
            </a:r>
          </a:p>
        </p:txBody>
      </p:sp>
      <p:sp>
        <p:nvSpPr>
          <p:cNvPr id="3" name="Slide Number Placeholder 2">
            <a:extLst>
              <a:ext uri="{FF2B5EF4-FFF2-40B4-BE49-F238E27FC236}">
                <a16:creationId xmlns:a16="http://schemas.microsoft.com/office/drawing/2014/main" id="{44A9E604-4837-02DC-2EFB-B30EC9503F29}"/>
              </a:ext>
            </a:extLst>
          </p:cNvPr>
          <p:cNvSpPr>
            <a:spLocks noGrp="1"/>
          </p:cNvSpPr>
          <p:nvPr>
            <p:ph type="sldNum" sz="quarter" idx="12"/>
          </p:nvPr>
        </p:nvSpPr>
        <p:spPr/>
        <p:txBody>
          <a:bodyPr/>
          <a:lstStyle/>
          <a:p>
            <a:fld id="{A8D619E7-4118-4CE2-9D02-1AAE6DCE22A2}" type="slidenum">
              <a:rPr lang="en-US" smtClean="0"/>
              <a:t>26</a:t>
            </a:fld>
            <a:endParaRPr lang="en-US"/>
          </a:p>
        </p:txBody>
      </p:sp>
    </p:spTree>
    <p:extLst>
      <p:ext uri="{BB962C8B-B14F-4D97-AF65-F5344CB8AC3E}">
        <p14:creationId xmlns:p14="http://schemas.microsoft.com/office/powerpoint/2010/main" val="1591485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1EAA2-53A6-7E5D-2C6F-BE12C4819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A41A0F-A555-1AFD-34DA-AB69C9D9B499}"/>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Runaway Ferret</a:t>
            </a:r>
            <a:endParaRPr lang="en-US" dirty="0"/>
          </a:p>
        </p:txBody>
      </p:sp>
      <p:sp>
        <p:nvSpPr>
          <p:cNvPr id="7" name="TextBox 6">
            <a:extLst>
              <a:ext uri="{FF2B5EF4-FFF2-40B4-BE49-F238E27FC236}">
                <a16:creationId xmlns:a16="http://schemas.microsoft.com/office/drawing/2014/main" id="{C687A230-4672-F411-DB20-2108CADFAB4D}"/>
              </a:ext>
            </a:extLst>
          </p:cNvPr>
          <p:cNvSpPr txBox="1"/>
          <p:nvPr/>
        </p:nvSpPr>
        <p:spPr>
          <a:xfrm>
            <a:off x="838200" y="3870930"/>
            <a:ext cx="10199914" cy="1785104"/>
          </a:xfrm>
          <a:prstGeom prst="rect">
            <a:avLst/>
          </a:prstGeom>
          <a:noFill/>
        </p:spPr>
        <p:txBody>
          <a:bodyPr wrap="square" rtlCol="0">
            <a:spAutoFit/>
          </a:bodyPr>
          <a:lstStyle/>
          <a:p>
            <a:r>
              <a:rPr lang="en-US" sz="2200" i="1" dirty="0">
                <a:latin typeface="SourceSans3ExtraLight"/>
              </a:rPr>
              <a:t>Small. Fast. Impossible to keep in its enclosure.</a:t>
            </a:r>
          </a:p>
          <a:p>
            <a:endParaRPr lang="en-US" sz="2200" i="1" dirty="0">
              <a:latin typeface="SourceSans3ExtraLight"/>
            </a:endParaRPr>
          </a:p>
          <a:p>
            <a:r>
              <a:rPr lang="en-US" sz="2200" i="1" dirty="0">
                <a:latin typeface="SourceSans3ExtraLight"/>
              </a:rPr>
              <a:t>Slips out before feeding time ends…</a:t>
            </a:r>
          </a:p>
          <a:p>
            <a:endParaRPr lang="en-US" sz="2200" i="1" dirty="0">
              <a:latin typeface="SourceSans3ExtraLight"/>
            </a:endParaRPr>
          </a:p>
          <a:p>
            <a:r>
              <a:rPr lang="en-US" sz="2200" i="1" dirty="0">
                <a:latin typeface="SourceSans3ExtraLight"/>
              </a:rPr>
              <a:t>…and keeps chewing on variables that no longer exist</a:t>
            </a:r>
          </a:p>
        </p:txBody>
      </p:sp>
      <p:pic>
        <p:nvPicPr>
          <p:cNvPr id="5" name="Graphic 4">
            <a:extLst>
              <a:ext uri="{FF2B5EF4-FFF2-40B4-BE49-F238E27FC236}">
                <a16:creationId xmlns:a16="http://schemas.microsoft.com/office/drawing/2014/main" id="{1F8DC17F-8558-0AC9-F05A-9B30825E75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15431" y="480219"/>
            <a:ext cx="2743745" cy="1690688"/>
          </a:xfrm>
          <a:prstGeom prst="rect">
            <a:avLst/>
          </a:prstGeom>
        </p:spPr>
      </p:pic>
      <p:sp>
        <p:nvSpPr>
          <p:cNvPr id="3" name="Slide Number Placeholder 2">
            <a:extLst>
              <a:ext uri="{FF2B5EF4-FFF2-40B4-BE49-F238E27FC236}">
                <a16:creationId xmlns:a16="http://schemas.microsoft.com/office/drawing/2014/main" id="{B1E0F128-28BD-B2CF-F5D3-BA9925E9C444}"/>
              </a:ext>
            </a:extLst>
          </p:cNvPr>
          <p:cNvSpPr>
            <a:spLocks noGrp="1"/>
          </p:cNvSpPr>
          <p:nvPr>
            <p:ph type="sldNum" sz="quarter" idx="12"/>
          </p:nvPr>
        </p:nvSpPr>
        <p:spPr/>
        <p:txBody>
          <a:bodyPr/>
          <a:lstStyle/>
          <a:p>
            <a:fld id="{A8D619E7-4118-4CE2-9D02-1AAE6DCE22A2}" type="slidenum">
              <a:rPr lang="en-US" smtClean="0"/>
              <a:t>27</a:t>
            </a:fld>
            <a:endParaRPr lang="en-US"/>
          </a:p>
        </p:txBody>
      </p:sp>
    </p:spTree>
    <p:extLst>
      <p:ext uri="{BB962C8B-B14F-4D97-AF65-F5344CB8AC3E}">
        <p14:creationId xmlns:p14="http://schemas.microsoft.com/office/powerpoint/2010/main" val="11768423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8DAE-0740-8334-959C-0DF40F59FE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8214C-14C1-7199-28D9-7F8A98DABD90}"/>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Runaway Ferret</a:t>
            </a:r>
            <a:endParaRPr lang="en-US" dirty="0"/>
          </a:p>
        </p:txBody>
      </p:sp>
      <p:sp>
        <p:nvSpPr>
          <p:cNvPr id="3" name="Content Placeholder 2">
            <a:extLst>
              <a:ext uri="{FF2B5EF4-FFF2-40B4-BE49-F238E27FC236}">
                <a16:creationId xmlns:a16="http://schemas.microsoft.com/office/drawing/2014/main" id="{05E741A5-3284-95D8-0A75-334BF781731C}"/>
              </a:ext>
            </a:extLst>
          </p:cNvPr>
          <p:cNvSpPr>
            <a:spLocks noGrp="1"/>
          </p:cNvSpPr>
          <p:nvPr>
            <p:ph idx="1"/>
          </p:nvPr>
        </p:nvSpPr>
        <p:spPr>
          <a:xfrm>
            <a:off x="838199" y="1729931"/>
            <a:ext cx="8619067" cy="3346893"/>
          </a:xfrm>
        </p:spPr>
        <p:txBody>
          <a:bodyPr>
            <a:normAutofit/>
          </a:bodyPr>
          <a:lstStyle/>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manage_zoo</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string menu = </a:t>
            </a:r>
            <a:r>
              <a:rPr lang="en-US" sz="2200" dirty="0" err="1">
                <a:solidFill>
                  <a:schemeClr val="tx2">
                    <a:lumMod val="90000"/>
                    <a:lumOff val="10000"/>
                  </a:schemeClr>
                </a:solidFill>
                <a:latin typeface="SourceCodePro"/>
                <a:ea typeface="SourceCodePro"/>
              </a:rPr>
              <a:t>load_menu</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thread keeper([menu = </a:t>
            </a:r>
            <a:r>
              <a:rPr lang="en-US" sz="2200" dirty="0" err="1">
                <a:solidFill>
                  <a:schemeClr val="tx2">
                    <a:lumMod val="90000"/>
                    <a:lumOff val="10000"/>
                  </a:schemeClr>
                </a:solidFill>
                <a:latin typeface="SourceCodePro"/>
                <a:ea typeface="SourceCodePro"/>
              </a:rPr>
              <a:t>string_view</a:t>
            </a:r>
            <a:r>
              <a:rPr lang="en-US" sz="2200" dirty="0">
                <a:solidFill>
                  <a:schemeClr val="tx2">
                    <a:lumMod val="90000"/>
                    <a:lumOff val="10000"/>
                  </a:schemeClr>
                </a:solidFill>
                <a:latin typeface="SourceCodePro"/>
                <a:ea typeface="SourceCodePro"/>
              </a:rPr>
              <a:t>{menu}] {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follow_menu</a:t>
            </a:r>
            <a:r>
              <a:rPr lang="en-US" sz="2200" dirty="0">
                <a:solidFill>
                  <a:schemeClr val="tx2">
                    <a:lumMod val="90000"/>
                    <a:lumOff val="10000"/>
                  </a:schemeClr>
                </a:solidFill>
                <a:latin typeface="SourceCodePro"/>
                <a:ea typeface="SourceCodePro"/>
              </a:rPr>
              <a:t>(menu);  </a:t>
            </a:r>
          </a:p>
          <a:p>
            <a:pPr marL="0" indent="0">
              <a:buNone/>
            </a:pP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keeper.detach</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13" name="TextBox 12">
            <a:extLst>
              <a:ext uri="{FF2B5EF4-FFF2-40B4-BE49-F238E27FC236}">
                <a16:creationId xmlns:a16="http://schemas.microsoft.com/office/drawing/2014/main" id="{6030889A-D0CD-6053-9DAD-F5C837D3C8E1}"/>
              </a:ext>
            </a:extLst>
          </p:cNvPr>
          <p:cNvSpPr txBox="1"/>
          <p:nvPr/>
        </p:nvSpPr>
        <p:spPr>
          <a:xfrm>
            <a:off x="752475" y="5150245"/>
            <a:ext cx="11159067" cy="1107996"/>
          </a:xfrm>
          <a:prstGeom prst="rect">
            <a:avLst/>
          </a:prstGeom>
          <a:noFill/>
        </p:spPr>
        <p:txBody>
          <a:bodyPr wrap="square">
            <a:spAutoFit/>
          </a:bodyPr>
          <a:lstStyle/>
          <a:p>
            <a:r>
              <a:rPr lang="en-US" sz="2200" dirty="0"/>
              <a:t>The capture is by value. What escaped?</a:t>
            </a:r>
          </a:p>
          <a:p>
            <a:endParaRPr lang="en-US" sz="2200" dirty="0"/>
          </a:p>
          <a:p>
            <a:r>
              <a:rPr lang="en-US" sz="2200" dirty="0"/>
              <a:t>The lambda owns its </a:t>
            </a:r>
            <a:r>
              <a:rPr lang="en-US" sz="2200" dirty="0" err="1"/>
              <a:t>string_view</a:t>
            </a:r>
            <a:r>
              <a:rPr lang="en-US" sz="2200" dirty="0"/>
              <a:t> - it does not own the characters the view refers to.</a:t>
            </a:r>
          </a:p>
        </p:txBody>
      </p:sp>
      <p:pic>
        <p:nvPicPr>
          <p:cNvPr id="6" name="Graphic 5">
            <a:extLst>
              <a:ext uri="{FF2B5EF4-FFF2-40B4-BE49-F238E27FC236}">
                <a16:creationId xmlns:a16="http://schemas.microsoft.com/office/drawing/2014/main" id="{5F283EB2-3C98-A7D7-6BD7-6A0BD2DA8DE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15431" y="480219"/>
            <a:ext cx="2743745" cy="1690688"/>
          </a:xfrm>
          <a:prstGeom prst="rect">
            <a:avLst/>
          </a:prstGeom>
        </p:spPr>
      </p:pic>
      <p:sp>
        <p:nvSpPr>
          <p:cNvPr id="4" name="Slide Number Placeholder 3">
            <a:extLst>
              <a:ext uri="{FF2B5EF4-FFF2-40B4-BE49-F238E27FC236}">
                <a16:creationId xmlns:a16="http://schemas.microsoft.com/office/drawing/2014/main" id="{C34E7C15-7B46-A9E4-6805-87E9E42E4361}"/>
              </a:ext>
            </a:extLst>
          </p:cNvPr>
          <p:cNvSpPr>
            <a:spLocks noGrp="1"/>
          </p:cNvSpPr>
          <p:nvPr>
            <p:ph type="sldNum" sz="quarter" idx="12"/>
          </p:nvPr>
        </p:nvSpPr>
        <p:spPr/>
        <p:txBody>
          <a:bodyPr/>
          <a:lstStyle/>
          <a:p>
            <a:fld id="{A8D619E7-4118-4CE2-9D02-1AAE6DCE22A2}" type="slidenum">
              <a:rPr lang="en-US" smtClean="0"/>
              <a:t>28</a:t>
            </a:fld>
            <a:endParaRPr lang="en-US"/>
          </a:p>
        </p:txBody>
      </p:sp>
    </p:spTree>
    <p:extLst>
      <p:ext uri="{BB962C8B-B14F-4D97-AF65-F5344CB8AC3E}">
        <p14:creationId xmlns:p14="http://schemas.microsoft.com/office/powerpoint/2010/main" val="20304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F4EB7-1A24-FC24-4FE1-7A6B9A81E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BE049E-98F0-DCB2-8628-B1548A33FD44}"/>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Runaway Ferret</a:t>
            </a:r>
            <a:endParaRPr lang="en-US" dirty="0"/>
          </a:p>
        </p:txBody>
      </p:sp>
      <p:sp>
        <p:nvSpPr>
          <p:cNvPr id="9" name="TextBox 8">
            <a:extLst>
              <a:ext uri="{FF2B5EF4-FFF2-40B4-BE49-F238E27FC236}">
                <a16:creationId xmlns:a16="http://schemas.microsoft.com/office/drawing/2014/main" id="{84662C15-9902-8AE3-9D35-C7986D4EFFCF}"/>
              </a:ext>
            </a:extLst>
          </p:cNvPr>
          <p:cNvSpPr txBox="1"/>
          <p:nvPr/>
        </p:nvSpPr>
        <p:spPr>
          <a:xfrm>
            <a:off x="838200" y="5421297"/>
            <a:ext cx="10020300" cy="769441"/>
          </a:xfrm>
          <a:prstGeom prst="rect">
            <a:avLst/>
          </a:prstGeom>
          <a:noFill/>
        </p:spPr>
        <p:txBody>
          <a:bodyPr wrap="square">
            <a:spAutoFit/>
          </a:bodyPr>
          <a:lstStyle/>
          <a:p>
            <a:r>
              <a:rPr lang="en-US" sz="2200" dirty="0"/>
              <a:t>Capturing by value copies the object - not necessarily what it refers to.</a:t>
            </a:r>
          </a:p>
          <a:p>
            <a:r>
              <a:rPr lang="en-US" sz="2200" dirty="0"/>
              <a:t>Detach is what let the work outlive the menu and leads to </a:t>
            </a:r>
            <a:r>
              <a:rPr lang="en-US" sz="2200" b="1" dirty="0"/>
              <a:t>use-after-lifetime</a:t>
            </a:r>
            <a:r>
              <a:rPr lang="en-US" sz="2200" dirty="0"/>
              <a:t> UB</a:t>
            </a:r>
          </a:p>
        </p:txBody>
      </p:sp>
      <p:sp>
        <p:nvSpPr>
          <p:cNvPr id="10" name="TextBox 9">
            <a:extLst>
              <a:ext uri="{FF2B5EF4-FFF2-40B4-BE49-F238E27FC236}">
                <a16:creationId xmlns:a16="http://schemas.microsoft.com/office/drawing/2014/main" id="{A6CCE2EF-1735-EF6B-246F-A61DAF1DF5E4}"/>
              </a:ext>
            </a:extLst>
          </p:cNvPr>
          <p:cNvSpPr txBox="1"/>
          <p:nvPr/>
        </p:nvSpPr>
        <p:spPr>
          <a:xfrm>
            <a:off x="6493933" y="1564729"/>
            <a:ext cx="5698067" cy="3477875"/>
          </a:xfrm>
          <a:prstGeom prst="rect">
            <a:avLst/>
          </a:prstGeom>
          <a:noFill/>
        </p:spPr>
        <p:txBody>
          <a:bodyPr wrap="square">
            <a:spAutoFit/>
          </a:bodyPr>
          <a:lstStyle/>
          <a:p>
            <a:r>
              <a:rPr lang="en-US" sz="2200" dirty="0"/>
              <a:t>Possible outcomes:</a:t>
            </a:r>
          </a:p>
          <a:p>
            <a:endParaRPr lang="en-US" sz="2200" dirty="0"/>
          </a:p>
          <a:p>
            <a:pPr marL="342900" indent="-342900">
              <a:buFont typeface="Arial" panose="020B0604020202020204" pitchFamily="34" charset="0"/>
              <a:buChar char="•"/>
            </a:pPr>
            <a:r>
              <a:rPr lang="en-US" sz="2200" dirty="0"/>
              <a:t>An immediate crash when the late keeper follows the released menu</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The ferret bites whoever now lives at that address and hurts it</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The ferret eats whatever now lives at that address and gets sick</a:t>
            </a:r>
          </a:p>
        </p:txBody>
      </p:sp>
      <p:pic>
        <p:nvPicPr>
          <p:cNvPr id="6" name="Graphic 5">
            <a:extLst>
              <a:ext uri="{FF2B5EF4-FFF2-40B4-BE49-F238E27FC236}">
                <a16:creationId xmlns:a16="http://schemas.microsoft.com/office/drawing/2014/main" id="{EF1164AB-924C-991C-6535-CCC64BE137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33696" y="2242343"/>
            <a:ext cx="3796156" cy="2339181"/>
          </a:xfrm>
          <a:prstGeom prst="rect">
            <a:avLst/>
          </a:prstGeom>
        </p:spPr>
      </p:pic>
      <p:pic>
        <p:nvPicPr>
          <p:cNvPr id="11" name="Graphic 10">
            <a:extLst>
              <a:ext uri="{FF2B5EF4-FFF2-40B4-BE49-F238E27FC236}">
                <a16:creationId xmlns:a16="http://schemas.microsoft.com/office/drawing/2014/main" id="{D11CBE85-1596-883D-1E1E-D26C19B80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8683909">
            <a:off x="1375550" y="3521099"/>
            <a:ext cx="1024155" cy="1069946"/>
          </a:xfrm>
          <a:prstGeom prst="rect">
            <a:avLst/>
          </a:prstGeom>
        </p:spPr>
      </p:pic>
      <p:sp>
        <p:nvSpPr>
          <p:cNvPr id="3" name="Slide Number Placeholder 2">
            <a:extLst>
              <a:ext uri="{FF2B5EF4-FFF2-40B4-BE49-F238E27FC236}">
                <a16:creationId xmlns:a16="http://schemas.microsoft.com/office/drawing/2014/main" id="{A386265B-D37A-B124-6BA4-C4009004DEB3}"/>
              </a:ext>
            </a:extLst>
          </p:cNvPr>
          <p:cNvSpPr>
            <a:spLocks noGrp="1"/>
          </p:cNvSpPr>
          <p:nvPr>
            <p:ph type="sldNum" sz="quarter" idx="12"/>
          </p:nvPr>
        </p:nvSpPr>
        <p:spPr/>
        <p:txBody>
          <a:bodyPr/>
          <a:lstStyle/>
          <a:p>
            <a:fld id="{A8D619E7-4118-4CE2-9D02-1AAE6DCE22A2}" type="slidenum">
              <a:rPr lang="en-US" smtClean="0"/>
              <a:t>29</a:t>
            </a:fld>
            <a:endParaRPr lang="en-US"/>
          </a:p>
        </p:txBody>
      </p:sp>
    </p:spTree>
    <p:extLst>
      <p:ext uri="{BB962C8B-B14F-4D97-AF65-F5344CB8AC3E}">
        <p14:creationId xmlns:p14="http://schemas.microsoft.com/office/powerpoint/2010/main" val="365872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9C94D-E011-D4AB-E6C6-3B8388AC46B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1281E1-C232-09E9-4ABB-EEFF530D96E6}"/>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D6AE8E3E-E112-BABD-53FA-9B3BF9248059}"/>
              </a:ext>
            </a:extLst>
          </p:cNvPr>
          <p:cNvSpPr txBox="1">
            <a:spLocks/>
          </p:cNvSpPr>
          <p:nvPr/>
        </p:nvSpPr>
        <p:spPr>
          <a:xfrm>
            <a:off x="6206071" y="541867"/>
            <a:ext cx="5825061" cy="5635096"/>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manage_zoo</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string menu = </a:t>
            </a:r>
            <a:r>
              <a:rPr lang="en-US" sz="2200" dirty="0" err="1">
                <a:solidFill>
                  <a:schemeClr val="tx2">
                    <a:lumMod val="90000"/>
                    <a:lumOff val="10000"/>
                  </a:schemeClr>
                </a:solidFill>
                <a:latin typeface="SourceCodePro"/>
                <a:ea typeface="SourceCodePro"/>
              </a:rPr>
              <a:t>load_menu</a:t>
            </a: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keeper([menu = move(menu)]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follow_menu</a:t>
            </a:r>
            <a:r>
              <a:rPr lang="en-US" sz="2200" dirty="0">
                <a:solidFill>
                  <a:schemeClr val="tx2">
                    <a:lumMod val="90000"/>
                    <a:lumOff val="10000"/>
                  </a:schemeClr>
                </a:solidFill>
                <a:latin typeface="SourceCodePro"/>
                <a:ea typeface="SourceCodePro"/>
              </a:rPr>
              <a:t>(menu);</a:t>
            </a:r>
          </a:p>
          <a:p>
            <a:pPr marL="0" indent="0">
              <a:buNone/>
            </a:pPr>
            <a:r>
              <a:rPr lang="en-US" sz="2200" dirty="0">
                <a:solidFill>
                  <a:schemeClr val="tx2">
                    <a:lumMod val="90000"/>
                    <a:lumOff val="10000"/>
                  </a:schemeClr>
                </a:solidFill>
                <a:latin typeface="SourceCodePro"/>
                <a:ea typeface="SourceCodePro"/>
              </a:rPr>
              <a:t>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menu = </a:t>
            </a:r>
            <a:r>
              <a:rPr lang="en-US" sz="2200" dirty="0" err="1">
                <a:solidFill>
                  <a:schemeClr val="tx2">
                    <a:lumMod val="90000"/>
                    <a:lumOff val="10000"/>
                  </a:schemeClr>
                </a:solidFill>
                <a:latin typeface="SourceCodePro"/>
                <a:ea typeface="SourceCodePro"/>
              </a:rPr>
              <a:t>prepare_tomorrow_menu</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DF8051CA-E9AC-D7DC-ACFC-BA515FDD99DA}"/>
              </a:ext>
            </a:extLst>
          </p:cNvPr>
          <p:cNvSpPr txBox="1"/>
          <p:nvPr/>
        </p:nvSpPr>
        <p:spPr>
          <a:xfrm>
            <a:off x="1515533" y="465593"/>
            <a:ext cx="3191933" cy="430887"/>
          </a:xfrm>
          <a:prstGeom prst="rect">
            <a:avLst/>
          </a:prstGeom>
          <a:noFill/>
        </p:spPr>
        <p:txBody>
          <a:bodyPr wrap="square">
            <a:spAutoFit/>
          </a:bodyPr>
          <a:lstStyle/>
          <a:p>
            <a:r>
              <a:rPr lang="en-US" sz="2200" b="1" dirty="0"/>
              <a:t>The Runaway Ferret</a:t>
            </a:r>
            <a:endParaRPr lang="en-US" b="1" dirty="0"/>
          </a:p>
        </p:txBody>
      </p:sp>
      <p:sp>
        <p:nvSpPr>
          <p:cNvPr id="7" name="TextBox 6">
            <a:extLst>
              <a:ext uri="{FF2B5EF4-FFF2-40B4-BE49-F238E27FC236}">
                <a16:creationId xmlns:a16="http://schemas.microsoft.com/office/drawing/2014/main" id="{E25D9AF0-971C-3E71-4856-DCE74E1874BA}"/>
              </a:ext>
            </a:extLst>
          </p:cNvPr>
          <p:cNvSpPr txBox="1"/>
          <p:nvPr/>
        </p:nvSpPr>
        <p:spPr>
          <a:xfrm>
            <a:off x="6206071" y="5275350"/>
            <a:ext cx="6096000" cy="769441"/>
          </a:xfrm>
          <a:prstGeom prst="rect">
            <a:avLst/>
          </a:prstGeom>
          <a:noFill/>
        </p:spPr>
        <p:txBody>
          <a:bodyPr wrap="square">
            <a:spAutoFit/>
          </a:bodyPr>
          <a:lstStyle/>
          <a:p>
            <a:r>
              <a:rPr lang="en-US" sz="2200" dirty="0"/>
              <a:t>The lambda owns the string. </a:t>
            </a:r>
          </a:p>
          <a:p>
            <a:r>
              <a:rPr lang="en-US" sz="2200" dirty="0"/>
              <a:t>The </a:t>
            </a:r>
            <a:r>
              <a:rPr lang="en-US" sz="2200" dirty="0" err="1"/>
              <a:t>jthread</a:t>
            </a:r>
            <a:r>
              <a:rPr lang="en-US" sz="2200" dirty="0"/>
              <a:t> owns and joins the execution.</a:t>
            </a:r>
          </a:p>
        </p:txBody>
      </p:sp>
      <p:pic>
        <p:nvPicPr>
          <p:cNvPr id="4" name="Graphic 3">
            <a:extLst>
              <a:ext uri="{FF2B5EF4-FFF2-40B4-BE49-F238E27FC236}">
                <a16:creationId xmlns:a16="http://schemas.microsoft.com/office/drawing/2014/main" id="{7AFCFB09-516E-41EC-05E3-33496B4340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39626" y="1443828"/>
            <a:ext cx="2743745" cy="1690688"/>
          </a:xfrm>
          <a:prstGeom prst="rect">
            <a:avLst/>
          </a:prstGeom>
        </p:spPr>
      </p:pic>
      <p:sp>
        <p:nvSpPr>
          <p:cNvPr id="9" name="TextBox 8">
            <a:extLst>
              <a:ext uri="{FF2B5EF4-FFF2-40B4-BE49-F238E27FC236}">
                <a16:creationId xmlns:a16="http://schemas.microsoft.com/office/drawing/2014/main" id="{2B444D06-844B-2DF9-5781-DD94027E75EB}"/>
              </a:ext>
            </a:extLst>
          </p:cNvPr>
          <p:cNvSpPr txBox="1"/>
          <p:nvPr/>
        </p:nvSpPr>
        <p:spPr>
          <a:xfrm>
            <a:off x="1229352" y="3541034"/>
            <a:ext cx="4003048" cy="707886"/>
          </a:xfrm>
          <a:prstGeom prst="rect">
            <a:avLst/>
          </a:prstGeom>
          <a:noFill/>
        </p:spPr>
        <p:txBody>
          <a:bodyPr wrap="square">
            <a:spAutoFit/>
          </a:bodyPr>
          <a:lstStyle/>
          <a:p>
            <a:r>
              <a:rPr lang="en-US" sz="2000" dirty="0"/>
              <a:t>detach(), </a:t>
            </a:r>
            <a:r>
              <a:rPr lang="en-US" sz="2000" dirty="0" err="1"/>
              <a:t>string_view</a:t>
            </a:r>
            <a:r>
              <a:rPr lang="en-US" sz="2000" dirty="0"/>
              <a:t>, span, iterators, fire-and-forget tasks</a:t>
            </a:r>
          </a:p>
        </p:txBody>
      </p:sp>
      <p:sp>
        <p:nvSpPr>
          <p:cNvPr id="13" name="TextBox 12">
            <a:extLst>
              <a:ext uri="{FF2B5EF4-FFF2-40B4-BE49-F238E27FC236}">
                <a16:creationId xmlns:a16="http://schemas.microsoft.com/office/drawing/2014/main" id="{904EEA2C-F491-45AE-CF21-CB5890E660CF}"/>
              </a:ext>
            </a:extLst>
          </p:cNvPr>
          <p:cNvSpPr txBox="1"/>
          <p:nvPr/>
        </p:nvSpPr>
        <p:spPr>
          <a:xfrm>
            <a:off x="1229352" y="4265854"/>
            <a:ext cx="4003048" cy="707886"/>
          </a:xfrm>
          <a:prstGeom prst="rect">
            <a:avLst/>
          </a:prstGeom>
          <a:noFill/>
        </p:spPr>
        <p:txBody>
          <a:bodyPr wrap="square">
            <a:spAutoFit/>
          </a:bodyPr>
          <a:lstStyle/>
          <a:p>
            <a:r>
              <a:rPr lang="en-US" sz="2000" dirty="0"/>
              <a:t>reads through a copied borrower after its owner is gone</a:t>
            </a:r>
          </a:p>
        </p:txBody>
      </p:sp>
      <p:sp>
        <p:nvSpPr>
          <p:cNvPr id="16" name="TextBox 15">
            <a:extLst>
              <a:ext uri="{FF2B5EF4-FFF2-40B4-BE49-F238E27FC236}">
                <a16:creationId xmlns:a16="http://schemas.microsoft.com/office/drawing/2014/main" id="{9F6BB426-35F8-8C59-F607-0790B383D61F}"/>
              </a:ext>
            </a:extLst>
          </p:cNvPr>
          <p:cNvSpPr txBox="1"/>
          <p:nvPr/>
        </p:nvSpPr>
        <p:spPr>
          <a:xfrm>
            <a:off x="1229352" y="5690439"/>
            <a:ext cx="4428074" cy="707886"/>
          </a:xfrm>
          <a:prstGeom prst="rect">
            <a:avLst/>
          </a:prstGeom>
          <a:noFill/>
        </p:spPr>
        <p:txBody>
          <a:bodyPr wrap="square">
            <a:spAutoFit/>
          </a:bodyPr>
          <a:lstStyle/>
          <a:p>
            <a:r>
              <a:rPr lang="en-US" sz="2000" dirty="0"/>
              <a:t>give every thread an owner; </a:t>
            </a:r>
          </a:p>
          <a:p>
            <a:r>
              <a:rPr lang="en-US" sz="2000" dirty="0"/>
              <a:t>capture owning data</a:t>
            </a:r>
          </a:p>
        </p:txBody>
      </p:sp>
      <p:sp>
        <p:nvSpPr>
          <p:cNvPr id="19" name="TextBox 18">
            <a:extLst>
              <a:ext uri="{FF2B5EF4-FFF2-40B4-BE49-F238E27FC236}">
                <a16:creationId xmlns:a16="http://schemas.microsoft.com/office/drawing/2014/main" id="{C0F11D82-B003-2A78-2E38-C326FA9131D5}"/>
              </a:ext>
            </a:extLst>
          </p:cNvPr>
          <p:cNvSpPr txBox="1"/>
          <p:nvPr/>
        </p:nvSpPr>
        <p:spPr>
          <a:xfrm>
            <a:off x="1229352" y="4965273"/>
            <a:ext cx="4428074" cy="707886"/>
          </a:xfrm>
          <a:prstGeom prst="rect">
            <a:avLst/>
          </a:prstGeom>
          <a:noFill/>
        </p:spPr>
        <p:txBody>
          <a:bodyPr wrap="square">
            <a:spAutoFit/>
          </a:bodyPr>
          <a:lstStyle/>
          <a:p>
            <a:r>
              <a:rPr lang="en-US" sz="2000" dirty="0"/>
              <a:t>the capture by value and the background work finishes quickly</a:t>
            </a:r>
          </a:p>
        </p:txBody>
      </p:sp>
      <p:sp>
        <p:nvSpPr>
          <p:cNvPr id="2" name="Slide Number Placeholder 1">
            <a:extLst>
              <a:ext uri="{FF2B5EF4-FFF2-40B4-BE49-F238E27FC236}">
                <a16:creationId xmlns:a16="http://schemas.microsoft.com/office/drawing/2014/main" id="{A720DA67-7A55-A1E8-6C65-EEF41A2DDEE4}"/>
              </a:ext>
            </a:extLst>
          </p:cNvPr>
          <p:cNvSpPr>
            <a:spLocks noGrp="1"/>
          </p:cNvSpPr>
          <p:nvPr>
            <p:ph type="sldNum" sz="quarter" idx="12"/>
          </p:nvPr>
        </p:nvSpPr>
        <p:spPr/>
        <p:txBody>
          <a:bodyPr/>
          <a:lstStyle/>
          <a:p>
            <a:fld id="{A8D619E7-4118-4CE2-9D02-1AAE6DCE22A2}" type="slidenum">
              <a:rPr lang="en-US" smtClean="0"/>
              <a:t>30</a:t>
            </a:fld>
            <a:endParaRPr lang="en-US"/>
          </a:p>
        </p:txBody>
      </p:sp>
    </p:spTree>
    <p:extLst>
      <p:ext uri="{BB962C8B-B14F-4D97-AF65-F5344CB8AC3E}">
        <p14:creationId xmlns:p14="http://schemas.microsoft.com/office/powerpoint/2010/main" val="1855997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xEl>
                                              <p:pRg st="7" end="7"/>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5" presetClass="emph" presetSubtype="0" nodeType="clickEffect">
                                  <p:stCondLst>
                                    <p:cond delay="0"/>
                                  </p:stCondLst>
                                  <p:endCondLst>
                                    <p:cond evt="onNext" delay="0">
                                      <p:tgtEl>
                                        <p:sldTgt/>
                                      </p:tgtEl>
                                    </p:cond>
                                  </p:endCondLst>
                                  <p:childTnLst>
                                    <p:set>
                                      <p:cBhvr override="childStyle">
                                        <p:cTn id="38" dur="indefinite"/>
                                        <p:tgtEl>
                                          <p:spTgt spid="22">
                                            <p:txEl>
                                              <p:pRg st="3" end="3"/>
                                            </p:txEl>
                                          </p:spTgt>
                                        </p:tgtEl>
                                        <p:attrNameLst>
                                          <p:attrName>style.fontWeight</p:attrName>
                                        </p:attrNameLst>
                                      </p:cBhvr>
                                      <p:to>
                                        <p:strVal val="bold"/>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3" grpId="0"/>
      <p:bldP spid="16" grpId="0"/>
      <p:bldP spid="1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DE8F9-396F-2BB6-E93E-B1D0EAA6D6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9094BD-5E25-529D-F9D7-EDAC7ADC432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Entitled Wolf</a:t>
            </a:r>
            <a:endParaRPr lang="en-US" dirty="0"/>
          </a:p>
        </p:txBody>
      </p:sp>
      <p:sp>
        <p:nvSpPr>
          <p:cNvPr id="7" name="TextBox 6">
            <a:extLst>
              <a:ext uri="{FF2B5EF4-FFF2-40B4-BE49-F238E27FC236}">
                <a16:creationId xmlns:a16="http://schemas.microsoft.com/office/drawing/2014/main" id="{59FA9735-9449-B6CF-84A5-F5F50B9732FC}"/>
              </a:ext>
            </a:extLst>
          </p:cNvPr>
          <p:cNvSpPr txBox="1"/>
          <p:nvPr/>
        </p:nvSpPr>
        <p:spPr>
          <a:xfrm>
            <a:off x="838200" y="3331290"/>
            <a:ext cx="10199914" cy="3139321"/>
          </a:xfrm>
          <a:prstGeom prst="rect">
            <a:avLst/>
          </a:prstGeom>
          <a:noFill/>
        </p:spPr>
        <p:txBody>
          <a:bodyPr wrap="square" rtlCol="0">
            <a:spAutoFit/>
          </a:bodyPr>
          <a:lstStyle/>
          <a:p>
            <a:r>
              <a:rPr lang="en-US" sz="2200" i="1" dirty="0">
                <a:latin typeface="SourceSans3ExtraLight"/>
              </a:rPr>
              <a:t>Possessive. Patient. Never lets go.</a:t>
            </a:r>
          </a:p>
          <a:p>
            <a:endParaRPr lang="en-US" sz="2200" i="1" dirty="0">
              <a:latin typeface="SourceSans3ExtraLight"/>
            </a:endParaRPr>
          </a:p>
          <a:p>
            <a:r>
              <a:rPr lang="en-US" sz="2200" i="1" dirty="0">
                <a:latin typeface="SourceSans3ExtraLight"/>
              </a:rPr>
              <a:t>Reserves a place at the keeper's table and keeps it forever.</a:t>
            </a:r>
          </a:p>
          <a:p>
            <a:endParaRPr lang="en-US" sz="2200" i="1" dirty="0">
              <a:latin typeface="SourceSans3ExtraLight"/>
            </a:endParaRPr>
          </a:p>
          <a:p>
            <a:r>
              <a:rPr lang="en-US" sz="2200" i="1" dirty="0">
                <a:latin typeface="SourceSans3ExtraLight"/>
              </a:rPr>
              <a:t>The wolf is long gone.</a:t>
            </a:r>
          </a:p>
          <a:p>
            <a:endParaRPr lang="en-US" sz="2200" i="1" dirty="0">
              <a:latin typeface="SourceSans3ExtraLight"/>
            </a:endParaRPr>
          </a:p>
          <a:p>
            <a:r>
              <a:rPr lang="en-US" sz="2200" i="1" dirty="0">
                <a:latin typeface="SourceSans3ExtraLight"/>
              </a:rPr>
              <a:t>The table belongs to someone else now.</a:t>
            </a:r>
          </a:p>
          <a:p>
            <a:endParaRPr lang="en-US" sz="2200" i="1" dirty="0">
              <a:latin typeface="SourceSans3ExtraLight"/>
            </a:endParaRPr>
          </a:p>
          <a:p>
            <a:r>
              <a:rPr lang="en-US" sz="2200" i="1" dirty="0">
                <a:latin typeface="SourceSans3ExtraLight"/>
              </a:rPr>
              <a:t>Still, the keeper sets out its meal.</a:t>
            </a:r>
          </a:p>
        </p:txBody>
      </p:sp>
      <p:pic>
        <p:nvPicPr>
          <p:cNvPr id="4" name="Graphic 3">
            <a:extLst>
              <a:ext uri="{FF2B5EF4-FFF2-40B4-BE49-F238E27FC236}">
                <a16:creationId xmlns:a16="http://schemas.microsoft.com/office/drawing/2014/main" id="{010A9E4D-BB71-ADDA-994D-8898DD7450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01099" y="493156"/>
            <a:ext cx="2787199" cy="2123044"/>
          </a:xfrm>
          <a:prstGeom prst="rect">
            <a:avLst/>
          </a:prstGeom>
        </p:spPr>
      </p:pic>
      <p:sp>
        <p:nvSpPr>
          <p:cNvPr id="3" name="Slide Number Placeholder 2">
            <a:extLst>
              <a:ext uri="{FF2B5EF4-FFF2-40B4-BE49-F238E27FC236}">
                <a16:creationId xmlns:a16="http://schemas.microsoft.com/office/drawing/2014/main" id="{A7A7AFA6-2CDA-E1AE-1AD6-0C54CF6B1223}"/>
              </a:ext>
            </a:extLst>
          </p:cNvPr>
          <p:cNvSpPr>
            <a:spLocks noGrp="1"/>
          </p:cNvSpPr>
          <p:nvPr>
            <p:ph type="sldNum" sz="quarter" idx="12"/>
          </p:nvPr>
        </p:nvSpPr>
        <p:spPr/>
        <p:txBody>
          <a:bodyPr/>
          <a:lstStyle/>
          <a:p>
            <a:fld id="{A8D619E7-4118-4CE2-9D02-1AAE6DCE22A2}" type="slidenum">
              <a:rPr lang="en-US" smtClean="0"/>
              <a:t>31</a:t>
            </a:fld>
            <a:endParaRPr lang="en-US"/>
          </a:p>
        </p:txBody>
      </p:sp>
    </p:spTree>
    <p:extLst>
      <p:ext uri="{BB962C8B-B14F-4D97-AF65-F5344CB8AC3E}">
        <p14:creationId xmlns:p14="http://schemas.microsoft.com/office/powerpoint/2010/main" val="37370792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F723B-B445-004D-56C9-477E1BBCD1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6B5A16-B03A-6840-00BB-2E3B73E0CD23}"/>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Entitled Wolf</a:t>
            </a:r>
            <a:endParaRPr lang="en-US" dirty="0"/>
          </a:p>
        </p:txBody>
      </p:sp>
      <p:sp>
        <p:nvSpPr>
          <p:cNvPr id="3" name="Content Placeholder 2">
            <a:extLst>
              <a:ext uri="{FF2B5EF4-FFF2-40B4-BE49-F238E27FC236}">
                <a16:creationId xmlns:a16="http://schemas.microsoft.com/office/drawing/2014/main" id="{958A751F-AB8C-394B-046E-FD7AF156AD25}"/>
              </a:ext>
            </a:extLst>
          </p:cNvPr>
          <p:cNvSpPr>
            <a:spLocks noGrp="1"/>
          </p:cNvSpPr>
          <p:nvPr>
            <p:ph idx="1"/>
          </p:nvPr>
        </p:nvSpPr>
        <p:spPr>
          <a:xfrm>
            <a:off x="838199" y="1690688"/>
            <a:ext cx="8619067" cy="3519487"/>
          </a:xfrm>
        </p:spPr>
        <p:txBody>
          <a:bodyPr>
            <a:normAutofit/>
          </a:bodyPr>
          <a:lstStyle/>
          <a:p>
            <a:pPr marL="0" indent="0">
              <a:buNone/>
            </a:pPr>
            <a:r>
              <a:rPr lang="en-US" sz="2200" dirty="0" err="1">
                <a:solidFill>
                  <a:schemeClr val="tx2">
                    <a:lumMod val="90000"/>
                    <a:lumOff val="10000"/>
                  </a:schemeClr>
                </a:solidFill>
                <a:latin typeface="SourceCodePro"/>
                <a:ea typeface="SourceCodePro"/>
              </a:rPr>
              <a:t>food_tray</a:t>
            </a:r>
            <a:r>
              <a:rPr lang="en-US" sz="2200" dirty="0">
                <a:solidFill>
                  <a:schemeClr val="tx2">
                    <a:lumMod val="90000"/>
                    <a:lumOff val="10000"/>
                  </a:schemeClr>
                </a:solidFill>
                <a:latin typeface="SourceCodePro"/>
                <a:ea typeface="SourceCodePro"/>
              </a:rPr>
              <a:t> tray;</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wolfs::open(zoo&amp; owner)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owner.on_feeding_time</a:t>
            </a:r>
            <a:r>
              <a:rPr lang="en-US" sz="2200" dirty="0">
                <a:solidFill>
                  <a:schemeClr val="tx2">
                    <a:lumMod val="90000"/>
                    <a:lumOff val="10000"/>
                  </a:schemeClr>
                </a:solidFill>
                <a:latin typeface="SourceCodePro"/>
                <a:ea typeface="SourceCodePro"/>
              </a:rPr>
              <a:t>([this] {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tray.refill</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prepare_wolf_meal</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a:t>
            </a:r>
          </a:p>
        </p:txBody>
      </p:sp>
      <p:sp>
        <p:nvSpPr>
          <p:cNvPr id="13" name="TextBox 12">
            <a:extLst>
              <a:ext uri="{FF2B5EF4-FFF2-40B4-BE49-F238E27FC236}">
                <a16:creationId xmlns:a16="http://schemas.microsoft.com/office/drawing/2014/main" id="{7C2EC2BE-2257-13C8-D0AE-A2D2D00B05E1}"/>
              </a:ext>
            </a:extLst>
          </p:cNvPr>
          <p:cNvSpPr txBox="1"/>
          <p:nvPr/>
        </p:nvSpPr>
        <p:spPr>
          <a:xfrm>
            <a:off x="838200" y="5284654"/>
            <a:ext cx="11159067" cy="1446550"/>
          </a:xfrm>
          <a:prstGeom prst="rect">
            <a:avLst/>
          </a:prstGeom>
          <a:noFill/>
        </p:spPr>
        <p:txBody>
          <a:bodyPr wrap="square">
            <a:spAutoFit/>
          </a:bodyPr>
          <a:lstStyle/>
          <a:p>
            <a:r>
              <a:rPr lang="en-US" sz="2200" dirty="0"/>
              <a:t>The wolf enclosure registers for the next feeding time</a:t>
            </a:r>
          </a:p>
          <a:p>
            <a:endParaRPr lang="en-US" sz="2200" dirty="0"/>
          </a:p>
          <a:p>
            <a:r>
              <a:rPr lang="en-US" sz="2200" dirty="0"/>
              <a:t>The enclosure closes. The zoo still remembers the callback and its address.</a:t>
            </a:r>
          </a:p>
          <a:p>
            <a:endParaRPr lang="en-US" sz="2200" dirty="0"/>
          </a:p>
        </p:txBody>
      </p:sp>
      <p:pic>
        <p:nvPicPr>
          <p:cNvPr id="5" name="Graphic 4">
            <a:extLst>
              <a:ext uri="{FF2B5EF4-FFF2-40B4-BE49-F238E27FC236}">
                <a16:creationId xmlns:a16="http://schemas.microsoft.com/office/drawing/2014/main" id="{712A24D0-DFFB-0C83-109F-38ACDCF407E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01099" y="493156"/>
            <a:ext cx="2787199" cy="2123044"/>
          </a:xfrm>
          <a:prstGeom prst="rect">
            <a:avLst/>
          </a:prstGeom>
        </p:spPr>
      </p:pic>
      <p:sp>
        <p:nvSpPr>
          <p:cNvPr id="4" name="Slide Number Placeholder 3">
            <a:extLst>
              <a:ext uri="{FF2B5EF4-FFF2-40B4-BE49-F238E27FC236}">
                <a16:creationId xmlns:a16="http://schemas.microsoft.com/office/drawing/2014/main" id="{85818E94-3238-F63C-967D-F8595445AFC3}"/>
              </a:ext>
            </a:extLst>
          </p:cNvPr>
          <p:cNvSpPr>
            <a:spLocks noGrp="1"/>
          </p:cNvSpPr>
          <p:nvPr>
            <p:ph type="sldNum" sz="quarter" idx="12"/>
          </p:nvPr>
        </p:nvSpPr>
        <p:spPr/>
        <p:txBody>
          <a:bodyPr/>
          <a:lstStyle/>
          <a:p>
            <a:fld id="{A8D619E7-4118-4CE2-9D02-1AAE6DCE22A2}" type="slidenum">
              <a:rPr lang="en-US" smtClean="0"/>
              <a:t>32</a:t>
            </a:fld>
            <a:endParaRPr lang="en-US"/>
          </a:p>
        </p:txBody>
      </p:sp>
    </p:spTree>
    <p:extLst>
      <p:ext uri="{BB962C8B-B14F-4D97-AF65-F5344CB8AC3E}">
        <p14:creationId xmlns:p14="http://schemas.microsoft.com/office/powerpoint/2010/main" val="1282255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83C84-2E20-FCEE-0C90-25AE8B4F2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3CD7B4-31D2-00AA-80B5-0CCB4B924EA0}"/>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Entitled Wolf</a:t>
            </a:r>
            <a:endParaRPr lang="en-US" dirty="0"/>
          </a:p>
        </p:txBody>
      </p:sp>
      <p:sp>
        <p:nvSpPr>
          <p:cNvPr id="9" name="TextBox 8">
            <a:extLst>
              <a:ext uri="{FF2B5EF4-FFF2-40B4-BE49-F238E27FC236}">
                <a16:creationId xmlns:a16="http://schemas.microsoft.com/office/drawing/2014/main" id="{0642F80F-982E-C9E2-4274-4CB9DD0AEAF2}"/>
              </a:ext>
            </a:extLst>
          </p:cNvPr>
          <p:cNvSpPr txBox="1"/>
          <p:nvPr/>
        </p:nvSpPr>
        <p:spPr>
          <a:xfrm>
            <a:off x="838200" y="5421297"/>
            <a:ext cx="6731000" cy="769441"/>
          </a:xfrm>
          <a:prstGeom prst="rect">
            <a:avLst/>
          </a:prstGeom>
          <a:noFill/>
        </p:spPr>
        <p:txBody>
          <a:bodyPr wrap="square">
            <a:spAutoFit/>
          </a:bodyPr>
          <a:lstStyle/>
          <a:p>
            <a:r>
              <a:rPr lang="en-US" sz="2200" dirty="0"/>
              <a:t>The callback holds a </a:t>
            </a:r>
            <a:r>
              <a:rPr lang="en-US" sz="2200" b="1" dirty="0"/>
              <a:t>dangling this pointer</a:t>
            </a:r>
            <a:r>
              <a:rPr lang="en-US" sz="2200" dirty="0"/>
              <a:t>.</a:t>
            </a:r>
          </a:p>
          <a:p>
            <a:r>
              <a:rPr lang="en-US" sz="2200" dirty="0"/>
              <a:t>Using it is </a:t>
            </a:r>
            <a:r>
              <a:rPr lang="en-US" sz="2200" b="1" dirty="0"/>
              <a:t>use-after-lifetime</a:t>
            </a:r>
            <a:r>
              <a:rPr lang="en-US" sz="2200" dirty="0"/>
              <a:t> and undefined behavior.</a:t>
            </a:r>
          </a:p>
        </p:txBody>
      </p:sp>
      <p:sp>
        <p:nvSpPr>
          <p:cNvPr id="10" name="TextBox 9">
            <a:extLst>
              <a:ext uri="{FF2B5EF4-FFF2-40B4-BE49-F238E27FC236}">
                <a16:creationId xmlns:a16="http://schemas.microsoft.com/office/drawing/2014/main" id="{0E55DF78-0234-176B-0789-254F8705F153}"/>
              </a:ext>
            </a:extLst>
          </p:cNvPr>
          <p:cNvSpPr txBox="1"/>
          <p:nvPr/>
        </p:nvSpPr>
        <p:spPr>
          <a:xfrm>
            <a:off x="6493933" y="1564729"/>
            <a:ext cx="5698067" cy="3477875"/>
          </a:xfrm>
          <a:prstGeom prst="rect">
            <a:avLst/>
          </a:prstGeom>
          <a:noFill/>
        </p:spPr>
        <p:txBody>
          <a:bodyPr wrap="square">
            <a:spAutoFit/>
          </a:bodyPr>
          <a:lstStyle/>
          <a:p>
            <a:r>
              <a:rPr lang="en-US" sz="2200" dirty="0"/>
              <a:t>Possible outcomes:</a:t>
            </a:r>
          </a:p>
          <a:p>
            <a:endParaRPr lang="en-US" sz="2200" dirty="0"/>
          </a:p>
          <a:p>
            <a:pPr marL="342900" indent="-342900">
              <a:buFont typeface="Arial" panose="020B0604020202020204" pitchFamily="34" charset="0"/>
              <a:buChar char="•"/>
            </a:pPr>
            <a:r>
              <a:rPr lang="en-US" sz="2200" dirty="0"/>
              <a:t>An immediate crash when the callback follows the dangling address</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A wolf meal poured into the new balloon stand</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The balloon stand crashes later because one of its fields was corrupted</a:t>
            </a:r>
          </a:p>
        </p:txBody>
      </p:sp>
      <p:pic>
        <p:nvPicPr>
          <p:cNvPr id="8" name="Graphic 7">
            <a:extLst>
              <a:ext uri="{FF2B5EF4-FFF2-40B4-BE49-F238E27FC236}">
                <a16:creationId xmlns:a16="http://schemas.microsoft.com/office/drawing/2014/main" id="{7071E0BA-C924-6C2F-F676-F9707E1687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50344" y="1564729"/>
            <a:ext cx="2140464" cy="2843759"/>
          </a:xfrm>
          <a:prstGeom prst="rect">
            <a:avLst/>
          </a:prstGeom>
        </p:spPr>
      </p:pic>
      <p:pic>
        <p:nvPicPr>
          <p:cNvPr id="4" name="Graphic 3">
            <a:extLst>
              <a:ext uri="{FF2B5EF4-FFF2-40B4-BE49-F238E27FC236}">
                <a16:creationId xmlns:a16="http://schemas.microsoft.com/office/drawing/2014/main" id="{F75ADB62-4CB5-1340-4D03-36C7458A93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043" y="2631753"/>
            <a:ext cx="2705100" cy="1814571"/>
          </a:xfrm>
          <a:prstGeom prst="rect">
            <a:avLst/>
          </a:prstGeom>
        </p:spPr>
      </p:pic>
      <p:sp>
        <p:nvSpPr>
          <p:cNvPr id="3" name="Slide Number Placeholder 2">
            <a:extLst>
              <a:ext uri="{FF2B5EF4-FFF2-40B4-BE49-F238E27FC236}">
                <a16:creationId xmlns:a16="http://schemas.microsoft.com/office/drawing/2014/main" id="{3BE0B3F8-F79F-7178-5E9B-EEF3F831159A}"/>
              </a:ext>
            </a:extLst>
          </p:cNvPr>
          <p:cNvSpPr>
            <a:spLocks noGrp="1"/>
          </p:cNvSpPr>
          <p:nvPr>
            <p:ph type="sldNum" sz="quarter" idx="12"/>
          </p:nvPr>
        </p:nvSpPr>
        <p:spPr/>
        <p:txBody>
          <a:bodyPr/>
          <a:lstStyle/>
          <a:p>
            <a:fld id="{A8D619E7-4118-4CE2-9D02-1AAE6DCE22A2}" type="slidenum">
              <a:rPr lang="en-US" smtClean="0"/>
              <a:t>33</a:t>
            </a:fld>
            <a:endParaRPr lang="en-US"/>
          </a:p>
        </p:txBody>
      </p:sp>
      <p:pic>
        <p:nvPicPr>
          <p:cNvPr id="6" name="Graphic 5">
            <a:extLst>
              <a:ext uri="{FF2B5EF4-FFF2-40B4-BE49-F238E27FC236}">
                <a16:creationId xmlns:a16="http://schemas.microsoft.com/office/drawing/2014/main" id="{30FEAE0E-060B-478C-07C8-FD63F1CF17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64411" y="3901011"/>
            <a:ext cx="923442" cy="1014954"/>
          </a:xfrm>
          <a:prstGeom prst="rect">
            <a:avLst/>
          </a:prstGeom>
        </p:spPr>
      </p:pic>
    </p:spTree>
    <p:extLst>
      <p:ext uri="{BB962C8B-B14F-4D97-AF65-F5344CB8AC3E}">
        <p14:creationId xmlns:p14="http://schemas.microsoft.com/office/powerpoint/2010/main" val="626289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8"/>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18F18-560F-41A3-2110-98A9C7E40D0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219F02D-519A-08EB-9B71-9D7833D529AE}"/>
              </a:ext>
            </a:extLst>
          </p:cNvPr>
          <p:cNvPicPr>
            <a:picLocks noChangeAspect="1"/>
          </p:cNvPicPr>
          <p:nvPr/>
        </p:nvPicPr>
        <p:blipFill>
          <a:blip r:embed="rId3"/>
          <a:stretch>
            <a:fillRect/>
          </a:stretch>
        </p:blipFill>
        <p:spPr>
          <a:xfrm>
            <a:off x="293909" y="185420"/>
            <a:ext cx="5205191" cy="6321287"/>
          </a:xfrm>
          <a:prstGeom prst="rect">
            <a:avLst/>
          </a:prstGeom>
        </p:spPr>
      </p:pic>
      <p:sp>
        <p:nvSpPr>
          <p:cNvPr id="6" name="TextBox 5">
            <a:extLst>
              <a:ext uri="{FF2B5EF4-FFF2-40B4-BE49-F238E27FC236}">
                <a16:creationId xmlns:a16="http://schemas.microsoft.com/office/drawing/2014/main" id="{258F3118-29B0-F024-27E1-37DE39EBBA34}"/>
              </a:ext>
            </a:extLst>
          </p:cNvPr>
          <p:cNvSpPr txBox="1"/>
          <p:nvPr/>
        </p:nvSpPr>
        <p:spPr>
          <a:xfrm>
            <a:off x="1229352" y="3541034"/>
            <a:ext cx="4461932" cy="707886"/>
          </a:xfrm>
          <a:prstGeom prst="rect">
            <a:avLst/>
          </a:prstGeom>
          <a:noFill/>
        </p:spPr>
        <p:txBody>
          <a:bodyPr wrap="square">
            <a:spAutoFit/>
          </a:bodyPr>
          <a:lstStyle/>
          <a:p>
            <a:r>
              <a:rPr lang="en-US" sz="2000" dirty="0"/>
              <a:t>[this] captures, timers, callbacks, event loops, task executors</a:t>
            </a:r>
          </a:p>
        </p:txBody>
      </p:sp>
      <p:sp>
        <p:nvSpPr>
          <p:cNvPr id="11" name="TextBox 10">
            <a:extLst>
              <a:ext uri="{FF2B5EF4-FFF2-40B4-BE49-F238E27FC236}">
                <a16:creationId xmlns:a16="http://schemas.microsoft.com/office/drawing/2014/main" id="{3489BA50-BC87-985E-4C55-5C35D9D3996C}"/>
              </a:ext>
            </a:extLst>
          </p:cNvPr>
          <p:cNvSpPr txBox="1"/>
          <p:nvPr/>
        </p:nvSpPr>
        <p:spPr>
          <a:xfrm>
            <a:off x="1229352" y="4265854"/>
            <a:ext cx="4715936" cy="707886"/>
          </a:xfrm>
          <a:prstGeom prst="rect">
            <a:avLst/>
          </a:prstGeom>
          <a:noFill/>
        </p:spPr>
        <p:txBody>
          <a:bodyPr wrap="square">
            <a:spAutoFit/>
          </a:bodyPr>
          <a:lstStyle/>
          <a:p>
            <a:r>
              <a:rPr lang="en-US" sz="2000" dirty="0"/>
              <a:t>returns to an enclosure after the enclosure is gone</a:t>
            </a:r>
          </a:p>
        </p:txBody>
      </p:sp>
      <p:sp>
        <p:nvSpPr>
          <p:cNvPr id="14" name="TextBox 13">
            <a:extLst>
              <a:ext uri="{FF2B5EF4-FFF2-40B4-BE49-F238E27FC236}">
                <a16:creationId xmlns:a16="http://schemas.microsoft.com/office/drawing/2014/main" id="{EF81C339-55E1-BC30-931A-61C2BA575BDA}"/>
              </a:ext>
            </a:extLst>
          </p:cNvPr>
          <p:cNvSpPr txBox="1"/>
          <p:nvPr/>
        </p:nvSpPr>
        <p:spPr>
          <a:xfrm>
            <a:off x="1229352" y="5690439"/>
            <a:ext cx="4428074" cy="707886"/>
          </a:xfrm>
          <a:prstGeom prst="rect">
            <a:avLst/>
          </a:prstGeom>
          <a:noFill/>
        </p:spPr>
        <p:txBody>
          <a:bodyPr wrap="square">
            <a:spAutoFit/>
          </a:bodyPr>
          <a:lstStyle/>
          <a:p>
            <a:r>
              <a:rPr lang="en-US" sz="2000" dirty="0"/>
              <a:t>unregister and drain callbacks, or capture weak ownership</a:t>
            </a:r>
          </a:p>
        </p:txBody>
      </p:sp>
      <p:sp>
        <p:nvSpPr>
          <p:cNvPr id="17" name="TextBox 16">
            <a:extLst>
              <a:ext uri="{FF2B5EF4-FFF2-40B4-BE49-F238E27FC236}">
                <a16:creationId xmlns:a16="http://schemas.microsoft.com/office/drawing/2014/main" id="{68A7873F-94D9-0D8A-AC00-166A05A6AF52}"/>
              </a:ext>
            </a:extLst>
          </p:cNvPr>
          <p:cNvSpPr txBox="1"/>
          <p:nvPr/>
        </p:nvSpPr>
        <p:spPr>
          <a:xfrm>
            <a:off x="1229352" y="4965273"/>
            <a:ext cx="4428074" cy="707886"/>
          </a:xfrm>
          <a:prstGeom prst="rect">
            <a:avLst/>
          </a:prstGeom>
          <a:noFill/>
        </p:spPr>
        <p:txBody>
          <a:bodyPr wrap="square">
            <a:spAutoFit/>
          </a:bodyPr>
          <a:lstStyle/>
          <a:p>
            <a:r>
              <a:rPr lang="en-US" sz="2000" dirty="0"/>
              <a:t>the event usually fires while the enclosure is still open</a:t>
            </a:r>
          </a:p>
        </p:txBody>
      </p:sp>
      <p:sp>
        <p:nvSpPr>
          <p:cNvPr id="22" name="Content Placeholder 2">
            <a:extLst>
              <a:ext uri="{FF2B5EF4-FFF2-40B4-BE49-F238E27FC236}">
                <a16:creationId xmlns:a16="http://schemas.microsoft.com/office/drawing/2014/main" id="{45D9FCF0-FAAB-7E2F-C044-D207DF7982C4}"/>
              </a:ext>
            </a:extLst>
          </p:cNvPr>
          <p:cNvSpPr txBox="1">
            <a:spLocks/>
          </p:cNvSpPr>
          <p:nvPr/>
        </p:nvSpPr>
        <p:spPr>
          <a:xfrm>
            <a:off x="5917067" y="541867"/>
            <a:ext cx="6114066" cy="5635096"/>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err="1">
                <a:solidFill>
                  <a:schemeClr val="tx2">
                    <a:lumMod val="90000"/>
                    <a:lumOff val="10000"/>
                  </a:schemeClr>
                </a:solidFill>
                <a:latin typeface="SourceCodePro"/>
                <a:ea typeface="SourceCodePro"/>
              </a:rPr>
              <a:t>shared_ptr</a:t>
            </a:r>
            <a:r>
              <a:rPr lang="en-US" sz="2200" dirty="0">
                <a:solidFill>
                  <a:schemeClr val="tx2">
                    <a:lumMod val="90000"/>
                    <a:lumOff val="10000"/>
                  </a:schemeClr>
                </a:solidFill>
                <a:latin typeface="SourceCodePro"/>
                <a:ea typeface="SourceCodePro"/>
              </a:rPr>
              <a:t>&lt;wolfs&gt;</a:t>
            </a:r>
          </a:p>
          <a:p>
            <a:pPr marL="0" indent="0">
              <a:buNone/>
            </a:pPr>
            <a:r>
              <a:rPr lang="en-US" sz="2200" dirty="0" err="1">
                <a:solidFill>
                  <a:schemeClr val="tx2">
                    <a:lumMod val="90000"/>
                    <a:lumOff val="10000"/>
                  </a:schemeClr>
                </a:solidFill>
                <a:latin typeface="SourceCodePro"/>
                <a:ea typeface="SourceCodePro"/>
              </a:rPr>
              <a:t>open_wolf_enclosure</a:t>
            </a:r>
            <a:r>
              <a:rPr lang="en-US" sz="2200" dirty="0">
                <a:solidFill>
                  <a:schemeClr val="tx2">
                    <a:lumMod val="90000"/>
                    <a:lumOff val="10000"/>
                  </a:schemeClr>
                </a:solidFill>
                <a:latin typeface="SourceCodePro"/>
                <a:ea typeface="SourceCodePro"/>
              </a:rPr>
              <a:t>(zoo&amp; owner) {</a:t>
            </a:r>
          </a:p>
          <a:p>
            <a:pPr marL="0" indent="0">
              <a:buNone/>
            </a:pPr>
            <a:r>
              <a:rPr lang="en-US" sz="2200" dirty="0">
                <a:solidFill>
                  <a:schemeClr val="tx2">
                    <a:lumMod val="90000"/>
                    <a:lumOff val="10000"/>
                  </a:schemeClr>
                </a:solidFill>
                <a:latin typeface="SourceCodePro"/>
                <a:ea typeface="SourceCodePro"/>
              </a:rPr>
              <a:t>    auto enclosure = </a:t>
            </a:r>
            <a:r>
              <a:rPr lang="en-US" sz="2200" dirty="0" err="1">
                <a:solidFill>
                  <a:schemeClr val="tx2">
                    <a:lumMod val="90000"/>
                    <a:lumOff val="10000"/>
                  </a:schemeClr>
                </a:solidFill>
                <a:latin typeface="SourceCodePro"/>
                <a:ea typeface="SourceCodePro"/>
              </a:rPr>
              <a:t>make_shared</a:t>
            </a:r>
            <a:r>
              <a:rPr lang="en-US" sz="2200" dirty="0">
                <a:solidFill>
                  <a:schemeClr val="tx2">
                    <a:lumMod val="90000"/>
                    <a:lumOff val="10000"/>
                  </a:schemeClr>
                </a:solidFill>
                <a:latin typeface="SourceCodePro"/>
                <a:ea typeface="SourceCodePro"/>
              </a:rPr>
              <a:t>&lt;wolfs&gt;();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weak_ptr</a:t>
            </a:r>
            <a:r>
              <a:rPr lang="en-US" sz="2200" dirty="0">
                <a:solidFill>
                  <a:schemeClr val="tx2">
                    <a:lumMod val="90000"/>
                    <a:lumOff val="10000"/>
                  </a:schemeClr>
                </a:solidFill>
                <a:latin typeface="SourceCodePro"/>
                <a:ea typeface="SourceCodePro"/>
              </a:rPr>
              <a:t>&lt;wolfs&gt; weak = enclosure;</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owner.register_feeding_callback</a:t>
            </a:r>
            <a:r>
              <a:rPr lang="en-US" sz="2200" dirty="0">
                <a:solidFill>
                  <a:schemeClr val="tx2">
                    <a:lumMod val="90000"/>
                    <a:lumOff val="10000"/>
                  </a:schemeClr>
                </a:solidFill>
                <a:latin typeface="SourceCodePro"/>
                <a:ea typeface="SourceCodePro"/>
              </a:rPr>
              <a:t>([weak] {</a:t>
            </a:r>
          </a:p>
          <a:p>
            <a:pPr marL="0" indent="0">
              <a:buNone/>
            </a:pPr>
            <a:r>
              <a:rPr lang="en-US" sz="2200" dirty="0">
                <a:solidFill>
                  <a:schemeClr val="tx2">
                    <a:lumMod val="90000"/>
                    <a:lumOff val="10000"/>
                  </a:schemeClr>
                </a:solidFill>
                <a:latin typeface="SourceCodePro"/>
                <a:ea typeface="SourceCodePro"/>
              </a:rPr>
              <a:t>        if (auto live = </a:t>
            </a:r>
            <a:r>
              <a:rPr lang="en-US" sz="2200" dirty="0" err="1">
                <a:solidFill>
                  <a:schemeClr val="tx2">
                    <a:lumMod val="90000"/>
                    <a:lumOff val="10000"/>
                  </a:schemeClr>
                </a:solidFill>
                <a:latin typeface="SourceCodePro"/>
                <a:ea typeface="SourceCodePro"/>
              </a:rPr>
              <a:t>weak.lock</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live-&gt;feed();</a:t>
            </a:r>
          </a:p>
          <a:p>
            <a:pPr marL="0" indent="0">
              <a:buNone/>
            </a:pPr>
            <a:r>
              <a:rPr lang="en-US" sz="2200" dirty="0">
                <a:solidFill>
                  <a:schemeClr val="tx2">
                    <a:lumMod val="90000"/>
                    <a:lumOff val="10000"/>
                  </a:schemeClr>
                </a:solidFill>
                <a:latin typeface="SourceCodePro"/>
                <a:ea typeface="SourceCodePro"/>
              </a:rPr>
              <a:t>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return enclosure;</a:t>
            </a:r>
          </a:p>
          <a:p>
            <a:pPr marL="0" indent="0">
              <a:buNone/>
            </a:pP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072E5A31-C1C9-B929-0069-9D8D7F05D2E4}"/>
              </a:ext>
            </a:extLst>
          </p:cNvPr>
          <p:cNvSpPr txBox="1"/>
          <p:nvPr/>
        </p:nvSpPr>
        <p:spPr>
          <a:xfrm>
            <a:off x="1515533" y="389391"/>
            <a:ext cx="3191933" cy="461665"/>
          </a:xfrm>
          <a:prstGeom prst="rect">
            <a:avLst/>
          </a:prstGeom>
          <a:noFill/>
        </p:spPr>
        <p:txBody>
          <a:bodyPr wrap="square">
            <a:spAutoFit/>
          </a:bodyPr>
          <a:lstStyle/>
          <a:p>
            <a:r>
              <a:rPr lang="en-US" sz="2200" b="1" dirty="0"/>
              <a:t>The </a:t>
            </a:r>
            <a:r>
              <a:rPr lang="en-US" sz="2400" b="1" dirty="0">
                <a:solidFill>
                  <a:srgbClr val="1A1A1A"/>
                </a:solidFill>
                <a:latin typeface="Fraunces-72pt-SemiBold-NonWonky"/>
              </a:rPr>
              <a:t>Entitled</a:t>
            </a:r>
            <a:r>
              <a:rPr lang="en-US" sz="2200" b="1" dirty="0"/>
              <a:t> Wolf</a:t>
            </a:r>
            <a:endParaRPr lang="en-US" b="1" dirty="0"/>
          </a:p>
        </p:txBody>
      </p:sp>
      <p:pic>
        <p:nvPicPr>
          <p:cNvPr id="7" name="Graphic 6">
            <a:extLst>
              <a:ext uri="{FF2B5EF4-FFF2-40B4-BE49-F238E27FC236}">
                <a16:creationId xmlns:a16="http://schemas.microsoft.com/office/drawing/2014/main" id="{FA0723D1-13BF-36F5-18F9-1244B0E9B87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59401" y="1276249"/>
            <a:ext cx="2787199" cy="2123044"/>
          </a:xfrm>
          <a:prstGeom prst="rect">
            <a:avLst/>
          </a:prstGeom>
        </p:spPr>
      </p:pic>
      <p:sp>
        <p:nvSpPr>
          <p:cNvPr id="2" name="Slide Number Placeholder 1">
            <a:extLst>
              <a:ext uri="{FF2B5EF4-FFF2-40B4-BE49-F238E27FC236}">
                <a16:creationId xmlns:a16="http://schemas.microsoft.com/office/drawing/2014/main" id="{100E23FE-CC00-59E5-B4F4-90845548F018}"/>
              </a:ext>
            </a:extLst>
          </p:cNvPr>
          <p:cNvSpPr>
            <a:spLocks noGrp="1"/>
          </p:cNvSpPr>
          <p:nvPr>
            <p:ph type="sldNum" sz="quarter" idx="12"/>
          </p:nvPr>
        </p:nvSpPr>
        <p:spPr/>
        <p:txBody>
          <a:bodyPr/>
          <a:lstStyle/>
          <a:p>
            <a:fld id="{A8D619E7-4118-4CE2-9D02-1AAE6DCE22A2}" type="slidenum">
              <a:rPr lang="en-US" smtClean="0"/>
              <a:t>34</a:t>
            </a:fld>
            <a:endParaRPr lang="en-US"/>
          </a:p>
        </p:txBody>
      </p:sp>
    </p:spTree>
    <p:extLst>
      <p:ext uri="{BB962C8B-B14F-4D97-AF65-F5344CB8AC3E}">
        <p14:creationId xmlns:p14="http://schemas.microsoft.com/office/powerpoint/2010/main" val="504828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xEl>
                                              <p:pRg st="10" end="10"/>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5" presetClass="emph" presetSubtype="0" nodeType="clickEffect">
                                  <p:stCondLst>
                                    <p:cond delay="0"/>
                                  </p:stCondLst>
                                  <p:endCondLst>
                                    <p:cond evt="onNext" delay="0">
                                      <p:tgtEl>
                                        <p:sldTgt/>
                                      </p:tgtEl>
                                    </p:cond>
                                  </p:endCondLst>
                                  <p:childTnLst>
                                    <p:set>
                                      <p:cBhvr override="childStyle">
                                        <p:cTn id="44" dur="indefinite"/>
                                        <p:tgtEl>
                                          <p:spTgt spid="22">
                                            <p:txEl>
                                              <p:pRg st="3" end="3"/>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14" grpId="0"/>
      <p:bldP spid="1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7D51C-1B11-30BB-584F-639D7A2540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B43831-9945-818B-4C17-4C1FF00D78B0}"/>
              </a:ext>
            </a:extLst>
          </p:cNvPr>
          <p:cNvSpPr>
            <a:spLocks noGrp="1"/>
          </p:cNvSpPr>
          <p:nvPr>
            <p:ph type="title"/>
          </p:nvPr>
        </p:nvSpPr>
        <p:spPr>
          <a:xfrm>
            <a:off x="838200" y="365125"/>
            <a:ext cx="10998200" cy="1325563"/>
          </a:xfrm>
        </p:spPr>
        <p:txBody>
          <a:bodyPr/>
          <a:lstStyle/>
          <a:p>
            <a:r>
              <a:rPr lang="en-US" b="1" dirty="0">
                <a:latin typeface="Fraunces-72pt-SemiBold-NonWonky"/>
              </a:rPr>
              <a:t>Zookeeper rule #3</a:t>
            </a:r>
          </a:p>
        </p:txBody>
      </p:sp>
      <p:sp>
        <p:nvSpPr>
          <p:cNvPr id="4" name="TextBox 3">
            <a:extLst>
              <a:ext uri="{FF2B5EF4-FFF2-40B4-BE49-F238E27FC236}">
                <a16:creationId xmlns:a16="http://schemas.microsoft.com/office/drawing/2014/main" id="{3076B5C3-3FE7-4FE1-A880-992A9819C785}"/>
              </a:ext>
            </a:extLst>
          </p:cNvPr>
          <p:cNvSpPr txBox="1"/>
          <p:nvPr/>
        </p:nvSpPr>
        <p:spPr>
          <a:xfrm>
            <a:off x="838200" y="2922897"/>
            <a:ext cx="9549440" cy="309052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Establish lifetime first, then synchronize shared access</a:t>
            </a:r>
          </a:p>
          <a:p>
            <a:pPr marL="285750" indent="-285750">
              <a:lnSpc>
                <a:spcPct val="150000"/>
              </a:lnSpc>
              <a:buFont typeface="Arial" panose="020B0604020202020204" pitchFamily="34" charset="0"/>
              <a:buChar char="•"/>
            </a:pPr>
            <a:r>
              <a:rPr lang="en-US" sz="2200" dirty="0"/>
              <a:t>Capturing this does not extend the enclosure's lifetime</a:t>
            </a:r>
          </a:p>
          <a:p>
            <a:pPr marL="285750" indent="-285750">
              <a:lnSpc>
                <a:spcPct val="150000"/>
              </a:lnSpc>
              <a:buFont typeface="Arial" panose="020B0604020202020204" pitchFamily="34" charset="0"/>
              <a:buChar char="•"/>
            </a:pPr>
            <a:r>
              <a:rPr lang="en-US" sz="2200" dirty="0"/>
              <a:t>A </a:t>
            </a:r>
            <a:r>
              <a:rPr lang="en-US" sz="2200" dirty="0" err="1"/>
              <a:t>weak_ptr</a:t>
            </a:r>
            <a:r>
              <a:rPr lang="en-US" sz="2200" dirty="0"/>
              <a:t> can be checked without keeping the enclosure alive forever</a:t>
            </a:r>
          </a:p>
          <a:p>
            <a:pPr marL="285750" indent="-285750">
              <a:lnSpc>
                <a:spcPct val="150000"/>
              </a:lnSpc>
              <a:buFont typeface="Arial" panose="020B0604020202020204" pitchFamily="34" charset="0"/>
              <a:buChar char="•"/>
            </a:pPr>
            <a:r>
              <a:rPr lang="en-US" sz="2200" dirty="0" err="1"/>
              <a:t>weak.lock</a:t>
            </a:r>
            <a:r>
              <a:rPr lang="en-US" sz="2200" dirty="0"/>
              <a:t>() keeps a live enclosure alive for that callback invocation</a:t>
            </a:r>
          </a:p>
          <a:p>
            <a:pPr marL="285750" indent="-285750">
              <a:lnSpc>
                <a:spcPct val="150000"/>
              </a:lnSpc>
              <a:buFont typeface="Arial" panose="020B0604020202020204" pitchFamily="34" charset="0"/>
              <a:buChar char="•"/>
            </a:pPr>
            <a:r>
              <a:rPr lang="en-US" sz="2200" dirty="0"/>
              <a:t>An expired enclosure turns the callback into a no-op</a:t>
            </a:r>
          </a:p>
          <a:p>
            <a:pPr marL="285750" indent="-285750">
              <a:lnSpc>
                <a:spcPct val="150000"/>
              </a:lnSpc>
              <a:buFont typeface="Arial" panose="020B0604020202020204" pitchFamily="34" charset="0"/>
              <a:buChar char="•"/>
            </a:pPr>
            <a:endParaRPr lang="en-US" sz="2200" dirty="0"/>
          </a:p>
        </p:txBody>
      </p:sp>
      <p:sp>
        <p:nvSpPr>
          <p:cNvPr id="5" name="TextBox 4">
            <a:extLst>
              <a:ext uri="{FF2B5EF4-FFF2-40B4-BE49-F238E27FC236}">
                <a16:creationId xmlns:a16="http://schemas.microsoft.com/office/drawing/2014/main" id="{91B298A1-F353-556A-CD42-80D9968FC7A1}"/>
              </a:ext>
            </a:extLst>
          </p:cNvPr>
          <p:cNvSpPr txBox="1"/>
          <p:nvPr/>
        </p:nvSpPr>
        <p:spPr>
          <a:xfrm>
            <a:off x="838200" y="1614196"/>
            <a:ext cx="5729649" cy="769441"/>
          </a:xfrm>
          <a:prstGeom prst="rect">
            <a:avLst/>
          </a:prstGeom>
          <a:noFill/>
        </p:spPr>
        <p:txBody>
          <a:bodyPr wrap="square" rtlCol="0">
            <a:spAutoFit/>
          </a:bodyPr>
          <a:lstStyle/>
          <a:p>
            <a:r>
              <a:rPr lang="en-US" sz="2200" i="1" dirty="0">
                <a:latin typeface="SourceSans3ExtraLight"/>
              </a:rPr>
              <a:t>Synchronization controls concurrent access.  </a:t>
            </a:r>
          </a:p>
          <a:p>
            <a:r>
              <a:rPr lang="en-US" sz="2200" i="1" dirty="0">
                <a:latin typeface="SourceSans3ExtraLight"/>
              </a:rPr>
              <a:t>It cannot keep a dead object alive.</a:t>
            </a:r>
          </a:p>
        </p:txBody>
      </p:sp>
      <p:sp>
        <p:nvSpPr>
          <p:cNvPr id="3" name="Slide Number Placeholder 2">
            <a:extLst>
              <a:ext uri="{FF2B5EF4-FFF2-40B4-BE49-F238E27FC236}">
                <a16:creationId xmlns:a16="http://schemas.microsoft.com/office/drawing/2014/main" id="{3B07A223-7D16-D50A-363A-5346BCF2CF9A}"/>
              </a:ext>
            </a:extLst>
          </p:cNvPr>
          <p:cNvSpPr>
            <a:spLocks noGrp="1"/>
          </p:cNvSpPr>
          <p:nvPr>
            <p:ph type="sldNum" sz="quarter" idx="12"/>
          </p:nvPr>
        </p:nvSpPr>
        <p:spPr/>
        <p:txBody>
          <a:bodyPr/>
          <a:lstStyle/>
          <a:p>
            <a:fld id="{A8D619E7-4118-4CE2-9D02-1AAE6DCE22A2}" type="slidenum">
              <a:rPr lang="en-US" smtClean="0"/>
              <a:t>35</a:t>
            </a:fld>
            <a:endParaRPr lang="en-US"/>
          </a:p>
        </p:txBody>
      </p:sp>
    </p:spTree>
    <p:extLst>
      <p:ext uri="{BB962C8B-B14F-4D97-AF65-F5344CB8AC3E}">
        <p14:creationId xmlns:p14="http://schemas.microsoft.com/office/powerpoint/2010/main" val="3239733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F5F32-1221-BEF4-F5E9-2576B73154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787F4-04F4-94E1-3509-8C10FA8950EB}"/>
              </a:ext>
            </a:extLst>
          </p:cNvPr>
          <p:cNvSpPr>
            <a:spLocks noGrp="1"/>
          </p:cNvSpPr>
          <p:nvPr>
            <p:ph type="ctrTitle"/>
          </p:nvPr>
        </p:nvSpPr>
        <p:spPr>
          <a:xfrm>
            <a:off x="1523999" y="1122363"/>
            <a:ext cx="9144001" cy="2387600"/>
          </a:xfrm>
        </p:spPr>
        <p:txBody>
          <a:bodyPr/>
          <a:lstStyle/>
          <a:p>
            <a:r>
              <a:rPr lang="en-US" b="1" dirty="0">
                <a:solidFill>
                  <a:srgbClr val="1A1A1A"/>
                </a:solidFill>
                <a:latin typeface="Fraunces-72pt-SemiBold-NonWonky"/>
                <a:ea typeface="Fraunces-72pt-SemiBold-NonWonky"/>
              </a:rPr>
              <a:t>Zone 4: The Crossing</a:t>
            </a:r>
            <a:endParaRPr lang="en-US" dirty="0"/>
          </a:p>
        </p:txBody>
      </p:sp>
      <p:sp>
        <p:nvSpPr>
          <p:cNvPr id="5" name="Subtitle 4">
            <a:extLst>
              <a:ext uri="{FF2B5EF4-FFF2-40B4-BE49-F238E27FC236}">
                <a16:creationId xmlns:a16="http://schemas.microsoft.com/office/drawing/2014/main" id="{FAAD2FDD-72B0-ADBF-CB6C-17FE38F46A85}"/>
              </a:ext>
            </a:extLst>
          </p:cNvPr>
          <p:cNvSpPr>
            <a:spLocks noGrp="1"/>
          </p:cNvSpPr>
          <p:nvPr>
            <p:ph type="subTitle" idx="1"/>
          </p:nvPr>
        </p:nvSpPr>
        <p:spPr/>
        <p:txBody>
          <a:bodyPr>
            <a:normAutofit/>
          </a:bodyPr>
          <a:lstStyle/>
          <a:p>
            <a:r>
              <a:rPr lang="en-US" i="1" dirty="0">
                <a:latin typeface="SourceSans3ExtraLight"/>
              </a:rPr>
              <a:t>Where all paths meet, and everyone reveals their true character.</a:t>
            </a:r>
          </a:p>
        </p:txBody>
      </p:sp>
      <p:sp>
        <p:nvSpPr>
          <p:cNvPr id="3" name="Slide Number Placeholder 2">
            <a:extLst>
              <a:ext uri="{FF2B5EF4-FFF2-40B4-BE49-F238E27FC236}">
                <a16:creationId xmlns:a16="http://schemas.microsoft.com/office/drawing/2014/main" id="{92B8128E-8F5D-52A1-B0CA-5162040EA835}"/>
              </a:ext>
            </a:extLst>
          </p:cNvPr>
          <p:cNvSpPr>
            <a:spLocks noGrp="1"/>
          </p:cNvSpPr>
          <p:nvPr>
            <p:ph type="sldNum" sz="quarter" idx="12"/>
          </p:nvPr>
        </p:nvSpPr>
        <p:spPr/>
        <p:txBody>
          <a:bodyPr/>
          <a:lstStyle/>
          <a:p>
            <a:fld id="{A8D619E7-4118-4CE2-9D02-1AAE6DCE22A2}" type="slidenum">
              <a:rPr lang="en-US" smtClean="0"/>
              <a:t>36</a:t>
            </a:fld>
            <a:endParaRPr lang="en-US"/>
          </a:p>
        </p:txBody>
      </p:sp>
    </p:spTree>
    <p:extLst>
      <p:ext uri="{BB962C8B-B14F-4D97-AF65-F5344CB8AC3E}">
        <p14:creationId xmlns:p14="http://schemas.microsoft.com/office/powerpoint/2010/main" val="7867085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2BFEF-12E7-7C8A-FF81-1A799B51F4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73E113-C784-4795-1558-AF20FBEAEF8D}"/>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Gallant Reindeer</a:t>
            </a:r>
          </a:p>
        </p:txBody>
      </p:sp>
      <p:sp>
        <p:nvSpPr>
          <p:cNvPr id="7" name="TextBox 6">
            <a:extLst>
              <a:ext uri="{FF2B5EF4-FFF2-40B4-BE49-F238E27FC236}">
                <a16:creationId xmlns:a16="http://schemas.microsoft.com/office/drawing/2014/main" id="{587C5B4F-060A-C667-10D4-BD93E13FD160}"/>
              </a:ext>
            </a:extLst>
          </p:cNvPr>
          <p:cNvSpPr txBox="1"/>
          <p:nvPr/>
        </p:nvSpPr>
        <p:spPr>
          <a:xfrm>
            <a:off x="838200" y="3870930"/>
            <a:ext cx="10199914" cy="1785104"/>
          </a:xfrm>
          <a:prstGeom prst="rect">
            <a:avLst/>
          </a:prstGeom>
          <a:noFill/>
        </p:spPr>
        <p:txBody>
          <a:bodyPr wrap="square" rtlCol="0">
            <a:spAutoFit/>
          </a:bodyPr>
          <a:lstStyle/>
          <a:p>
            <a:r>
              <a:rPr lang="en-US" sz="2200" i="1" dirty="0">
                <a:latin typeface="SourceSans3ExtraLight"/>
              </a:rPr>
              <a:t>Polite. Disciplined. Keen to do the right thing.</a:t>
            </a:r>
          </a:p>
          <a:p>
            <a:endParaRPr lang="en-US" sz="2200" i="1" dirty="0">
              <a:latin typeface="SourceSans3ExtraLight"/>
            </a:endParaRPr>
          </a:p>
          <a:p>
            <a:r>
              <a:rPr lang="en-US" sz="2200" i="1" dirty="0">
                <a:latin typeface="SourceSans3ExtraLight"/>
              </a:rPr>
              <a:t>No pushing. No fighting. No chaos.</a:t>
            </a:r>
          </a:p>
          <a:p>
            <a:endParaRPr lang="en-US" sz="2200" i="1" dirty="0">
              <a:latin typeface="SourceSans3ExtraLight"/>
            </a:endParaRPr>
          </a:p>
          <a:p>
            <a:r>
              <a:rPr lang="en-US" sz="2200" i="1" dirty="0">
                <a:latin typeface="SourceSans3ExtraLight"/>
              </a:rPr>
              <a:t>Traffic management is not their gift.</a:t>
            </a:r>
          </a:p>
        </p:txBody>
      </p:sp>
      <p:pic>
        <p:nvPicPr>
          <p:cNvPr id="5" name="Graphic 4">
            <a:extLst>
              <a:ext uri="{FF2B5EF4-FFF2-40B4-BE49-F238E27FC236}">
                <a16:creationId xmlns:a16="http://schemas.microsoft.com/office/drawing/2014/main" id="{95C469F7-1A9B-52F7-4ED1-1978FFF287F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95669" y="670096"/>
            <a:ext cx="1958131" cy="2316974"/>
          </a:xfrm>
          <a:prstGeom prst="rect">
            <a:avLst/>
          </a:prstGeom>
        </p:spPr>
      </p:pic>
      <p:sp>
        <p:nvSpPr>
          <p:cNvPr id="3" name="Slide Number Placeholder 2">
            <a:extLst>
              <a:ext uri="{FF2B5EF4-FFF2-40B4-BE49-F238E27FC236}">
                <a16:creationId xmlns:a16="http://schemas.microsoft.com/office/drawing/2014/main" id="{C4B66213-AA4A-740D-75B3-ECDEAEF961EC}"/>
              </a:ext>
            </a:extLst>
          </p:cNvPr>
          <p:cNvSpPr>
            <a:spLocks noGrp="1"/>
          </p:cNvSpPr>
          <p:nvPr>
            <p:ph type="sldNum" sz="quarter" idx="12"/>
          </p:nvPr>
        </p:nvSpPr>
        <p:spPr/>
        <p:txBody>
          <a:bodyPr/>
          <a:lstStyle/>
          <a:p>
            <a:fld id="{A8D619E7-4118-4CE2-9D02-1AAE6DCE22A2}" type="slidenum">
              <a:rPr lang="en-US" smtClean="0"/>
              <a:t>37</a:t>
            </a:fld>
            <a:endParaRPr lang="en-US"/>
          </a:p>
        </p:txBody>
      </p:sp>
    </p:spTree>
    <p:extLst>
      <p:ext uri="{BB962C8B-B14F-4D97-AF65-F5344CB8AC3E}">
        <p14:creationId xmlns:p14="http://schemas.microsoft.com/office/powerpoint/2010/main" val="31185487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77FC3-0B12-53EF-9630-971AB7CE6B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01255-3052-ECE4-83D7-9D6F01D42054}"/>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Gallant Reindeer</a:t>
            </a:r>
            <a:endParaRPr lang="en-US" dirty="0"/>
          </a:p>
        </p:txBody>
      </p:sp>
      <p:sp>
        <p:nvSpPr>
          <p:cNvPr id="3" name="Content Placeholder 2">
            <a:extLst>
              <a:ext uri="{FF2B5EF4-FFF2-40B4-BE49-F238E27FC236}">
                <a16:creationId xmlns:a16="http://schemas.microsoft.com/office/drawing/2014/main" id="{A957566B-D118-1CFC-A399-35DA6D49B74C}"/>
              </a:ext>
            </a:extLst>
          </p:cNvPr>
          <p:cNvSpPr>
            <a:spLocks noGrp="1"/>
          </p:cNvSpPr>
          <p:nvPr>
            <p:ph idx="1"/>
          </p:nvPr>
        </p:nvSpPr>
        <p:spPr>
          <a:xfrm>
            <a:off x="838200" y="1690689"/>
            <a:ext cx="3725334" cy="2597150"/>
          </a:xfrm>
        </p:spPr>
        <p:txBody>
          <a:bodyPr>
            <a:normAutofit fontScale="92500" lnSpcReduction="10000"/>
          </a:bodyPr>
          <a:lstStyle/>
          <a:p>
            <a:pPr marL="0" indent="0">
              <a:buNone/>
            </a:pPr>
            <a:r>
              <a:rPr lang="en-US" sz="2200" dirty="0">
                <a:solidFill>
                  <a:schemeClr val="tx2">
                    <a:lumMod val="90000"/>
                    <a:lumOff val="10000"/>
                  </a:schemeClr>
                </a:solidFill>
                <a:latin typeface="SourceCodePro"/>
                <a:ea typeface="SourceCodePro"/>
              </a:rPr>
              <a:t>mutex </a:t>
            </a:r>
            <a:r>
              <a:rPr lang="en-US" sz="2200" dirty="0" err="1">
                <a:solidFill>
                  <a:schemeClr val="tx2">
                    <a:lumMod val="90000"/>
                    <a:lumOff val="10000"/>
                  </a:schemeClr>
                </a:solidFill>
                <a:latin typeface="SourceCodePro"/>
                <a:ea typeface="SourceCodePro"/>
              </a:rPr>
              <a:t>west_half</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east_half</a:t>
            </a: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cross_from_west</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west(</a:t>
            </a:r>
            <a:r>
              <a:rPr lang="en-US" sz="2200" dirty="0" err="1">
                <a:solidFill>
                  <a:schemeClr val="tx2">
                    <a:lumMod val="90000"/>
                    <a:lumOff val="10000"/>
                  </a:schemeClr>
                </a:solidFill>
                <a:latin typeface="SourceCodePro"/>
                <a:ea typeface="SourceCodePro"/>
              </a:rPr>
              <a:t>west_half</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east(</a:t>
            </a:r>
            <a:r>
              <a:rPr lang="en-US" sz="2200" dirty="0" err="1">
                <a:solidFill>
                  <a:schemeClr val="tx2">
                    <a:lumMod val="90000"/>
                    <a:lumOff val="10000"/>
                  </a:schemeClr>
                </a:solidFill>
                <a:latin typeface="SourceCodePro"/>
                <a:ea typeface="SourceCodePro"/>
              </a:rPr>
              <a:t>east_half</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cross_bridge</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p:txBody>
      </p:sp>
      <p:sp>
        <p:nvSpPr>
          <p:cNvPr id="13" name="TextBox 12">
            <a:extLst>
              <a:ext uri="{FF2B5EF4-FFF2-40B4-BE49-F238E27FC236}">
                <a16:creationId xmlns:a16="http://schemas.microsoft.com/office/drawing/2014/main" id="{19CDDBDE-E50D-D462-6FE1-716BF5CC37C2}"/>
              </a:ext>
            </a:extLst>
          </p:cNvPr>
          <p:cNvSpPr txBox="1"/>
          <p:nvPr/>
        </p:nvSpPr>
        <p:spPr>
          <a:xfrm>
            <a:off x="838200" y="4369217"/>
            <a:ext cx="11159067" cy="2123658"/>
          </a:xfrm>
          <a:prstGeom prst="rect">
            <a:avLst/>
          </a:prstGeom>
          <a:noFill/>
        </p:spPr>
        <p:txBody>
          <a:bodyPr wrap="square">
            <a:spAutoFit/>
          </a:bodyPr>
          <a:lstStyle/>
          <a:p>
            <a:r>
              <a:rPr lang="en-US" sz="2200" dirty="0"/>
              <a:t>Two reindeer enter a narrow bridge from opposite ends. Each claims the half ahead and waits for the other half.</a:t>
            </a:r>
          </a:p>
          <a:p>
            <a:endParaRPr lang="en-US" sz="2200" dirty="0"/>
          </a:p>
          <a:p>
            <a:r>
              <a:rPr lang="en-US" sz="2200" dirty="0"/>
              <a:t>Neither retreats. Neither crosses.</a:t>
            </a:r>
          </a:p>
          <a:p>
            <a:endParaRPr lang="en-US" sz="2200" dirty="0"/>
          </a:p>
          <a:p>
            <a:r>
              <a:rPr lang="en-US" sz="2200" dirty="0"/>
              <a:t>This is </a:t>
            </a:r>
            <a:r>
              <a:rPr lang="en-US" sz="2200" b="1" dirty="0"/>
              <a:t>deadlock</a:t>
            </a:r>
            <a:r>
              <a:rPr lang="en-US" sz="2200" dirty="0"/>
              <a:t>.</a:t>
            </a:r>
          </a:p>
        </p:txBody>
      </p:sp>
      <p:sp>
        <p:nvSpPr>
          <p:cNvPr id="4" name="Content Placeholder 2">
            <a:extLst>
              <a:ext uri="{FF2B5EF4-FFF2-40B4-BE49-F238E27FC236}">
                <a16:creationId xmlns:a16="http://schemas.microsoft.com/office/drawing/2014/main" id="{BA707A75-4ECF-B788-546A-2C3C3CF1E5C1}"/>
              </a:ext>
            </a:extLst>
          </p:cNvPr>
          <p:cNvSpPr txBox="1">
            <a:spLocks/>
          </p:cNvSpPr>
          <p:nvPr/>
        </p:nvSpPr>
        <p:spPr>
          <a:xfrm>
            <a:off x="8271933" y="1690688"/>
            <a:ext cx="3725334" cy="259715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200" dirty="0">
              <a:solidFill>
                <a:schemeClr val="tx2">
                  <a:lumMod val="90000"/>
                  <a:lumOff val="10000"/>
                </a:schemeClr>
              </a:solidFill>
              <a:latin typeface="SourceCodePro"/>
              <a:ea typeface="SourceCodePro"/>
            </a:endParaRP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cross_from_east</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east(</a:t>
            </a:r>
            <a:r>
              <a:rPr lang="en-US" sz="2200" dirty="0" err="1">
                <a:solidFill>
                  <a:schemeClr val="tx2">
                    <a:lumMod val="90000"/>
                    <a:lumOff val="10000"/>
                  </a:schemeClr>
                </a:solidFill>
                <a:latin typeface="SourceCodePro"/>
                <a:ea typeface="SourceCodePro"/>
              </a:rPr>
              <a:t>east_half</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west(</a:t>
            </a:r>
            <a:r>
              <a:rPr lang="en-US" sz="2200" dirty="0" err="1">
                <a:solidFill>
                  <a:schemeClr val="tx2">
                    <a:lumMod val="90000"/>
                    <a:lumOff val="10000"/>
                  </a:schemeClr>
                </a:solidFill>
                <a:latin typeface="SourceCodePro"/>
                <a:ea typeface="SourceCodePro"/>
              </a:rPr>
              <a:t>west_half</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cross_bridge</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p:txBody>
      </p:sp>
      <p:pic>
        <p:nvPicPr>
          <p:cNvPr id="6" name="Graphic 5">
            <a:extLst>
              <a:ext uri="{FF2B5EF4-FFF2-40B4-BE49-F238E27FC236}">
                <a16:creationId xmlns:a16="http://schemas.microsoft.com/office/drawing/2014/main" id="{767BCAD8-BF38-613A-6CA5-A8AAB95FF48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33727" y="2488783"/>
            <a:ext cx="1192772" cy="1411357"/>
          </a:xfrm>
          <a:prstGeom prst="rect">
            <a:avLst/>
          </a:prstGeom>
        </p:spPr>
      </p:pic>
      <p:pic>
        <p:nvPicPr>
          <p:cNvPr id="10" name="Graphic 9">
            <a:extLst>
              <a:ext uri="{FF2B5EF4-FFF2-40B4-BE49-F238E27FC236}">
                <a16:creationId xmlns:a16="http://schemas.microsoft.com/office/drawing/2014/main" id="{414F9C73-0087-D5FB-664D-3A445F6976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460009" y="2488783"/>
            <a:ext cx="1192772" cy="1411357"/>
          </a:xfrm>
          <a:prstGeom prst="rect">
            <a:avLst/>
          </a:prstGeom>
        </p:spPr>
      </p:pic>
      <p:sp>
        <p:nvSpPr>
          <p:cNvPr id="5" name="Slide Number Placeholder 4">
            <a:extLst>
              <a:ext uri="{FF2B5EF4-FFF2-40B4-BE49-F238E27FC236}">
                <a16:creationId xmlns:a16="http://schemas.microsoft.com/office/drawing/2014/main" id="{ABA5C8C0-498D-9CD4-00DF-84C48094748D}"/>
              </a:ext>
            </a:extLst>
          </p:cNvPr>
          <p:cNvSpPr>
            <a:spLocks noGrp="1"/>
          </p:cNvSpPr>
          <p:nvPr>
            <p:ph type="sldNum" sz="quarter" idx="12"/>
          </p:nvPr>
        </p:nvSpPr>
        <p:spPr/>
        <p:txBody>
          <a:bodyPr/>
          <a:lstStyle/>
          <a:p>
            <a:fld id="{A8D619E7-4118-4CE2-9D02-1AAE6DCE22A2}" type="slidenum">
              <a:rPr lang="en-US" smtClean="0"/>
              <a:t>38</a:t>
            </a:fld>
            <a:endParaRPr lang="en-US"/>
          </a:p>
        </p:txBody>
      </p:sp>
    </p:spTree>
    <p:extLst>
      <p:ext uri="{BB962C8B-B14F-4D97-AF65-F5344CB8AC3E}">
        <p14:creationId xmlns:p14="http://schemas.microsoft.com/office/powerpoint/2010/main" val="1865554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81750-5843-B771-256B-4AC4A6FC5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5B49C3-834F-F878-CE85-3C5F1125BBE1}"/>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Gallant Reindeer</a:t>
            </a:r>
            <a:endParaRPr lang="en-US" dirty="0"/>
          </a:p>
        </p:txBody>
      </p:sp>
      <p:sp>
        <p:nvSpPr>
          <p:cNvPr id="3" name="Content Placeholder 2">
            <a:extLst>
              <a:ext uri="{FF2B5EF4-FFF2-40B4-BE49-F238E27FC236}">
                <a16:creationId xmlns:a16="http://schemas.microsoft.com/office/drawing/2014/main" id="{7F85551A-92FB-CFE5-E37D-59DAD8AF229D}"/>
              </a:ext>
            </a:extLst>
          </p:cNvPr>
          <p:cNvSpPr>
            <a:spLocks noGrp="1"/>
          </p:cNvSpPr>
          <p:nvPr>
            <p:ph idx="1"/>
          </p:nvPr>
        </p:nvSpPr>
        <p:spPr>
          <a:xfrm>
            <a:off x="838199" y="1481668"/>
            <a:ext cx="6248401" cy="2831572"/>
          </a:xfrm>
        </p:spPr>
        <p:txBody>
          <a:bodyPr>
            <a:normAutofit lnSpcReduction="10000"/>
          </a:bodyPr>
          <a:lstStyle/>
          <a:p>
            <a:pPr marL="0" indent="0">
              <a:buNone/>
            </a:pPr>
            <a:r>
              <a:rPr lang="en-US" sz="2200" dirty="0">
                <a:solidFill>
                  <a:schemeClr val="tx2">
                    <a:lumMod val="90000"/>
                    <a:lumOff val="10000"/>
                  </a:schemeClr>
                </a:solidFill>
                <a:latin typeface="SourceCodePro"/>
                <a:ea typeface="SourceCodePro"/>
              </a:rPr>
              <a:t>occupy(near);</a:t>
            </a: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try_occupy</a:t>
            </a:r>
            <a:r>
              <a:rPr lang="en-US" sz="2200" dirty="0">
                <a:solidFill>
                  <a:schemeClr val="tx2">
                    <a:lumMod val="90000"/>
                    <a:lumOff val="10000"/>
                  </a:schemeClr>
                </a:solidFill>
                <a:latin typeface="SourceCodePro"/>
                <a:ea typeface="SourceCodePro"/>
              </a:rPr>
              <a:t>(far))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cross_bridge_and_release</a:t>
            </a:r>
            <a:r>
              <a:rPr lang="en-US" sz="2200" dirty="0">
                <a:solidFill>
                  <a:schemeClr val="tx2">
                    <a:lumMod val="90000"/>
                    <a:lumOff val="10000"/>
                  </a:schemeClr>
                </a:solidFill>
                <a:latin typeface="SourceCodePro"/>
                <a:ea typeface="SourceCodePro"/>
              </a:rPr>
              <a:t>(near, far); </a:t>
            </a:r>
          </a:p>
          <a:p>
            <a:pPr marL="0" indent="0">
              <a:buNone/>
            </a:pPr>
            <a:r>
              <a:rPr lang="en-US" sz="2200" dirty="0">
                <a:solidFill>
                  <a:schemeClr val="tx2">
                    <a:lumMod val="90000"/>
                    <a:lumOff val="10000"/>
                  </a:schemeClr>
                </a:solidFill>
                <a:latin typeface="SourceCodePro"/>
                <a:ea typeface="SourceCodePro"/>
              </a:rPr>
              <a:t>    return; </a:t>
            </a:r>
          </a:p>
          <a:p>
            <a:pPr marL="0" indent="0">
              <a:buNone/>
            </a:pP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release(near);</a:t>
            </a:r>
          </a:p>
          <a:p>
            <a:pPr marL="0" indent="0">
              <a:buNone/>
            </a:pPr>
            <a:r>
              <a:rPr lang="en-US" sz="2200" dirty="0" err="1">
                <a:solidFill>
                  <a:schemeClr val="tx2">
                    <a:lumMod val="90000"/>
                    <a:lumOff val="10000"/>
                  </a:schemeClr>
                </a:solidFill>
                <a:latin typeface="SourceCodePro"/>
                <a:ea typeface="SourceCodePro"/>
              </a:rPr>
              <a:t>bow_and_retry</a:t>
            </a:r>
            <a:r>
              <a:rPr lang="en-US" sz="2200" dirty="0">
                <a:solidFill>
                  <a:schemeClr val="tx2">
                    <a:lumMod val="90000"/>
                    <a:lumOff val="10000"/>
                  </a:schemeClr>
                </a:solidFill>
                <a:latin typeface="SourceCodePro"/>
                <a:ea typeface="SourceCodePro"/>
              </a:rPr>
              <a:t>();</a:t>
            </a:r>
          </a:p>
        </p:txBody>
      </p:sp>
      <p:sp>
        <p:nvSpPr>
          <p:cNvPr id="13" name="TextBox 12">
            <a:extLst>
              <a:ext uri="{FF2B5EF4-FFF2-40B4-BE49-F238E27FC236}">
                <a16:creationId xmlns:a16="http://schemas.microsoft.com/office/drawing/2014/main" id="{04EFC0E1-B6E6-E7E6-EBF8-F1E4E0EC1515}"/>
              </a:ext>
            </a:extLst>
          </p:cNvPr>
          <p:cNvSpPr txBox="1"/>
          <p:nvPr/>
        </p:nvSpPr>
        <p:spPr>
          <a:xfrm>
            <a:off x="838200" y="4369217"/>
            <a:ext cx="11159067" cy="1785104"/>
          </a:xfrm>
          <a:prstGeom prst="rect">
            <a:avLst/>
          </a:prstGeom>
          <a:noFill/>
        </p:spPr>
        <p:txBody>
          <a:bodyPr wrap="square">
            <a:spAutoFit/>
          </a:bodyPr>
          <a:lstStyle/>
          <a:p>
            <a:endParaRPr lang="en-US" sz="2200" dirty="0"/>
          </a:p>
          <a:p>
            <a:endParaRPr lang="en-US" sz="2200" dirty="0"/>
          </a:p>
          <a:p>
            <a:r>
              <a:rPr lang="en-US" sz="2200" dirty="0"/>
              <a:t>They are active. They are courteous. They still never cross.</a:t>
            </a:r>
          </a:p>
          <a:p>
            <a:endParaRPr lang="en-US" sz="2200" dirty="0"/>
          </a:p>
          <a:p>
            <a:r>
              <a:rPr lang="en-US" sz="2200" dirty="0"/>
              <a:t>This is </a:t>
            </a:r>
            <a:r>
              <a:rPr lang="en-US" sz="2200" b="1" dirty="0" err="1"/>
              <a:t>livelock</a:t>
            </a:r>
            <a:r>
              <a:rPr lang="en-US" sz="2200" dirty="0"/>
              <a:t>.</a:t>
            </a:r>
          </a:p>
        </p:txBody>
      </p:sp>
      <p:pic>
        <p:nvPicPr>
          <p:cNvPr id="5" name="Graphic 4">
            <a:extLst>
              <a:ext uri="{FF2B5EF4-FFF2-40B4-BE49-F238E27FC236}">
                <a16:creationId xmlns:a16="http://schemas.microsoft.com/office/drawing/2014/main" id="{2F6B264A-346A-A7FA-A307-11B270E6D4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4318" y="2029673"/>
            <a:ext cx="1693127" cy="2003406"/>
          </a:xfrm>
          <a:prstGeom prst="rect">
            <a:avLst/>
          </a:prstGeom>
        </p:spPr>
      </p:pic>
      <p:pic>
        <p:nvPicPr>
          <p:cNvPr id="8" name="Graphic 7">
            <a:extLst>
              <a:ext uri="{FF2B5EF4-FFF2-40B4-BE49-F238E27FC236}">
                <a16:creationId xmlns:a16="http://schemas.microsoft.com/office/drawing/2014/main" id="{C8D18C04-F958-A010-3489-74B4DD8D31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6557331" y="2029673"/>
            <a:ext cx="1693127" cy="2003406"/>
          </a:xfrm>
          <a:prstGeom prst="rect">
            <a:avLst/>
          </a:prstGeom>
        </p:spPr>
      </p:pic>
      <p:sp>
        <p:nvSpPr>
          <p:cNvPr id="4" name="Slide Number Placeholder 3">
            <a:extLst>
              <a:ext uri="{FF2B5EF4-FFF2-40B4-BE49-F238E27FC236}">
                <a16:creationId xmlns:a16="http://schemas.microsoft.com/office/drawing/2014/main" id="{0C165C6A-4535-26B4-73E7-42C0751C6AE2}"/>
              </a:ext>
            </a:extLst>
          </p:cNvPr>
          <p:cNvSpPr>
            <a:spLocks noGrp="1"/>
          </p:cNvSpPr>
          <p:nvPr>
            <p:ph type="sldNum" sz="quarter" idx="12"/>
          </p:nvPr>
        </p:nvSpPr>
        <p:spPr/>
        <p:txBody>
          <a:bodyPr/>
          <a:lstStyle/>
          <a:p>
            <a:fld id="{A8D619E7-4118-4CE2-9D02-1AAE6DCE22A2}" type="slidenum">
              <a:rPr lang="en-US" smtClean="0"/>
              <a:t>39</a:t>
            </a:fld>
            <a:endParaRPr lang="en-US"/>
          </a:p>
        </p:txBody>
      </p:sp>
    </p:spTree>
    <p:extLst>
      <p:ext uri="{BB962C8B-B14F-4D97-AF65-F5344CB8AC3E}">
        <p14:creationId xmlns:p14="http://schemas.microsoft.com/office/powerpoint/2010/main" val="2720232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DBB97-6FA4-32DD-2A89-36BC11615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EBBD47-F4AB-D44C-DECD-C905B6F73733}"/>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Gallant Reindeer</a:t>
            </a:r>
            <a:endParaRPr lang="en-US" dirty="0"/>
          </a:p>
        </p:txBody>
      </p:sp>
      <p:sp>
        <p:nvSpPr>
          <p:cNvPr id="3" name="Content Placeholder 2">
            <a:extLst>
              <a:ext uri="{FF2B5EF4-FFF2-40B4-BE49-F238E27FC236}">
                <a16:creationId xmlns:a16="http://schemas.microsoft.com/office/drawing/2014/main" id="{80FCA3BC-A99B-01D8-B314-095C64373540}"/>
              </a:ext>
            </a:extLst>
          </p:cNvPr>
          <p:cNvSpPr>
            <a:spLocks noGrp="1"/>
          </p:cNvSpPr>
          <p:nvPr>
            <p:ph idx="1"/>
          </p:nvPr>
        </p:nvSpPr>
        <p:spPr>
          <a:xfrm>
            <a:off x="838199" y="1690689"/>
            <a:ext cx="6070603" cy="2534178"/>
          </a:xfrm>
        </p:spPr>
        <p:txBody>
          <a:bodyPr>
            <a:noAutofit/>
          </a:bodyPr>
          <a:lstStyle/>
          <a:p>
            <a:pPr marL="0" indent="0">
              <a:buNone/>
            </a:pPr>
            <a:r>
              <a:rPr lang="en-US" sz="2200" dirty="0" err="1">
                <a:solidFill>
                  <a:schemeClr val="tx2">
                    <a:lumMod val="90000"/>
                    <a:lumOff val="10000"/>
                  </a:schemeClr>
                </a:solidFill>
                <a:latin typeface="SourceCodePro"/>
              </a:rPr>
              <a:t>unique_lock</a:t>
            </a:r>
            <a:r>
              <a:rPr lang="en-US" sz="2200" dirty="0">
                <a:solidFill>
                  <a:schemeClr val="tx2">
                    <a:lumMod val="90000"/>
                    <a:lumOff val="10000"/>
                  </a:schemeClr>
                </a:solidFill>
                <a:latin typeface="SourceCodePro"/>
              </a:rPr>
              <a:t> bridge(</a:t>
            </a:r>
            <a:r>
              <a:rPr lang="en-US" sz="2200" dirty="0" err="1">
                <a:solidFill>
                  <a:schemeClr val="tx2">
                    <a:lumMod val="90000"/>
                    <a:lumOff val="10000"/>
                  </a:schemeClr>
                </a:solidFill>
                <a:latin typeface="SourceCodePro"/>
              </a:rPr>
              <a:t>bridge_mutex</a:t>
            </a:r>
            <a:r>
              <a:rPr lang="en-US" sz="2200" dirty="0">
                <a:solidFill>
                  <a:schemeClr val="tx2">
                    <a:lumMod val="90000"/>
                    <a:lumOff val="10000"/>
                  </a:schemeClr>
                </a:solidFill>
                <a:latin typeface="SourceCodePro"/>
              </a:rPr>
              <a:t>);</a:t>
            </a:r>
          </a:p>
          <a:p>
            <a:pPr marL="0" indent="0">
              <a:buNone/>
            </a:pPr>
            <a:r>
              <a:rPr lang="en-US" sz="2200" dirty="0" err="1">
                <a:solidFill>
                  <a:schemeClr val="tx2">
                    <a:lumMod val="90000"/>
                    <a:lumOff val="10000"/>
                  </a:schemeClr>
                </a:solidFill>
                <a:latin typeface="SourceCodePro"/>
              </a:rPr>
              <a:t>bridge_changed.wait</a:t>
            </a:r>
            <a:r>
              <a:rPr lang="en-US" sz="2200" dirty="0">
                <a:solidFill>
                  <a:schemeClr val="tx2">
                    <a:lumMod val="90000"/>
                    <a:lumOff val="10000"/>
                  </a:schemeClr>
                </a:solidFill>
                <a:latin typeface="SourceCodePro"/>
              </a:rPr>
              <a:t>(bridge, [&amp;] { </a:t>
            </a:r>
          </a:p>
          <a:p>
            <a:pPr marL="0" indent="0">
              <a:buNone/>
            </a:pPr>
            <a:r>
              <a:rPr lang="en-US" sz="2200" dirty="0">
                <a:solidFill>
                  <a:schemeClr val="tx2">
                    <a:lumMod val="90000"/>
                    <a:lumOff val="10000"/>
                  </a:schemeClr>
                </a:solidFill>
                <a:latin typeface="SourceCodePro"/>
              </a:rPr>
              <a:t>    return traffic == none || traffic == mine; });</a:t>
            </a:r>
          </a:p>
          <a:p>
            <a:pPr marL="0" indent="0">
              <a:buNone/>
            </a:pPr>
            <a:r>
              <a:rPr lang="en-US" sz="2200" dirty="0">
                <a:solidFill>
                  <a:schemeClr val="tx2">
                    <a:lumMod val="90000"/>
                    <a:lumOff val="10000"/>
                  </a:schemeClr>
                </a:solidFill>
                <a:latin typeface="SourceCodePro"/>
              </a:rPr>
              <a:t>traffic = mine;</a:t>
            </a:r>
          </a:p>
          <a:p>
            <a:pPr marL="0" indent="0">
              <a:buNone/>
            </a:pPr>
            <a:r>
              <a:rPr lang="en-US" sz="2200" dirty="0">
                <a:solidFill>
                  <a:schemeClr val="tx2">
                    <a:lumMod val="90000"/>
                    <a:lumOff val="10000"/>
                  </a:schemeClr>
                </a:solidFill>
                <a:latin typeface="SourceCodePro"/>
              </a:rPr>
              <a:t>++</a:t>
            </a:r>
            <a:r>
              <a:rPr lang="en-US" sz="2200" dirty="0" err="1">
                <a:solidFill>
                  <a:schemeClr val="tx2">
                    <a:lumMod val="90000"/>
                    <a:lumOff val="10000"/>
                  </a:schemeClr>
                </a:solidFill>
                <a:latin typeface="SourceCodePro"/>
              </a:rPr>
              <a:t>reindeer_on_bridge</a:t>
            </a:r>
            <a:r>
              <a:rPr lang="en-US" sz="2200" dirty="0">
                <a:solidFill>
                  <a:schemeClr val="tx2">
                    <a:lumMod val="90000"/>
                    <a:lumOff val="10000"/>
                  </a:schemeClr>
                </a:solidFill>
                <a:latin typeface="SourceCodePro"/>
              </a:rPr>
              <a:t>;</a:t>
            </a:r>
          </a:p>
        </p:txBody>
      </p:sp>
      <p:sp>
        <p:nvSpPr>
          <p:cNvPr id="13" name="TextBox 12">
            <a:extLst>
              <a:ext uri="{FF2B5EF4-FFF2-40B4-BE49-F238E27FC236}">
                <a16:creationId xmlns:a16="http://schemas.microsoft.com/office/drawing/2014/main" id="{8C30BEDE-73A5-E235-734F-2F376D415766}"/>
              </a:ext>
            </a:extLst>
          </p:cNvPr>
          <p:cNvSpPr txBox="1"/>
          <p:nvPr/>
        </p:nvSpPr>
        <p:spPr>
          <a:xfrm>
            <a:off x="838200" y="4369217"/>
            <a:ext cx="11159068" cy="2123658"/>
          </a:xfrm>
          <a:prstGeom prst="rect">
            <a:avLst/>
          </a:prstGeom>
          <a:noFill/>
        </p:spPr>
        <p:txBody>
          <a:bodyPr wrap="square">
            <a:spAutoFit/>
          </a:bodyPr>
          <a:lstStyle/>
          <a:p>
            <a:r>
              <a:rPr lang="en-US" sz="2200" dirty="0"/>
              <a:t>Reindeer may join traffic already moving in their direction.</a:t>
            </a:r>
          </a:p>
          <a:p>
            <a:endParaRPr lang="en-US" sz="2200" dirty="0"/>
          </a:p>
          <a:p>
            <a:r>
              <a:rPr lang="en-US" sz="2200" dirty="0"/>
              <a:t>New arrivals keep joining the convoy. The bridge never empties, so other side</a:t>
            </a:r>
          </a:p>
          <a:p>
            <a:r>
              <a:rPr lang="en-US" sz="2200" dirty="0"/>
              <a:t>may wait forever.</a:t>
            </a:r>
          </a:p>
          <a:p>
            <a:endParaRPr lang="en-US" sz="2200" dirty="0"/>
          </a:p>
          <a:p>
            <a:r>
              <a:rPr lang="en-US" sz="2200" dirty="0"/>
              <a:t>This is </a:t>
            </a:r>
            <a:r>
              <a:rPr lang="en-US" sz="2200" b="1" dirty="0"/>
              <a:t>starvation</a:t>
            </a:r>
            <a:r>
              <a:rPr lang="en-US" sz="2200" dirty="0"/>
              <a:t>.</a:t>
            </a:r>
          </a:p>
        </p:txBody>
      </p:sp>
      <p:sp>
        <p:nvSpPr>
          <p:cNvPr id="5" name="Content Placeholder 2">
            <a:extLst>
              <a:ext uri="{FF2B5EF4-FFF2-40B4-BE49-F238E27FC236}">
                <a16:creationId xmlns:a16="http://schemas.microsoft.com/office/drawing/2014/main" id="{126ED9ED-3816-0AE5-42A4-B024EE7E2664}"/>
              </a:ext>
            </a:extLst>
          </p:cNvPr>
          <p:cNvSpPr txBox="1">
            <a:spLocks/>
          </p:cNvSpPr>
          <p:nvPr/>
        </p:nvSpPr>
        <p:spPr>
          <a:xfrm>
            <a:off x="8317348" y="1690688"/>
            <a:ext cx="3822701" cy="242915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err="1">
                <a:solidFill>
                  <a:schemeClr val="tx2">
                    <a:lumMod val="90000"/>
                    <a:lumOff val="10000"/>
                  </a:schemeClr>
                </a:solidFill>
                <a:latin typeface="SourceCodePro"/>
              </a:rPr>
              <a:t>bridge.lock</a:t>
            </a:r>
            <a:r>
              <a:rPr lang="en-US" sz="2200" dirty="0">
                <a:solidFill>
                  <a:schemeClr val="tx2">
                    <a:lumMod val="90000"/>
                    <a:lumOff val="10000"/>
                  </a:schemeClr>
                </a:solidFill>
                <a:latin typeface="SourceCodePro"/>
              </a:rPr>
              <a:t>();</a:t>
            </a:r>
          </a:p>
          <a:p>
            <a:pPr marL="0" indent="0">
              <a:buNone/>
            </a:pPr>
            <a:r>
              <a:rPr lang="en-US" sz="2200" dirty="0">
                <a:solidFill>
                  <a:schemeClr val="tx2">
                    <a:lumMod val="90000"/>
                    <a:lumOff val="10000"/>
                  </a:schemeClr>
                </a:solidFill>
                <a:latin typeface="SourceCodePro"/>
              </a:rPr>
              <a:t>if (--</a:t>
            </a:r>
            <a:r>
              <a:rPr lang="en-US" sz="2200" dirty="0" err="1">
                <a:solidFill>
                  <a:schemeClr val="tx2">
                    <a:lumMod val="90000"/>
                    <a:lumOff val="10000"/>
                  </a:schemeClr>
                </a:solidFill>
                <a:latin typeface="SourceCodePro"/>
              </a:rPr>
              <a:t>reindeer_on_bridge</a:t>
            </a:r>
            <a:r>
              <a:rPr lang="en-US" sz="2200" dirty="0">
                <a:solidFill>
                  <a:schemeClr val="tx2">
                    <a:lumMod val="90000"/>
                    <a:lumOff val="10000"/>
                  </a:schemeClr>
                </a:solidFill>
                <a:latin typeface="SourceCodePro"/>
              </a:rPr>
              <a:t> == 0) {</a:t>
            </a:r>
          </a:p>
          <a:p>
            <a:pPr marL="0" indent="0">
              <a:buNone/>
            </a:pPr>
            <a:r>
              <a:rPr lang="en-US" sz="2200" dirty="0">
                <a:solidFill>
                  <a:schemeClr val="tx2">
                    <a:lumMod val="90000"/>
                    <a:lumOff val="10000"/>
                  </a:schemeClr>
                </a:solidFill>
                <a:latin typeface="SourceCodePro"/>
              </a:rPr>
              <a:t>    traffic = none;</a:t>
            </a:r>
          </a:p>
          <a:p>
            <a:pPr marL="0" indent="0">
              <a:buNone/>
            </a:pPr>
            <a:r>
              <a:rPr lang="en-US" sz="2200" dirty="0">
                <a:solidFill>
                  <a:schemeClr val="tx2">
                    <a:lumMod val="90000"/>
                    <a:lumOff val="10000"/>
                  </a:schemeClr>
                </a:solidFill>
                <a:latin typeface="SourceCodePro"/>
              </a:rPr>
              <a:t>    </a:t>
            </a:r>
            <a:r>
              <a:rPr lang="en-US" sz="2200" dirty="0" err="1">
                <a:solidFill>
                  <a:schemeClr val="tx2">
                    <a:lumMod val="90000"/>
                    <a:lumOff val="10000"/>
                  </a:schemeClr>
                </a:solidFill>
                <a:latin typeface="SourceCodePro"/>
              </a:rPr>
              <a:t>bridge_changed.notify_all</a:t>
            </a:r>
            <a:r>
              <a:rPr lang="en-US" sz="2200" dirty="0">
                <a:solidFill>
                  <a:schemeClr val="tx2">
                    <a:lumMod val="90000"/>
                    <a:lumOff val="10000"/>
                  </a:schemeClr>
                </a:solidFill>
                <a:latin typeface="SourceCodePro"/>
              </a:rPr>
              <a:t>();</a:t>
            </a:r>
          </a:p>
          <a:p>
            <a:pPr marL="0" indent="0">
              <a:buNone/>
            </a:pPr>
            <a:r>
              <a:rPr lang="en-US" sz="2200" dirty="0">
                <a:solidFill>
                  <a:schemeClr val="tx2">
                    <a:lumMod val="90000"/>
                    <a:lumOff val="10000"/>
                  </a:schemeClr>
                </a:solidFill>
                <a:latin typeface="SourceCodePro"/>
              </a:rPr>
              <a:t>}</a:t>
            </a:r>
          </a:p>
        </p:txBody>
      </p:sp>
      <p:pic>
        <p:nvPicPr>
          <p:cNvPr id="8" name="Graphic 7">
            <a:extLst>
              <a:ext uri="{FF2B5EF4-FFF2-40B4-BE49-F238E27FC236}">
                <a16:creationId xmlns:a16="http://schemas.microsoft.com/office/drawing/2014/main" id="{A4665959-C5A9-2A0B-1384-AFD3B862C1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6518277" y="1835038"/>
            <a:ext cx="1192772" cy="1411357"/>
          </a:xfrm>
          <a:prstGeom prst="rect">
            <a:avLst/>
          </a:prstGeom>
        </p:spPr>
      </p:pic>
      <p:sp>
        <p:nvSpPr>
          <p:cNvPr id="4" name="Slide Number Placeholder 3">
            <a:extLst>
              <a:ext uri="{FF2B5EF4-FFF2-40B4-BE49-F238E27FC236}">
                <a16:creationId xmlns:a16="http://schemas.microsoft.com/office/drawing/2014/main" id="{71CCB9C7-6B7F-150F-E80F-CA0F4E06B7F9}"/>
              </a:ext>
            </a:extLst>
          </p:cNvPr>
          <p:cNvSpPr>
            <a:spLocks noGrp="1"/>
          </p:cNvSpPr>
          <p:nvPr>
            <p:ph type="sldNum" sz="quarter" idx="12"/>
          </p:nvPr>
        </p:nvSpPr>
        <p:spPr/>
        <p:txBody>
          <a:bodyPr/>
          <a:lstStyle/>
          <a:p>
            <a:fld id="{A8D619E7-4118-4CE2-9D02-1AAE6DCE22A2}" type="slidenum">
              <a:rPr lang="en-US" smtClean="0"/>
              <a:t>40</a:t>
            </a:fld>
            <a:endParaRPr lang="en-US"/>
          </a:p>
        </p:txBody>
      </p:sp>
    </p:spTree>
    <p:extLst>
      <p:ext uri="{BB962C8B-B14F-4D97-AF65-F5344CB8AC3E}">
        <p14:creationId xmlns:p14="http://schemas.microsoft.com/office/powerpoint/2010/main" val="4169401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2" end="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3">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D4CC8-5AC5-92AE-F3E3-D68C6ADEE52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CE1990A-47F6-650B-923D-2694E3766C8D}"/>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61B9B2D9-017C-E950-4CC8-EE321BAD6A71}"/>
              </a:ext>
            </a:extLst>
          </p:cNvPr>
          <p:cNvSpPr txBox="1">
            <a:spLocks/>
          </p:cNvSpPr>
          <p:nvPr/>
        </p:nvSpPr>
        <p:spPr>
          <a:xfrm>
            <a:off x="5778810" y="237068"/>
            <a:ext cx="6836523" cy="636693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dirty="0">
                <a:solidFill>
                  <a:schemeClr val="tx2">
                    <a:lumMod val="90000"/>
                    <a:lumOff val="10000"/>
                  </a:schemeClr>
                </a:solidFill>
                <a:latin typeface="SourceCodePro"/>
                <a:ea typeface="SourceCodePro"/>
              </a:rPr>
              <a:t>void </a:t>
            </a:r>
            <a:r>
              <a:rPr lang="en-US" sz="1900" dirty="0" err="1">
                <a:solidFill>
                  <a:schemeClr val="tx2">
                    <a:lumMod val="90000"/>
                    <a:lumOff val="10000"/>
                  </a:schemeClr>
                </a:solidFill>
                <a:latin typeface="SourceCodePro"/>
                <a:ea typeface="SourceCodePro"/>
              </a:rPr>
              <a:t>cross_from_west</a:t>
            </a:r>
            <a:r>
              <a:rPr lang="en-US" sz="1900" dirty="0">
                <a:solidFill>
                  <a:schemeClr val="tx2">
                    <a:lumMod val="90000"/>
                    <a:lumOff val="10000"/>
                  </a:schemeClr>
                </a:solidFill>
                <a:latin typeface="SourceCodePro"/>
                <a:ea typeface="SourceCodePro"/>
              </a:rPr>
              <a:t>() </a:t>
            </a:r>
          </a:p>
          <a:p>
            <a:pPr marL="0" indent="0">
              <a:buNone/>
            </a:pPr>
            <a:r>
              <a:rPr lang="en-US" sz="1900" dirty="0">
                <a:solidFill>
                  <a:schemeClr val="tx2">
                    <a:lumMod val="90000"/>
                    <a:lumOff val="10000"/>
                  </a:schemeClr>
                </a:solidFill>
                <a:latin typeface="SourceCodePro"/>
                <a:ea typeface="SourceCodePro"/>
              </a:rPr>
              <a:t>{</a:t>
            </a:r>
          </a:p>
          <a:p>
            <a:pPr marL="0" indent="0">
              <a:buNone/>
            </a:pP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scoped_lock</a:t>
            </a:r>
            <a:r>
              <a:rPr lang="en-US" sz="1900" dirty="0">
                <a:solidFill>
                  <a:schemeClr val="tx2">
                    <a:lumMod val="90000"/>
                    <a:lumOff val="10000"/>
                  </a:schemeClr>
                </a:solidFill>
                <a:latin typeface="SourceCodePro"/>
                <a:ea typeface="SourceCodePro"/>
              </a:rPr>
              <a:t> bridge(</a:t>
            </a:r>
            <a:r>
              <a:rPr lang="en-US" sz="1900" dirty="0" err="1">
                <a:solidFill>
                  <a:schemeClr val="tx2">
                    <a:lumMod val="90000"/>
                    <a:lumOff val="10000"/>
                  </a:schemeClr>
                </a:solidFill>
                <a:latin typeface="SourceCodePro"/>
                <a:ea typeface="SourceCodePro"/>
              </a:rPr>
              <a:t>west_half</a:t>
            </a: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east_half</a:t>
            </a:r>
            <a:r>
              <a:rPr lang="en-US" sz="1900" dirty="0">
                <a:solidFill>
                  <a:schemeClr val="tx2">
                    <a:lumMod val="90000"/>
                    <a:lumOff val="10000"/>
                  </a:schemeClr>
                </a:solidFill>
                <a:latin typeface="SourceCodePro"/>
                <a:ea typeface="SourceCodePro"/>
              </a:rPr>
              <a:t>);</a:t>
            </a:r>
          </a:p>
          <a:p>
            <a:pPr marL="0" indent="0">
              <a:buNone/>
            </a:pP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cross_bridge</a:t>
            </a:r>
            <a:r>
              <a:rPr lang="en-US" sz="1900" dirty="0">
                <a:solidFill>
                  <a:schemeClr val="tx2">
                    <a:lumMod val="90000"/>
                    <a:lumOff val="10000"/>
                  </a:schemeClr>
                </a:solidFill>
                <a:latin typeface="SourceCodePro"/>
                <a:ea typeface="SourceCodePro"/>
              </a:rPr>
              <a:t>();</a:t>
            </a:r>
          </a:p>
          <a:p>
            <a:pPr marL="0" indent="0">
              <a:buNone/>
            </a:pPr>
            <a:r>
              <a:rPr lang="en-US" sz="1900" dirty="0">
                <a:solidFill>
                  <a:schemeClr val="tx2">
                    <a:lumMod val="90000"/>
                    <a:lumOff val="10000"/>
                  </a:schemeClr>
                </a:solidFill>
                <a:latin typeface="SourceCodePro"/>
                <a:ea typeface="SourceCodePro"/>
              </a:rPr>
              <a:t>}</a:t>
            </a:r>
          </a:p>
          <a:p>
            <a:pPr marL="0" indent="0">
              <a:buNone/>
            </a:pPr>
            <a:endParaRPr lang="en-US" sz="1900" dirty="0">
              <a:solidFill>
                <a:schemeClr val="tx2">
                  <a:lumMod val="90000"/>
                  <a:lumOff val="10000"/>
                </a:schemeClr>
              </a:solidFill>
              <a:latin typeface="SourceCodePro"/>
              <a:ea typeface="SourceCodePro"/>
            </a:endParaRPr>
          </a:p>
          <a:p>
            <a:pPr marL="0" indent="0">
              <a:buNone/>
            </a:pPr>
            <a:r>
              <a:rPr lang="en-US" sz="1900" dirty="0">
                <a:solidFill>
                  <a:schemeClr val="tx2">
                    <a:lumMod val="90000"/>
                    <a:lumOff val="10000"/>
                  </a:schemeClr>
                </a:solidFill>
                <a:latin typeface="SourceCodePro"/>
                <a:ea typeface="SourceCodePro"/>
              </a:rPr>
              <a:t>void </a:t>
            </a:r>
            <a:r>
              <a:rPr lang="en-US" sz="1900" dirty="0" err="1">
                <a:solidFill>
                  <a:schemeClr val="tx2">
                    <a:lumMod val="90000"/>
                    <a:lumOff val="10000"/>
                  </a:schemeClr>
                </a:solidFill>
                <a:latin typeface="SourceCodePro"/>
                <a:ea typeface="SourceCodePro"/>
              </a:rPr>
              <a:t>cross_from_east</a:t>
            </a:r>
            <a:r>
              <a:rPr lang="en-US" sz="1900" dirty="0">
                <a:solidFill>
                  <a:schemeClr val="tx2">
                    <a:lumMod val="90000"/>
                    <a:lumOff val="10000"/>
                  </a:schemeClr>
                </a:solidFill>
                <a:latin typeface="SourceCodePro"/>
                <a:ea typeface="SourceCodePro"/>
              </a:rPr>
              <a:t>() </a:t>
            </a:r>
          </a:p>
          <a:p>
            <a:pPr marL="0" indent="0">
              <a:buNone/>
            </a:pPr>
            <a:r>
              <a:rPr lang="en-US" sz="1900" dirty="0">
                <a:solidFill>
                  <a:schemeClr val="tx2">
                    <a:lumMod val="90000"/>
                    <a:lumOff val="10000"/>
                  </a:schemeClr>
                </a:solidFill>
                <a:latin typeface="SourceCodePro"/>
                <a:ea typeface="SourceCodePro"/>
              </a:rPr>
              <a:t>{</a:t>
            </a:r>
          </a:p>
          <a:p>
            <a:pPr marL="0" indent="0">
              <a:buNone/>
            </a:pP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scoped_lock</a:t>
            </a:r>
            <a:r>
              <a:rPr lang="en-US" sz="1900" dirty="0">
                <a:solidFill>
                  <a:schemeClr val="tx2">
                    <a:lumMod val="90000"/>
                    <a:lumOff val="10000"/>
                  </a:schemeClr>
                </a:solidFill>
                <a:latin typeface="SourceCodePro"/>
                <a:ea typeface="SourceCodePro"/>
              </a:rPr>
              <a:t> bridge(</a:t>
            </a:r>
            <a:r>
              <a:rPr lang="en-US" sz="1900" dirty="0" err="1">
                <a:solidFill>
                  <a:schemeClr val="tx2">
                    <a:lumMod val="90000"/>
                    <a:lumOff val="10000"/>
                  </a:schemeClr>
                </a:solidFill>
                <a:latin typeface="SourceCodePro"/>
                <a:ea typeface="SourceCodePro"/>
              </a:rPr>
              <a:t>east_half</a:t>
            </a: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west_half</a:t>
            </a:r>
            <a:r>
              <a:rPr lang="en-US" sz="1900" dirty="0">
                <a:solidFill>
                  <a:schemeClr val="tx2">
                    <a:lumMod val="90000"/>
                    <a:lumOff val="10000"/>
                  </a:schemeClr>
                </a:solidFill>
                <a:latin typeface="SourceCodePro"/>
                <a:ea typeface="SourceCodePro"/>
              </a:rPr>
              <a:t>); </a:t>
            </a:r>
          </a:p>
          <a:p>
            <a:pPr marL="0" indent="0">
              <a:buNone/>
            </a:pPr>
            <a:r>
              <a:rPr lang="en-US" sz="1900" dirty="0">
                <a:solidFill>
                  <a:schemeClr val="tx2">
                    <a:lumMod val="90000"/>
                    <a:lumOff val="10000"/>
                  </a:schemeClr>
                </a:solidFill>
                <a:latin typeface="SourceCodePro"/>
                <a:ea typeface="SourceCodePro"/>
              </a:rPr>
              <a:t>    </a:t>
            </a:r>
            <a:r>
              <a:rPr lang="en-US" sz="1900" dirty="0" err="1">
                <a:solidFill>
                  <a:schemeClr val="tx2">
                    <a:lumMod val="90000"/>
                    <a:lumOff val="10000"/>
                  </a:schemeClr>
                </a:solidFill>
                <a:latin typeface="SourceCodePro"/>
                <a:ea typeface="SourceCodePro"/>
              </a:rPr>
              <a:t>cross_bridge</a:t>
            </a:r>
            <a:r>
              <a:rPr lang="en-US" sz="1900" dirty="0">
                <a:solidFill>
                  <a:schemeClr val="tx2">
                    <a:lumMod val="90000"/>
                    <a:lumOff val="10000"/>
                  </a:schemeClr>
                </a:solidFill>
                <a:latin typeface="SourceCodePro"/>
                <a:ea typeface="SourceCodePro"/>
              </a:rPr>
              <a:t>();</a:t>
            </a:r>
          </a:p>
          <a:p>
            <a:pPr marL="0" indent="0">
              <a:buNone/>
            </a:pPr>
            <a:r>
              <a:rPr lang="en-US" sz="1900" dirty="0">
                <a:solidFill>
                  <a:schemeClr val="tx2">
                    <a:lumMod val="90000"/>
                    <a:lumOff val="10000"/>
                  </a:schemeClr>
                </a:solidFill>
                <a:latin typeface="SourceCodePro"/>
                <a:ea typeface="SourceCodePro"/>
              </a:rPr>
              <a:t>}</a:t>
            </a:r>
            <a:endParaRPr lang="en-US" sz="1900" dirty="0">
              <a:solidFill>
                <a:schemeClr val="tx2">
                  <a:lumMod val="90000"/>
                  <a:lumOff val="10000"/>
                </a:schemeClr>
              </a:solidFill>
            </a:endParaRPr>
          </a:p>
        </p:txBody>
      </p:sp>
      <p:sp>
        <p:nvSpPr>
          <p:cNvPr id="8" name="TextBox 7">
            <a:extLst>
              <a:ext uri="{FF2B5EF4-FFF2-40B4-BE49-F238E27FC236}">
                <a16:creationId xmlns:a16="http://schemas.microsoft.com/office/drawing/2014/main" id="{27930900-EB17-4E05-B575-1A93B0C9EA5C}"/>
              </a:ext>
            </a:extLst>
          </p:cNvPr>
          <p:cNvSpPr txBox="1"/>
          <p:nvPr/>
        </p:nvSpPr>
        <p:spPr>
          <a:xfrm>
            <a:off x="1718733" y="465593"/>
            <a:ext cx="3191933" cy="430887"/>
          </a:xfrm>
          <a:prstGeom prst="rect">
            <a:avLst/>
          </a:prstGeom>
          <a:noFill/>
        </p:spPr>
        <p:txBody>
          <a:bodyPr wrap="square">
            <a:spAutoFit/>
          </a:bodyPr>
          <a:lstStyle/>
          <a:p>
            <a:r>
              <a:rPr lang="en-US" sz="2200" b="1" dirty="0"/>
              <a:t>The Gallant Reindeer</a:t>
            </a:r>
            <a:endParaRPr lang="en-US" b="1" dirty="0"/>
          </a:p>
        </p:txBody>
      </p:sp>
      <p:pic>
        <p:nvPicPr>
          <p:cNvPr id="4" name="Graphic 3">
            <a:extLst>
              <a:ext uri="{FF2B5EF4-FFF2-40B4-BE49-F238E27FC236}">
                <a16:creationId xmlns:a16="http://schemas.microsoft.com/office/drawing/2014/main" id="{C04AA2FE-4395-79E8-03D6-4FC1778A8A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7469" y="1024952"/>
            <a:ext cx="1958131" cy="2316974"/>
          </a:xfrm>
          <a:prstGeom prst="rect">
            <a:avLst/>
          </a:prstGeom>
        </p:spPr>
      </p:pic>
      <p:sp>
        <p:nvSpPr>
          <p:cNvPr id="7" name="TextBox 6">
            <a:extLst>
              <a:ext uri="{FF2B5EF4-FFF2-40B4-BE49-F238E27FC236}">
                <a16:creationId xmlns:a16="http://schemas.microsoft.com/office/drawing/2014/main" id="{BE44E886-E8FB-C173-3FD1-1FB172C0B286}"/>
              </a:ext>
            </a:extLst>
          </p:cNvPr>
          <p:cNvSpPr txBox="1"/>
          <p:nvPr/>
        </p:nvSpPr>
        <p:spPr>
          <a:xfrm>
            <a:off x="1267452" y="3541034"/>
            <a:ext cx="4053848" cy="707886"/>
          </a:xfrm>
          <a:prstGeom prst="rect">
            <a:avLst/>
          </a:prstGeom>
          <a:noFill/>
        </p:spPr>
        <p:txBody>
          <a:bodyPr wrap="square">
            <a:spAutoFit/>
          </a:bodyPr>
          <a:lstStyle/>
          <a:p>
            <a:r>
              <a:rPr lang="en-US" sz="2000" dirty="0"/>
              <a:t>multiple locks, synchronized retries, and unfair admission</a:t>
            </a:r>
          </a:p>
        </p:txBody>
      </p:sp>
      <p:sp>
        <p:nvSpPr>
          <p:cNvPr id="11" name="TextBox 10">
            <a:extLst>
              <a:ext uri="{FF2B5EF4-FFF2-40B4-BE49-F238E27FC236}">
                <a16:creationId xmlns:a16="http://schemas.microsoft.com/office/drawing/2014/main" id="{533BB45F-C3A8-38F2-E91A-FB8A14344BB0}"/>
              </a:ext>
            </a:extLst>
          </p:cNvPr>
          <p:cNvSpPr txBox="1"/>
          <p:nvPr/>
        </p:nvSpPr>
        <p:spPr>
          <a:xfrm>
            <a:off x="1267452" y="4265854"/>
            <a:ext cx="4053848" cy="707886"/>
          </a:xfrm>
          <a:prstGeom prst="rect">
            <a:avLst/>
          </a:prstGeom>
          <a:noFill/>
        </p:spPr>
        <p:txBody>
          <a:bodyPr wrap="square">
            <a:spAutoFit/>
          </a:bodyPr>
          <a:lstStyle/>
          <a:p>
            <a:r>
              <a:rPr lang="en-US" sz="2000" dirty="0"/>
              <a:t>deadlocks, </a:t>
            </a:r>
            <a:r>
              <a:rPr lang="en-US" sz="2000" dirty="0" err="1"/>
              <a:t>livelocks</a:t>
            </a:r>
            <a:r>
              <a:rPr lang="en-US" sz="2000" dirty="0"/>
              <a:t>, or leaves some threads waiting forever</a:t>
            </a:r>
          </a:p>
        </p:txBody>
      </p:sp>
      <p:sp>
        <p:nvSpPr>
          <p:cNvPr id="14" name="TextBox 13">
            <a:extLst>
              <a:ext uri="{FF2B5EF4-FFF2-40B4-BE49-F238E27FC236}">
                <a16:creationId xmlns:a16="http://schemas.microsoft.com/office/drawing/2014/main" id="{E834C136-6CAE-6C02-61E4-B5E3A8627208}"/>
              </a:ext>
            </a:extLst>
          </p:cNvPr>
          <p:cNvSpPr txBox="1"/>
          <p:nvPr/>
        </p:nvSpPr>
        <p:spPr>
          <a:xfrm>
            <a:off x="1267452" y="5690439"/>
            <a:ext cx="4053848" cy="707886"/>
          </a:xfrm>
          <a:prstGeom prst="rect">
            <a:avLst/>
          </a:prstGeom>
          <a:noFill/>
        </p:spPr>
        <p:txBody>
          <a:bodyPr wrap="square">
            <a:spAutoFit/>
          </a:bodyPr>
          <a:lstStyle/>
          <a:p>
            <a:r>
              <a:rPr lang="en-US" sz="2000" dirty="0"/>
              <a:t>order coupled locks; block instead of retry; force a fair handoff</a:t>
            </a:r>
          </a:p>
        </p:txBody>
      </p:sp>
      <p:sp>
        <p:nvSpPr>
          <p:cNvPr id="17" name="TextBox 16">
            <a:extLst>
              <a:ext uri="{FF2B5EF4-FFF2-40B4-BE49-F238E27FC236}">
                <a16:creationId xmlns:a16="http://schemas.microsoft.com/office/drawing/2014/main" id="{31DA6FFD-110F-0885-52DA-DEAE7687005A}"/>
              </a:ext>
            </a:extLst>
          </p:cNvPr>
          <p:cNvSpPr txBox="1"/>
          <p:nvPr/>
        </p:nvSpPr>
        <p:spPr>
          <a:xfrm>
            <a:off x="1267452" y="4965273"/>
            <a:ext cx="4053848" cy="707886"/>
          </a:xfrm>
          <a:prstGeom prst="rect">
            <a:avLst/>
          </a:prstGeom>
          <a:noFill/>
        </p:spPr>
        <p:txBody>
          <a:bodyPr wrap="square">
            <a:spAutoFit/>
          </a:bodyPr>
          <a:lstStyle/>
          <a:p>
            <a:r>
              <a:rPr lang="en-US" sz="2000" dirty="0"/>
              <a:t>each rule sounds reasonable and timing-dependent tests often pass</a:t>
            </a:r>
          </a:p>
        </p:txBody>
      </p:sp>
      <p:sp>
        <p:nvSpPr>
          <p:cNvPr id="2" name="TextBox 1">
            <a:extLst>
              <a:ext uri="{FF2B5EF4-FFF2-40B4-BE49-F238E27FC236}">
                <a16:creationId xmlns:a16="http://schemas.microsoft.com/office/drawing/2014/main" id="{6EDF020A-E362-D970-D33E-DE7D650CC535}"/>
              </a:ext>
            </a:extLst>
          </p:cNvPr>
          <p:cNvSpPr txBox="1"/>
          <p:nvPr/>
        </p:nvSpPr>
        <p:spPr>
          <a:xfrm>
            <a:off x="5945288" y="5275350"/>
            <a:ext cx="6356783" cy="1200329"/>
          </a:xfrm>
          <a:prstGeom prst="rect">
            <a:avLst/>
          </a:prstGeom>
          <a:noFill/>
        </p:spPr>
        <p:txBody>
          <a:bodyPr wrap="square">
            <a:spAutoFit/>
          </a:bodyPr>
          <a:lstStyle/>
          <a:p>
            <a:r>
              <a:rPr lang="en-US" sz="2400" dirty="0"/>
              <a:t>Simplicity is often the winning design. </a:t>
            </a:r>
          </a:p>
          <a:p>
            <a:r>
              <a:rPr lang="en-US" sz="2400" dirty="0"/>
              <a:t>Against complicated dances it can win the performance race too.</a:t>
            </a:r>
            <a:endParaRPr lang="en-US" sz="2200" dirty="0"/>
          </a:p>
        </p:txBody>
      </p:sp>
      <p:sp>
        <p:nvSpPr>
          <p:cNvPr id="3" name="Slide Number Placeholder 2">
            <a:extLst>
              <a:ext uri="{FF2B5EF4-FFF2-40B4-BE49-F238E27FC236}">
                <a16:creationId xmlns:a16="http://schemas.microsoft.com/office/drawing/2014/main" id="{1711BAA5-1F56-A296-B017-76D9F35756F4}"/>
              </a:ext>
            </a:extLst>
          </p:cNvPr>
          <p:cNvSpPr>
            <a:spLocks noGrp="1"/>
          </p:cNvSpPr>
          <p:nvPr>
            <p:ph type="sldNum" sz="quarter" idx="12"/>
          </p:nvPr>
        </p:nvSpPr>
        <p:spPr/>
        <p:txBody>
          <a:bodyPr/>
          <a:lstStyle/>
          <a:p>
            <a:fld id="{A8D619E7-4118-4CE2-9D02-1AAE6DCE22A2}" type="slidenum">
              <a:rPr lang="en-US" smtClean="0"/>
              <a:t>41</a:t>
            </a:fld>
            <a:endParaRPr lang="en-US"/>
          </a:p>
        </p:txBody>
      </p:sp>
    </p:spTree>
    <p:extLst>
      <p:ext uri="{BB962C8B-B14F-4D97-AF65-F5344CB8AC3E}">
        <p14:creationId xmlns:p14="http://schemas.microsoft.com/office/powerpoint/2010/main" val="614127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xEl>
                                              <p:pRg st="6" end="6"/>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xEl>
                                              <p:pRg st="7" end="7"/>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xEl>
                                              <p:pRg st="8" end="8"/>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xEl>
                                              <p:pRg st="9" end="9"/>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4" grpId="0"/>
      <p:bldP spid="17" grpId="0"/>
      <p:bldP spid="2"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B803A-83CD-4F88-1DB4-D96D48E40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5FD686-F5BA-A4C6-D86A-A23BBB979704}"/>
              </a:ext>
            </a:extLst>
          </p:cNvPr>
          <p:cNvSpPr>
            <a:spLocks noGrp="1"/>
          </p:cNvSpPr>
          <p:nvPr>
            <p:ph type="ctrTitle"/>
          </p:nvPr>
        </p:nvSpPr>
        <p:spPr>
          <a:xfrm>
            <a:off x="1524000" y="1122363"/>
            <a:ext cx="9144000" cy="2387600"/>
          </a:xfrm>
        </p:spPr>
        <p:txBody>
          <a:bodyPr/>
          <a:lstStyle/>
          <a:p>
            <a:r>
              <a:rPr lang="en-US" b="1" dirty="0">
                <a:solidFill>
                  <a:srgbClr val="1A1A1A"/>
                </a:solidFill>
                <a:latin typeface="Fraunces-72pt-SemiBold-NonWonky"/>
                <a:ea typeface="Fraunces-72pt-SemiBold-NonWonky"/>
              </a:rPr>
              <a:t>Zone 5: Performance Aviary</a:t>
            </a:r>
            <a:endParaRPr lang="en-US" dirty="0"/>
          </a:p>
        </p:txBody>
      </p:sp>
      <p:sp>
        <p:nvSpPr>
          <p:cNvPr id="5" name="Subtitle 4">
            <a:extLst>
              <a:ext uri="{FF2B5EF4-FFF2-40B4-BE49-F238E27FC236}">
                <a16:creationId xmlns:a16="http://schemas.microsoft.com/office/drawing/2014/main" id="{ED4A15F5-C63E-C95C-FC42-224CF319544B}"/>
              </a:ext>
            </a:extLst>
          </p:cNvPr>
          <p:cNvSpPr>
            <a:spLocks noGrp="1"/>
          </p:cNvSpPr>
          <p:nvPr>
            <p:ph type="subTitle" idx="1"/>
          </p:nvPr>
        </p:nvSpPr>
        <p:spPr/>
        <p:txBody>
          <a:bodyPr>
            <a:normAutofit/>
          </a:bodyPr>
          <a:lstStyle/>
          <a:p>
            <a:r>
              <a:rPr lang="en-US" i="1" dirty="0">
                <a:latin typeface="SourceSans3ExtraLight"/>
              </a:rPr>
              <a:t>Every bird is safe, and every gate works as designed.</a:t>
            </a:r>
          </a:p>
          <a:p>
            <a:endParaRPr lang="en-US" i="1" dirty="0">
              <a:latin typeface="SourceSans3ExtraLight"/>
            </a:endParaRPr>
          </a:p>
          <a:p>
            <a:r>
              <a:rPr lang="en-US" i="1" dirty="0">
                <a:latin typeface="SourceSans3ExtraLight"/>
              </a:rPr>
              <a:t>Yet today, even the strongest wings feel heavy.</a:t>
            </a:r>
          </a:p>
        </p:txBody>
      </p:sp>
      <p:sp>
        <p:nvSpPr>
          <p:cNvPr id="3" name="Slide Number Placeholder 2">
            <a:extLst>
              <a:ext uri="{FF2B5EF4-FFF2-40B4-BE49-F238E27FC236}">
                <a16:creationId xmlns:a16="http://schemas.microsoft.com/office/drawing/2014/main" id="{5D428823-1F8F-CF7F-C494-90F0DEBF7E57}"/>
              </a:ext>
            </a:extLst>
          </p:cNvPr>
          <p:cNvSpPr>
            <a:spLocks noGrp="1"/>
          </p:cNvSpPr>
          <p:nvPr>
            <p:ph type="sldNum" sz="quarter" idx="12"/>
          </p:nvPr>
        </p:nvSpPr>
        <p:spPr/>
        <p:txBody>
          <a:bodyPr/>
          <a:lstStyle/>
          <a:p>
            <a:fld id="{A8D619E7-4118-4CE2-9D02-1AAE6DCE22A2}" type="slidenum">
              <a:rPr lang="en-US" smtClean="0"/>
              <a:t>42</a:t>
            </a:fld>
            <a:endParaRPr lang="en-US"/>
          </a:p>
        </p:txBody>
      </p:sp>
    </p:spTree>
    <p:extLst>
      <p:ext uri="{BB962C8B-B14F-4D97-AF65-F5344CB8AC3E}">
        <p14:creationId xmlns:p14="http://schemas.microsoft.com/office/powerpoint/2010/main" val="31722620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E0A96-E5E2-4055-BEE9-CA454BBD7A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38DCB-87A4-2AB0-3D94-E25B99C3255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Turnstile Tern</a:t>
            </a:r>
          </a:p>
        </p:txBody>
      </p:sp>
      <p:sp>
        <p:nvSpPr>
          <p:cNvPr id="7" name="TextBox 6">
            <a:extLst>
              <a:ext uri="{FF2B5EF4-FFF2-40B4-BE49-F238E27FC236}">
                <a16:creationId xmlns:a16="http://schemas.microsoft.com/office/drawing/2014/main" id="{2735F3C0-8A07-4944-8F2A-C74D5F35ADFA}"/>
              </a:ext>
            </a:extLst>
          </p:cNvPr>
          <p:cNvSpPr txBox="1"/>
          <p:nvPr/>
        </p:nvSpPr>
        <p:spPr>
          <a:xfrm>
            <a:off x="838200" y="4920797"/>
            <a:ext cx="10199914" cy="1107996"/>
          </a:xfrm>
          <a:prstGeom prst="rect">
            <a:avLst/>
          </a:prstGeom>
          <a:noFill/>
        </p:spPr>
        <p:txBody>
          <a:bodyPr wrap="square" rtlCol="0">
            <a:spAutoFit/>
          </a:bodyPr>
          <a:lstStyle/>
          <a:p>
            <a:r>
              <a:rPr lang="en-US" sz="2200" i="1" dirty="0">
                <a:latin typeface="SourceSans3ExtraLight"/>
              </a:rPr>
              <a:t>The tern believes a well-run zoo has a rule for every step.</a:t>
            </a:r>
          </a:p>
          <a:p>
            <a:endParaRPr lang="en-US" sz="2200" i="1" dirty="0">
              <a:latin typeface="SourceSans3ExtraLight"/>
            </a:endParaRPr>
          </a:p>
          <a:p>
            <a:r>
              <a:rPr lang="en-US" sz="2200" i="1" dirty="0">
                <a:latin typeface="SourceSans3ExtraLight"/>
              </a:rPr>
              <a:t>No shortcut, no exception, no visitor out of line.</a:t>
            </a:r>
          </a:p>
        </p:txBody>
      </p:sp>
      <p:pic>
        <p:nvPicPr>
          <p:cNvPr id="4" name="Graphic 3">
            <a:extLst>
              <a:ext uri="{FF2B5EF4-FFF2-40B4-BE49-F238E27FC236}">
                <a16:creationId xmlns:a16="http://schemas.microsoft.com/office/drawing/2014/main" id="{6D20A393-FC45-F88D-D30E-3634BD4A1B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57792" y="452427"/>
            <a:ext cx="3956407" cy="1902210"/>
          </a:xfrm>
          <a:prstGeom prst="rect">
            <a:avLst/>
          </a:prstGeom>
        </p:spPr>
      </p:pic>
      <p:sp>
        <p:nvSpPr>
          <p:cNvPr id="3" name="Slide Number Placeholder 2">
            <a:extLst>
              <a:ext uri="{FF2B5EF4-FFF2-40B4-BE49-F238E27FC236}">
                <a16:creationId xmlns:a16="http://schemas.microsoft.com/office/drawing/2014/main" id="{19E585B0-C56E-89B7-9975-2D73D464D8DC}"/>
              </a:ext>
            </a:extLst>
          </p:cNvPr>
          <p:cNvSpPr>
            <a:spLocks noGrp="1"/>
          </p:cNvSpPr>
          <p:nvPr>
            <p:ph type="sldNum" sz="quarter" idx="12"/>
          </p:nvPr>
        </p:nvSpPr>
        <p:spPr/>
        <p:txBody>
          <a:bodyPr/>
          <a:lstStyle/>
          <a:p>
            <a:fld id="{A8D619E7-4118-4CE2-9D02-1AAE6DCE22A2}" type="slidenum">
              <a:rPr lang="en-US" smtClean="0"/>
              <a:t>43</a:t>
            </a:fld>
            <a:endParaRPr lang="en-US"/>
          </a:p>
        </p:txBody>
      </p:sp>
    </p:spTree>
    <p:extLst>
      <p:ext uri="{BB962C8B-B14F-4D97-AF65-F5344CB8AC3E}">
        <p14:creationId xmlns:p14="http://schemas.microsoft.com/office/powerpoint/2010/main" val="11472590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687E2-0DEC-9DEB-62C5-31C1CC4157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D11A25-B33C-1F24-E6DD-8E8FAFB19895}"/>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Turnstile Tern</a:t>
            </a:r>
            <a:endParaRPr lang="en-US" dirty="0"/>
          </a:p>
        </p:txBody>
      </p:sp>
      <p:sp>
        <p:nvSpPr>
          <p:cNvPr id="3" name="Content Placeholder 2">
            <a:extLst>
              <a:ext uri="{FF2B5EF4-FFF2-40B4-BE49-F238E27FC236}">
                <a16:creationId xmlns:a16="http://schemas.microsoft.com/office/drawing/2014/main" id="{ACB1C625-51F8-A84C-85D6-E1ABD5FCB03E}"/>
              </a:ext>
            </a:extLst>
          </p:cNvPr>
          <p:cNvSpPr>
            <a:spLocks noGrp="1"/>
          </p:cNvSpPr>
          <p:nvPr>
            <p:ph idx="1"/>
          </p:nvPr>
        </p:nvSpPr>
        <p:spPr>
          <a:xfrm>
            <a:off x="838200" y="1653533"/>
            <a:ext cx="2878668" cy="3079334"/>
          </a:xfrm>
        </p:spPr>
        <p:txBody>
          <a:bodyPr>
            <a:normAutofit/>
          </a:bodyPr>
          <a:lstStyle/>
          <a:p>
            <a:pPr marL="0" indent="0">
              <a:buNone/>
            </a:pPr>
            <a:r>
              <a:rPr lang="en-US" sz="2200" dirty="0">
                <a:solidFill>
                  <a:schemeClr val="tx2">
                    <a:lumMod val="90000"/>
                    <a:lumOff val="10000"/>
                  </a:schemeClr>
                </a:solidFill>
                <a:latin typeface="SourceCodePro"/>
                <a:ea typeface="SourceCodePro"/>
              </a:rPr>
              <a:t>mutex m;</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visit_aquarium</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lock(m);</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aquarium_visitors</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explore_aquarium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p:txBody>
      </p:sp>
      <p:sp>
        <p:nvSpPr>
          <p:cNvPr id="13" name="TextBox 12">
            <a:extLst>
              <a:ext uri="{FF2B5EF4-FFF2-40B4-BE49-F238E27FC236}">
                <a16:creationId xmlns:a16="http://schemas.microsoft.com/office/drawing/2014/main" id="{F52059FE-0F85-1FB2-DEE6-E1018E59EB2B}"/>
              </a:ext>
            </a:extLst>
          </p:cNvPr>
          <p:cNvSpPr txBox="1"/>
          <p:nvPr/>
        </p:nvSpPr>
        <p:spPr>
          <a:xfrm>
            <a:off x="838200" y="4724815"/>
            <a:ext cx="11159067" cy="1785104"/>
          </a:xfrm>
          <a:prstGeom prst="rect">
            <a:avLst/>
          </a:prstGeom>
          <a:noFill/>
        </p:spPr>
        <p:txBody>
          <a:bodyPr wrap="square">
            <a:spAutoFit/>
          </a:bodyPr>
          <a:lstStyle/>
          <a:p>
            <a:r>
              <a:rPr lang="en-US" sz="2200" dirty="0"/>
              <a:t>Correct, but unrelated attractions are serialized</a:t>
            </a:r>
          </a:p>
          <a:p>
            <a:endParaRPr lang="en-US" sz="2200" dirty="0"/>
          </a:p>
          <a:p>
            <a:r>
              <a:rPr lang="en-US" sz="2200" dirty="0"/>
              <a:t>Too little synchronization breaks correctness.  </a:t>
            </a:r>
          </a:p>
          <a:p>
            <a:endParaRPr lang="en-US" sz="2200" dirty="0"/>
          </a:p>
          <a:p>
            <a:r>
              <a:rPr lang="en-US" sz="2200" dirty="0"/>
              <a:t>Too much synchronization quietly removes scalability.</a:t>
            </a:r>
          </a:p>
        </p:txBody>
      </p:sp>
      <p:sp>
        <p:nvSpPr>
          <p:cNvPr id="4" name="Content Placeholder 2">
            <a:extLst>
              <a:ext uri="{FF2B5EF4-FFF2-40B4-BE49-F238E27FC236}">
                <a16:creationId xmlns:a16="http://schemas.microsoft.com/office/drawing/2014/main" id="{EE11E90B-21FE-260F-5DAE-29BC52B146AE}"/>
              </a:ext>
            </a:extLst>
          </p:cNvPr>
          <p:cNvSpPr txBox="1">
            <a:spLocks/>
          </p:cNvSpPr>
          <p:nvPr/>
        </p:nvSpPr>
        <p:spPr>
          <a:xfrm>
            <a:off x="4360333" y="1648354"/>
            <a:ext cx="3302000" cy="30141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200" dirty="0">
              <a:solidFill>
                <a:schemeClr val="tx2">
                  <a:lumMod val="90000"/>
                  <a:lumOff val="10000"/>
                </a:schemeClr>
              </a:solidFill>
              <a:latin typeface="SourceCodePro"/>
              <a:ea typeface="SourceCodePro"/>
            </a:endParaRPr>
          </a:p>
          <a:p>
            <a:pPr marL="0" indent="0">
              <a:buFont typeface="Arial" panose="020B0604020202020204" pitchFamily="34" charset="0"/>
              <a:buNone/>
            </a:pPr>
            <a:endParaRPr lang="en-US" sz="2200" dirty="0">
              <a:solidFill>
                <a:schemeClr val="tx2">
                  <a:lumMod val="90000"/>
                  <a:lumOff val="10000"/>
                </a:schemeClr>
              </a:solidFill>
              <a:latin typeface="SourceCodePro"/>
              <a:ea typeface="SourceCodePro"/>
            </a:endParaRP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ride_carousel</a:t>
            </a:r>
            <a:r>
              <a:rPr lang="en-US" sz="2200" dirty="0">
                <a:solidFill>
                  <a:schemeClr val="tx2">
                    <a:lumMod val="90000"/>
                    <a:lumOff val="10000"/>
                  </a:schemeClr>
                </a:solidFill>
                <a:latin typeface="SourceCodePro"/>
                <a:ea typeface="SourceCodePro"/>
              </a:rPr>
              <a:t>() {</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lock(m);</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carousel_riders</a:t>
            </a:r>
            <a:r>
              <a:rPr lang="en-US" sz="2200" dirty="0">
                <a:solidFill>
                  <a:schemeClr val="tx2">
                    <a:lumMod val="90000"/>
                    <a:lumOff val="10000"/>
                  </a:schemeClr>
                </a:solidFill>
                <a:latin typeface="SourceCodePro"/>
                <a:ea typeface="SourceCodePro"/>
              </a:rPr>
              <a:t>;</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buy_ice_cream</a:t>
            </a:r>
            <a:r>
              <a:rPr lang="en-US" sz="2200" dirty="0">
                <a:solidFill>
                  <a:schemeClr val="tx2">
                    <a:lumMod val="90000"/>
                    <a:lumOff val="10000"/>
                  </a:schemeClr>
                </a:solidFill>
                <a:latin typeface="SourceCodePro"/>
                <a:ea typeface="SourceCodePro"/>
              </a:rPr>
              <a:t>();                    </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a:t>
            </a:r>
          </a:p>
        </p:txBody>
      </p:sp>
      <p:pic>
        <p:nvPicPr>
          <p:cNvPr id="6" name="Graphic 5">
            <a:extLst>
              <a:ext uri="{FF2B5EF4-FFF2-40B4-BE49-F238E27FC236}">
                <a16:creationId xmlns:a16="http://schemas.microsoft.com/office/drawing/2014/main" id="{6B786076-D92B-5579-E8FE-6794FC8D70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57792" y="452427"/>
            <a:ext cx="3956407" cy="1902210"/>
          </a:xfrm>
          <a:prstGeom prst="rect">
            <a:avLst/>
          </a:prstGeom>
        </p:spPr>
      </p:pic>
      <p:sp>
        <p:nvSpPr>
          <p:cNvPr id="5" name="Slide Number Placeholder 4">
            <a:extLst>
              <a:ext uri="{FF2B5EF4-FFF2-40B4-BE49-F238E27FC236}">
                <a16:creationId xmlns:a16="http://schemas.microsoft.com/office/drawing/2014/main" id="{DD0338F2-679E-23FE-A347-80A3955EFC25}"/>
              </a:ext>
            </a:extLst>
          </p:cNvPr>
          <p:cNvSpPr>
            <a:spLocks noGrp="1"/>
          </p:cNvSpPr>
          <p:nvPr>
            <p:ph type="sldNum" sz="quarter" idx="12"/>
          </p:nvPr>
        </p:nvSpPr>
        <p:spPr/>
        <p:txBody>
          <a:bodyPr/>
          <a:lstStyle/>
          <a:p>
            <a:fld id="{A8D619E7-4118-4CE2-9D02-1AAE6DCE22A2}" type="slidenum">
              <a:rPr lang="en-US" smtClean="0"/>
              <a:t>44</a:t>
            </a:fld>
            <a:endParaRPr lang="en-US"/>
          </a:p>
        </p:txBody>
      </p:sp>
    </p:spTree>
    <p:extLst>
      <p:ext uri="{BB962C8B-B14F-4D97-AF65-F5344CB8AC3E}">
        <p14:creationId xmlns:p14="http://schemas.microsoft.com/office/powerpoint/2010/main" val="1307398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4C60F-3CF2-A276-2F61-7AE15520F97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69D0527-7AB4-C502-2CAA-74647F7DFF8E}"/>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7D1444D0-72F3-96D7-7769-1273B213F6C3}"/>
              </a:ext>
            </a:extLst>
          </p:cNvPr>
          <p:cNvSpPr txBox="1">
            <a:spLocks/>
          </p:cNvSpPr>
          <p:nvPr/>
        </p:nvSpPr>
        <p:spPr>
          <a:xfrm>
            <a:off x="6223000" y="541867"/>
            <a:ext cx="6392333" cy="5477933"/>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mutex </a:t>
            </a:r>
            <a:r>
              <a:rPr lang="en-US" sz="2200" dirty="0" err="1">
                <a:solidFill>
                  <a:schemeClr val="tx2">
                    <a:lumMod val="90000"/>
                    <a:lumOff val="10000"/>
                  </a:schemeClr>
                </a:solidFill>
                <a:latin typeface="SourceCodePro"/>
                <a:ea typeface="SourceCodePro"/>
              </a:rPr>
              <a:t>aquarium_m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mutex </a:t>
            </a:r>
            <a:r>
              <a:rPr lang="en-US" sz="2200" dirty="0" err="1">
                <a:solidFill>
                  <a:schemeClr val="tx2">
                    <a:lumMod val="90000"/>
                    <a:lumOff val="10000"/>
                  </a:schemeClr>
                </a:solidFill>
                <a:latin typeface="SourceCodePro"/>
                <a:ea typeface="SourceCodePro"/>
              </a:rPr>
              <a:t>carousel_m</a:t>
            </a: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ride_carousel</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a:t>
            </a:r>
            <a:r>
              <a:rPr lang="en-US" sz="2200" dirty="0" err="1">
                <a:solidFill>
                  <a:schemeClr val="tx2">
                    <a:lumMod val="90000"/>
                    <a:lumOff val="10000"/>
                  </a:schemeClr>
                </a:solidFill>
                <a:latin typeface="SourceCodePro"/>
                <a:ea typeface="SourceCodePro"/>
              </a:rPr>
              <a:t>carousel_m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carousel_riders</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buy_ice_cream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visit_aquarium</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lock_guard</a:t>
            </a:r>
            <a:r>
              <a:rPr lang="en-US" sz="2200" dirty="0">
                <a:solidFill>
                  <a:schemeClr val="tx2">
                    <a:lumMod val="90000"/>
                    <a:lumOff val="10000"/>
                  </a:schemeClr>
                </a:solidFill>
                <a:latin typeface="SourceCodePro"/>
                <a:ea typeface="SourceCodePro"/>
              </a:rPr>
              <a:t> lock(</a:t>
            </a:r>
            <a:r>
              <a:rPr lang="en-US" sz="2200" dirty="0" err="1">
                <a:solidFill>
                  <a:schemeClr val="tx2">
                    <a:lumMod val="90000"/>
                    <a:lumOff val="10000"/>
                  </a:schemeClr>
                </a:solidFill>
                <a:latin typeface="SourceCodePro"/>
                <a:ea typeface="SourceCodePro"/>
              </a:rPr>
              <a:t>aquarium_m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aquarium_visitors</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explore_aquarium</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13F15FCD-D873-56B7-D4FD-A0055E6D026F}"/>
              </a:ext>
            </a:extLst>
          </p:cNvPr>
          <p:cNvSpPr txBox="1"/>
          <p:nvPr/>
        </p:nvSpPr>
        <p:spPr>
          <a:xfrm>
            <a:off x="1515533" y="465593"/>
            <a:ext cx="3191933" cy="430887"/>
          </a:xfrm>
          <a:prstGeom prst="rect">
            <a:avLst/>
          </a:prstGeom>
          <a:noFill/>
        </p:spPr>
        <p:txBody>
          <a:bodyPr wrap="square">
            <a:spAutoFit/>
          </a:bodyPr>
          <a:lstStyle/>
          <a:p>
            <a:r>
              <a:rPr lang="en-US" sz="2200" b="1" dirty="0"/>
              <a:t>The Turnstile Tern</a:t>
            </a:r>
            <a:endParaRPr lang="en-US" b="1" dirty="0"/>
          </a:p>
        </p:txBody>
      </p:sp>
      <p:pic>
        <p:nvPicPr>
          <p:cNvPr id="5" name="Graphic 4">
            <a:extLst>
              <a:ext uri="{FF2B5EF4-FFF2-40B4-BE49-F238E27FC236}">
                <a16:creationId xmlns:a16="http://schemas.microsoft.com/office/drawing/2014/main" id="{398C3410-C9B6-278E-75E4-28EB300500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33295" y="1259703"/>
            <a:ext cx="3956407" cy="1902210"/>
          </a:xfrm>
          <a:prstGeom prst="rect">
            <a:avLst/>
          </a:prstGeom>
        </p:spPr>
      </p:pic>
      <p:sp>
        <p:nvSpPr>
          <p:cNvPr id="25" name="TextBox 24">
            <a:extLst>
              <a:ext uri="{FF2B5EF4-FFF2-40B4-BE49-F238E27FC236}">
                <a16:creationId xmlns:a16="http://schemas.microsoft.com/office/drawing/2014/main" id="{21FC2C9C-D36D-716E-4F9D-97A61AADDA75}"/>
              </a:ext>
            </a:extLst>
          </p:cNvPr>
          <p:cNvSpPr txBox="1"/>
          <p:nvPr/>
        </p:nvSpPr>
        <p:spPr>
          <a:xfrm>
            <a:off x="1229352" y="3541034"/>
            <a:ext cx="4117348" cy="707886"/>
          </a:xfrm>
          <a:prstGeom prst="rect">
            <a:avLst/>
          </a:prstGeom>
          <a:noFill/>
        </p:spPr>
        <p:txBody>
          <a:bodyPr wrap="square">
            <a:spAutoFit/>
          </a:bodyPr>
          <a:lstStyle/>
          <a:p>
            <a:r>
              <a:rPr lang="en-US" sz="2000" dirty="0"/>
              <a:t>one giant lock around unrelated work</a:t>
            </a:r>
          </a:p>
        </p:txBody>
      </p:sp>
      <p:sp>
        <p:nvSpPr>
          <p:cNvPr id="27" name="TextBox 26">
            <a:extLst>
              <a:ext uri="{FF2B5EF4-FFF2-40B4-BE49-F238E27FC236}">
                <a16:creationId xmlns:a16="http://schemas.microsoft.com/office/drawing/2014/main" id="{5B30D876-C027-3B66-34C5-7FE8A8297C79}"/>
              </a:ext>
            </a:extLst>
          </p:cNvPr>
          <p:cNvSpPr txBox="1"/>
          <p:nvPr/>
        </p:nvSpPr>
        <p:spPr>
          <a:xfrm>
            <a:off x="1229352" y="4265854"/>
            <a:ext cx="4715936" cy="707886"/>
          </a:xfrm>
          <a:prstGeom prst="rect">
            <a:avLst/>
          </a:prstGeom>
          <a:noFill/>
        </p:spPr>
        <p:txBody>
          <a:bodyPr wrap="square">
            <a:spAutoFit/>
          </a:bodyPr>
          <a:lstStyle/>
          <a:p>
            <a:r>
              <a:rPr lang="en-US" sz="2000" dirty="0"/>
              <a:t>turns a multicore system </a:t>
            </a:r>
          </a:p>
          <a:p>
            <a:r>
              <a:rPr lang="en-US" sz="2000" dirty="0"/>
              <a:t>into a single-file queue</a:t>
            </a:r>
          </a:p>
        </p:txBody>
      </p:sp>
      <p:sp>
        <p:nvSpPr>
          <p:cNvPr id="29" name="TextBox 28">
            <a:extLst>
              <a:ext uri="{FF2B5EF4-FFF2-40B4-BE49-F238E27FC236}">
                <a16:creationId xmlns:a16="http://schemas.microsoft.com/office/drawing/2014/main" id="{9BA93038-9E0D-21AE-BBFC-7567291C83A3}"/>
              </a:ext>
            </a:extLst>
          </p:cNvPr>
          <p:cNvSpPr txBox="1"/>
          <p:nvPr/>
        </p:nvSpPr>
        <p:spPr>
          <a:xfrm>
            <a:off x="1229352" y="5690439"/>
            <a:ext cx="4428074" cy="707886"/>
          </a:xfrm>
          <a:prstGeom prst="rect">
            <a:avLst/>
          </a:prstGeom>
          <a:noFill/>
        </p:spPr>
        <p:txBody>
          <a:bodyPr wrap="square">
            <a:spAutoFit/>
          </a:bodyPr>
          <a:lstStyle/>
          <a:p>
            <a:r>
              <a:rPr lang="en-US" sz="2000" dirty="0"/>
              <a:t>protect the smallest meaningful invariant</a:t>
            </a:r>
          </a:p>
        </p:txBody>
      </p:sp>
      <p:sp>
        <p:nvSpPr>
          <p:cNvPr id="31" name="TextBox 30">
            <a:extLst>
              <a:ext uri="{FF2B5EF4-FFF2-40B4-BE49-F238E27FC236}">
                <a16:creationId xmlns:a16="http://schemas.microsoft.com/office/drawing/2014/main" id="{60D9452F-0A8E-E66E-BA8A-981B39F25D49}"/>
              </a:ext>
            </a:extLst>
          </p:cNvPr>
          <p:cNvSpPr txBox="1"/>
          <p:nvPr/>
        </p:nvSpPr>
        <p:spPr>
          <a:xfrm>
            <a:off x="1229352" y="4965273"/>
            <a:ext cx="4117348" cy="707886"/>
          </a:xfrm>
          <a:prstGeom prst="rect">
            <a:avLst/>
          </a:prstGeom>
          <a:noFill/>
        </p:spPr>
        <p:txBody>
          <a:bodyPr wrap="square">
            <a:spAutoFit/>
          </a:bodyPr>
          <a:lstStyle/>
          <a:p>
            <a:r>
              <a:rPr lang="en-US" sz="2000" dirty="0"/>
              <a:t>correctness tests pass; small demos have little contention</a:t>
            </a:r>
          </a:p>
        </p:txBody>
      </p:sp>
      <p:sp>
        <p:nvSpPr>
          <p:cNvPr id="2" name="Slide Number Placeholder 1">
            <a:extLst>
              <a:ext uri="{FF2B5EF4-FFF2-40B4-BE49-F238E27FC236}">
                <a16:creationId xmlns:a16="http://schemas.microsoft.com/office/drawing/2014/main" id="{F78FB9EC-6C7F-E219-4CC6-ABE10115D693}"/>
              </a:ext>
            </a:extLst>
          </p:cNvPr>
          <p:cNvSpPr>
            <a:spLocks noGrp="1"/>
          </p:cNvSpPr>
          <p:nvPr>
            <p:ph type="sldNum" sz="quarter" idx="12"/>
          </p:nvPr>
        </p:nvSpPr>
        <p:spPr/>
        <p:txBody>
          <a:bodyPr/>
          <a:lstStyle/>
          <a:p>
            <a:fld id="{A8D619E7-4118-4CE2-9D02-1AAE6DCE22A2}" type="slidenum">
              <a:rPr lang="en-US" smtClean="0"/>
              <a:t>45</a:t>
            </a:fld>
            <a:endParaRPr lang="en-US"/>
          </a:p>
        </p:txBody>
      </p:sp>
    </p:spTree>
    <p:extLst>
      <p:ext uri="{BB962C8B-B14F-4D97-AF65-F5344CB8AC3E}">
        <p14:creationId xmlns:p14="http://schemas.microsoft.com/office/powerpoint/2010/main" val="545544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xEl>
                                              <p:pRg st="6" end="6"/>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xEl>
                                              <p:pRg st="7" end="7"/>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xEl>
                                              <p:pRg st="8" end="8"/>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2">
                                            <p:txEl>
                                              <p:pRg st="11" end="11"/>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2">
                                            <p:txEl>
                                              <p:pRg st="12" end="1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2">
                                            <p:txEl>
                                              <p:pRg st="13" end="1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2">
                                            <p:txEl>
                                              <p:pRg st="14" end="1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2">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7" grpId="0"/>
      <p:bldP spid="29" grpId="0"/>
      <p:bldP spid="31"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62737-C5CF-D04B-D776-2BF4853A85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A6B2DA-8AB0-650E-9222-4DED925DE60C}"/>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Next-Door Sparrows</a:t>
            </a:r>
          </a:p>
        </p:txBody>
      </p:sp>
      <p:sp>
        <p:nvSpPr>
          <p:cNvPr id="7" name="TextBox 6">
            <a:extLst>
              <a:ext uri="{FF2B5EF4-FFF2-40B4-BE49-F238E27FC236}">
                <a16:creationId xmlns:a16="http://schemas.microsoft.com/office/drawing/2014/main" id="{57E9402C-DF0D-7DB3-BE8C-1FC4C6E0F685}"/>
              </a:ext>
            </a:extLst>
          </p:cNvPr>
          <p:cNvSpPr txBox="1"/>
          <p:nvPr/>
        </p:nvSpPr>
        <p:spPr>
          <a:xfrm>
            <a:off x="838200" y="4920797"/>
            <a:ext cx="10199914" cy="1107996"/>
          </a:xfrm>
          <a:prstGeom prst="rect">
            <a:avLst/>
          </a:prstGeom>
          <a:noFill/>
        </p:spPr>
        <p:txBody>
          <a:bodyPr wrap="square" rtlCol="0">
            <a:spAutoFit/>
          </a:bodyPr>
          <a:lstStyle/>
          <a:p>
            <a:r>
              <a:rPr lang="en-US" sz="2200" i="1" dirty="0">
                <a:latin typeface="SourceSans3ExtraLight"/>
              </a:rPr>
              <a:t>They live next door, each in a nest of its own.</a:t>
            </a:r>
          </a:p>
          <a:p>
            <a:endParaRPr lang="en-US" sz="2200" i="1" dirty="0">
              <a:latin typeface="SourceSans3ExtraLight"/>
            </a:endParaRPr>
          </a:p>
          <a:p>
            <a:r>
              <a:rPr lang="en-US" sz="2200" i="1" dirty="0">
                <a:latin typeface="SourceSans3ExtraLight"/>
              </a:rPr>
              <a:t>Whenever one stirs, the other's whole home shakes.</a:t>
            </a:r>
          </a:p>
        </p:txBody>
      </p:sp>
      <p:pic>
        <p:nvPicPr>
          <p:cNvPr id="5" name="Graphic 4">
            <a:extLst>
              <a:ext uri="{FF2B5EF4-FFF2-40B4-BE49-F238E27FC236}">
                <a16:creationId xmlns:a16="http://schemas.microsoft.com/office/drawing/2014/main" id="{B0F267A3-C95D-C3CE-04A9-144B6A4B2A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62659" y="510320"/>
            <a:ext cx="2195601" cy="1514269"/>
          </a:xfrm>
          <a:prstGeom prst="rect">
            <a:avLst/>
          </a:prstGeom>
        </p:spPr>
      </p:pic>
      <p:sp>
        <p:nvSpPr>
          <p:cNvPr id="3" name="Slide Number Placeholder 2">
            <a:extLst>
              <a:ext uri="{FF2B5EF4-FFF2-40B4-BE49-F238E27FC236}">
                <a16:creationId xmlns:a16="http://schemas.microsoft.com/office/drawing/2014/main" id="{C86B33C0-A4A1-06CB-D993-B3B9D03A480F}"/>
              </a:ext>
            </a:extLst>
          </p:cNvPr>
          <p:cNvSpPr>
            <a:spLocks noGrp="1"/>
          </p:cNvSpPr>
          <p:nvPr>
            <p:ph type="sldNum" sz="quarter" idx="12"/>
          </p:nvPr>
        </p:nvSpPr>
        <p:spPr/>
        <p:txBody>
          <a:bodyPr/>
          <a:lstStyle/>
          <a:p>
            <a:fld id="{A8D619E7-4118-4CE2-9D02-1AAE6DCE22A2}" type="slidenum">
              <a:rPr lang="en-US" smtClean="0"/>
              <a:t>46</a:t>
            </a:fld>
            <a:endParaRPr lang="en-US"/>
          </a:p>
        </p:txBody>
      </p:sp>
    </p:spTree>
    <p:extLst>
      <p:ext uri="{BB962C8B-B14F-4D97-AF65-F5344CB8AC3E}">
        <p14:creationId xmlns:p14="http://schemas.microsoft.com/office/powerpoint/2010/main" val="37591101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8BE59-D6F1-5FFE-5D04-B107831CDB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34E6F-6D86-513C-AD5E-73A734C422A2}"/>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Next-Door Sparrows</a:t>
            </a:r>
            <a:endParaRPr lang="en-US" dirty="0"/>
          </a:p>
        </p:txBody>
      </p:sp>
      <p:sp>
        <p:nvSpPr>
          <p:cNvPr id="3" name="Content Placeholder 2">
            <a:extLst>
              <a:ext uri="{FF2B5EF4-FFF2-40B4-BE49-F238E27FC236}">
                <a16:creationId xmlns:a16="http://schemas.microsoft.com/office/drawing/2014/main" id="{83622166-1FA1-FD85-FF5C-D13549784C40}"/>
              </a:ext>
            </a:extLst>
          </p:cNvPr>
          <p:cNvSpPr>
            <a:spLocks noGrp="1"/>
          </p:cNvSpPr>
          <p:nvPr>
            <p:ph idx="1"/>
          </p:nvPr>
        </p:nvSpPr>
        <p:spPr>
          <a:xfrm>
            <a:off x="838198" y="1653532"/>
            <a:ext cx="9461501" cy="4010668"/>
          </a:xfrm>
        </p:spPr>
        <p:txBody>
          <a:bodyPr>
            <a:normAutofit fontScale="92500" lnSpcReduction="20000"/>
          </a:bodyPr>
          <a:lstStyle/>
          <a:p>
            <a:pPr marL="0" indent="0">
              <a:buNone/>
            </a:pPr>
            <a:r>
              <a:rPr lang="en-US" sz="2200" dirty="0">
                <a:solidFill>
                  <a:schemeClr val="tx2">
                    <a:lumMod val="90000"/>
                    <a:lumOff val="10000"/>
                  </a:schemeClr>
                </a:solidFill>
                <a:latin typeface="SourceCodePro"/>
                <a:ea typeface="SourceCodePro"/>
              </a:rPr>
              <a:t>struct Nest { atomic&lt;unsigned&gt; sticks{0}; char name[28]{}; };</a:t>
            </a:r>
          </a:p>
          <a:p>
            <a:pPr marL="0" indent="0">
              <a:buNone/>
            </a:pPr>
            <a:r>
              <a:rPr lang="en-US" sz="2200" dirty="0">
                <a:solidFill>
                  <a:schemeClr val="tx2">
                    <a:lumMod val="90000"/>
                    <a:lumOff val="10000"/>
                  </a:schemeClr>
                </a:solidFill>
                <a:latin typeface="SourceCodePro"/>
                <a:ea typeface="SourceCodePro"/>
              </a:rPr>
              <a:t>std::array&lt;Nest, 4&gt; oak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build_nest</a:t>
            </a:r>
            <a:r>
              <a:rPr lang="en-US" sz="2200" dirty="0">
                <a:solidFill>
                  <a:schemeClr val="tx2">
                    <a:lumMod val="90000"/>
                    <a:lumOff val="10000"/>
                  </a:schemeClr>
                </a:solidFill>
                <a:latin typeface="SourceCodePro"/>
                <a:ea typeface="SourceCodePro"/>
              </a:rPr>
              <a:t>(Nest&amp; home) {</a:t>
            </a:r>
          </a:p>
          <a:p>
            <a:pPr marL="0" indent="0">
              <a:buNone/>
            </a:pPr>
            <a:r>
              <a:rPr lang="en-US" sz="2200" dirty="0">
                <a:solidFill>
                  <a:schemeClr val="tx2">
                    <a:lumMod val="90000"/>
                    <a:lumOff val="10000"/>
                  </a:schemeClr>
                </a:solidFill>
                <a:latin typeface="SourceCodePro"/>
                <a:ea typeface="SourceCodePro"/>
              </a:rPr>
              <a:t>    while (</a:t>
            </a:r>
            <a:r>
              <a:rPr lang="en-US" sz="2200" dirty="0" err="1">
                <a:solidFill>
                  <a:schemeClr val="tx2">
                    <a:lumMod val="90000"/>
                    <a:lumOff val="10000"/>
                  </a:schemeClr>
                </a:solidFill>
                <a:latin typeface="SourceCodePro"/>
                <a:ea typeface="SourceCodePro"/>
              </a:rPr>
              <a:t>find_new_stick</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home.sticks</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array&lt;</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4&gt; sparrows;</a:t>
            </a:r>
          </a:p>
          <a:p>
            <a:pPr marL="0" indent="0">
              <a:buNone/>
            </a:pPr>
            <a:r>
              <a:rPr lang="en-US" sz="2200" dirty="0">
                <a:solidFill>
                  <a:schemeClr val="tx2">
                    <a:lumMod val="90000"/>
                    <a:lumOff val="10000"/>
                  </a:schemeClr>
                </a:solidFill>
                <a:latin typeface="SourceCodePro"/>
                <a:ea typeface="SourceCodePro"/>
              </a:rPr>
              <a:t>for (</a:t>
            </a:r>
            <a:r>
              <a:rPr lang="en-US" sz="2200" dirty="0" err="1">
                <a:solidFill>
                  <a:schemeClr val="tx2">
                    <a:lumMod val="90000"/>
                    <a:lumOff val="10000"/>
                  </a:schemeClr>
                </a:solidFill>
                <a:latin typeface="SourceCodePro"/>
                <a:ea typeface="SourceCodePro"/>
              </a:rPr>
              <a:t>size_t</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a:t>
            </a:r>
            <a:r>
              <a:rPr lang="en-US" sz="2200" dirty="0" err="1">
                <a:solidFill>
                  <a:schemeClr val="tx2">
                    <a:lumMod val="90000"/>
                    <a:lumOff val="10000"/>
                  </a:schemeClr>
                </a:solidFill>
                <a:latin typeface="SourceCodePro"/>
                <a:ea typeface="SourceCodePro"/>
              </a:rPr>
              <a:t>sparrows.size</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sparrows[</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build_nest</a:t>
            </a:r>
            <a:r>
              <a:rPr lang="en-US" sz="2200" dirty="0">
                <a:solidFill>
                  <a:schemeClr val="tx2">
                    <a:lumMod val="90000"/>
                    <a:lumOff val="10000"/>
                  </a:schemeClr>
                </a:solidFill>
                <a:latin typeface="SourceCodePro"/>
                <a:ea typeface="SourceCodePro"/>
              </a:rPr>
              <a:t>, ref(oak[</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p:txBody>
      </p:sp>
      <p:sp>
        <p:nvSpPr>
          <p:cNvPr id="13" name="TextBox 12">
            <a:extLst>
              <a:ext uri="{FF2B5EF4-FFF2-40B4-BE49-F238E27FC236}">
                <a16:creationId xmlns:a16="http://schemas.microsoft.com/office/drawing/2014/main" id="{12E136EB-3205-AC72-F0B1-A081F2CCACFE}"/>
              </a:ext>
            </a:extLst>
          </p:cNvPr>
          <p:cNvSpPr txBox="1"/>
          <p:nvPr/>
        </p:nvSpPr>
        <p:spPr>
          <a:xfrm>
            <a:off x="838199" y="5805831"/>
            <a:ext cx="11159067" cy="430887"/>
          </a:xfrm>
          <a:prstGeom prst="rect">
            <a:avLst/>
          </a:prstGeom>
          <a:noFill/>
        </p:spPr>
        <p:txBody>
          <a:bodyPr wrap="square">
            <a:spAutoFit/>
          </a:bodyPr>
          <a:lstStyle/>
          <a:p>
            <a:r>
              <a:rPr lang="en-US" sz="2200" dirty="0"/>
              <a:t>Each sparrow adds sticks to a different atomic nest. There is no data race.</a:t>
            </a:r>
          </a:p>
        </p:txBody>
      </p:sp>
      <p:pic>
        <p:nvPicPr>
          <p:cNvPr id="8" name="Graphic 7">
            <a:extLst>
              <a:ext uri="{FF2B5EF4-FFF2-40B4-BE49-F238E27FC236}">
                <a16:creationId xmlns:a16="http://schemas.microsoft.com/office/drawing/2014/main" id="{D6025B72-1685-08CE-9992-F0052CCAB2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62659" y="510320"/>
            <a:ext cx="2195601" cy="1514269"/>
          </a:xfrm>
          <a:prstGeom prst="rect">
            <a:avLst/>
          </a:prstGeom>
        </p:spPr>
      </p:pic>
      <p:sp>
        <p:nvSpPr>
          <p:cNvPr id="4" name="Slide Number Placeholder 3">
            <a:extLst>
              <a:ext uri="{FF2B5EF4-FFF2-40B4-BE49-F238E27FC236}">
                <a16:creationId xmlns:a16="http://schemas.microsoft.com/office/drawing/2014/main" id="{CA1B57B6-A6B8-80C6-7259-D0C932E8EC3D}"/>
              </a:ext>
            </a:extLst>
          </p:cNvPr>
          <p:cNvSpPr>
            <a:spLocks noGrp="1"/>
          </p:cNvSpPr>
          <p:nvPr>
            <p:ph type="sldNum" sz="quarter" idx="12"/>
          </p:nvPr>
        </p:nvSpPr>
        <p:spPr/>
        <p:txBody>
          <a:bodyPr/>
          <a:lstStyle/>
          <a:p>
            <a:fld id="{A8D619E7-4118-4CE2-9D02-1AAE6DCE22A2}" type="slidenum">
              <a:rPr lang="en-US" smtClean="0"/>
              <a:t>47</a:t>
            </a:fld>
            <a:endParaRPr lang="en-US"/>
          </a:p>
        </p:txBody>
      </p:sp>
    </p:spTree>
    <p:extLst>
      <p:ext uri="{BB962C8B-B14F-4D97-AF65-F5344CB8AC3E}">
        <p14:creationId xmlns:p14="http://schemas.microsoft.com/office/powerpoint/2010/main" val="904887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DC9E6-572A-C433-45E6-69A96613F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AA4FFF-597E-8475-78AC-B93A7BF65975}"/>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Next-Door Sparrows</a:t>
            </a:r>
            <a:endParaRPr lang="en-US" dirty="0"/>
          </a:p>
        </p:txBody>
      </p:sp>
      <p:sp>
        <p:nvSpPr>
          <p:cNvPr id="13" name="TextBox 12">
            <a:extLst>
              <a:ext uri="{FF2B5EF4-FFF2-40B4-BE49-F238E27FC236}">
                <a16:creationId xmlns:a16="http://schemas.microsoft.com/office/drawing/2014/main" id="{C547E683-8E02-5F34-284C-51C1CFAFBCE6}"/>
              </a:ext>
            </a:extLst>
          </p:cNvPr>
          <p:cNvSpPr txBox="1"/>
          <p:nvPr/>
        </p:nvSpPr>
        <p:spPr>
          <a:xfrm>
            <a:off x="838199" y="5723434"/>
            <a:ext cx="11159067" cy="769441"/>
          </a:xfrm>
          <a:prstGeom prst="rect">
            <a:avLst/>
          </a:prstGeom>
          <a:noFill/>
        </p:spPr>
        <p:txBody>
          <a:bodyPr wrap="square">
            <a:spAutoFit/>
          </a:bodyPr>
          <a:lstStyle/>
          <a:p>
            <a:r>
              <a:rPr lang="en-US" sz="2200" dirty="0"/>
              <a:t>No sticks are lost and neither nest is corrupted. Why did building the two</a:t>
            </a:r>
          </a:p>
          <a:p>
            <a:r>
              <a:rPr lang="en-US" sz="2200" dirty="0"/>
              <a:t>nests take longer, even though the sparrows worked in parallel?</a:t>
            </a:r>
          </a:p>
        </p:txBody>
      </p:sp>
      <p:pic>
        <p:nvPicPr>
          <p:cNvPr id="10" name="Graphic 9">
            <a:extLst>
              <a:ext uri="{FF2B5EF4-FFF2-40B4-BE49-F238E27FC236}">
                <a16:creationId xmlns:a16="http://schemas.microsoft.com/office/drawing/2014/main" id="{58327BCC-917E-0912-DA9D-E1D92A3215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199" y="1690688"/>
            <a:ext cx="4469297" cy="3870320"/>
          </a:xfrm>
          <a:prstGeom prst="rect">
            <a:avLst/>
          </a:prstGeom>
        </p:spPr>
      </p:pic>
      <p:pic>
        <p:nvPicPr>
          <p:cNvPr id="17" name="Graphic 16">
            <a:extLst>
              <a:ext uri="{FF2B5EF4-FFF2-40B4-BE49-F238E27FC236}">
                <a16:creationId xmlns:a16="http://schemas.microsoft.com/office/drawing/2014/main" id="{AE25E70B-852B-3836-F34C-D87CB33314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114" y="4765403"/>
            <a:ext cx="761555" cy="795605"/>
          </a:xfrm>
          <a:prstGeom prst="rect">
            <a:avLst/>
          </a:prstGeom>
        </p:spPr>
      </p:pic>
      <p:pic>
        <p:nvPicPr>
          <p:cNvPr id="19" name="Graphic 18">
            <a:extLst>
              <a:ext uri="{FF2B5EF4-FFF2-40B4-BE49-F238E27FC236}">
                <a16:creationId xmlns:a16="http://schemas.microsoft.com/office/drawing/2014/main" id="{82DBB213-C861-ADC0-7D0F-4CC3E8E179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1786" y="4765403"/>
            <a:ext cx="761555" cy="795605"/>
          </a:xfrm>
          <a:prstGeom prst="rect">
            <a:avLst/>
          </a:prstGeom>
        </p:spPr>
      </p:pic>
      <p:pic>
        <p:nvPicPr>
          <p:cNvPr id="21" name="Graphic 20">
            <a:extLst>
              <a:ext uri="{FF2B5EF4-FFF2-40B4-BE49-F238E27FC236}">
                <a16:creationId xmlns:a16="http://schemas.microsoft.com/office/drawing/2014/main" id="{3A90832F-6211-6AB6-F585-1B48B31C68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6314" y="4765402"/>
            <a:ext cx="761555" cy="795605"/>
          </a:xfrm>
          <a:prstGeom prst="rect">
            <a:avLst/>
          </a:prstGeom>
        </p:spPr>
      </p:pic>
      <p:pic>
        <p:nvPicPr>
          <p:cNvPr id="23" name="Graphic 22">
            <a:extLst>
              <a:ext uri="{FF2B5EF4-FFF2-40B4-BE49-F238E27FC236}">
                <a16:creationId xmlns:a16="http://schemas.microsoft.com/office/drawing/2014/main" id="{0CA41CE2-7072-ADF6-5335-83B457EF31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25845" y="4765401"/>
            <a:ext cx="761555" cy="795605"/>
          </a:xfrm>
          <a:prstGeom prst="rect">
            <a:avLst/>
          </a:prstGeom>
        </p:spPr>
      </p:pic>
      <p:sp>
        <p:nvSpPr>
          <p:cNvPr id="3" name="Slide Number Placeholder 2">
            <a:extLst>
              <a:ext uri="{FF2B5EF4-FFF2-40B4-BE49-F238E27FC236}">
                <a16:creationId xmlns:a16="http://schemas.microsoft.com/office/drawing/2014/main" id="{C6ACD072-DCDF-3951-BAB3-01E42E3E1B0E}"/>
              </a:ext>
            </a:extLst>
          </p:cNvPr>
          <p:cNvSpPr>
            <a:spLocks noGrp="1"/>
          </p:cNvSpPr>
          <p:nvPr>
            <p:ph type="sldNum" sz="quarter" idx="12"/>
          </p:nvPr>
        </p:nvSpPr>
        <p:spPr/>
        <p:txBody>
          <a:bodyPr/>
          <a:lstStyle/>
          <a:p>
            <a:fld id="{A8D619E7-4118-4CE2-9D02-1AAE6DCE22A2}" type="slidenum">
              <a:rPr lang="en-US" smtClean="0"/>
              <a:t>48</a:t>
            </a:fld>
            <a:endParaRPr lang="en-US"/>
          </a:p>
        </p:txBody>
      </p:sp>
    </p:spTree>
    <p:extLst>
      <p:ext uri="{BB962C8B-B14F-4D97-AF65-F5344CB8AC3E}">
        <p14:creationId xmlns:p14="http://schemas.microsoft.com/office/powerpoint/2010/main" val="25663273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CEDAE-EEE0-DB1D-BECD-2A8E2EA40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6D362C-A966-5E0A-A401-B7C38473D883}"/>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Next-Door Sparrows</a:t>
            </a:r>
            <a:endParaRPr lang="en-US" dirty="0"/>
          </a:p>
        </p:txBody>
      </p:sp>
      <p:sp>
        <p:nvSpPr>
          <p:cNvPr id="13" name="TextBox 12">
            <a:extLst>
              <a:ext uri="{FF2B5EF4-FFF2-40B4-BE49-F238E27FC236}">
                <a16:creationId xmlns:a16="http://schemas.microsoft.com/office/drawing/2014/main" id="{2FDDAADB-56FE-B2D9-9782-4C1CAA7DD821}"/>
              </a:ext>
            </a:extLst>
          </p:cNvPr>
          <p:cNvSpPr txBox="1"/>
          <p:nvPr/>
        </p:nvSpPr>
        <p:spPr>
          <a:xfrm>
            <a:off x="838199" y="5464241"/>
            <a:ext cx="11159067" cy="1107996"/>
          </a:xfrm>
          <a:prstGeom prst="rect">
            <a:avLst/>
          </a:prstGeom>
          <a:noFill/>
        </p:spPr>
        <p:txBody>
          <a:bodyPr wrap="square">
            <a:spAutoFit/>
          </a:bodyPr>
          <a:lstStyle/>
          <a:p>
            <a:r>
              <a:rPr lang="en-US" sz="2200" dirty="0"/>
              <a:t>The hardware preserves correctness at the cost of cache-line traffic on every write.</a:t>
            </a:r>
          </a:p>
          <a:p>
            <a:endParaRPr lang="en-US" sz="2200" dirty="0"/>
          </a:p>
          <a:p>
            <a:r>
              <a:rPr lang="en-US" sz="2200" dirty="0"/>
              <a:t>This is </a:t>
            </a:r>
            <a:r>
              <a:rPr lang="en-US" sz="2200" b="1" dirty="0"/>
              <a:t>false sharing</a:t>
            </a:r>
            <a:r>
              <a:rPr lang="en-US" sz="2200" dirty="0"/>
              <a:t>.</a:t>
            </a:r>
          </a:p>
        </p:txBody>
      </p:sp>
      <p:sp>
        <p:nvSpPr>
          <p:cNvPr id="4" name="TextBox 3">
            <a:extLst>
              <a:ext uri="{FF2B5EF4-FFF2-40B4-BE49-F238E27FC236}">
                <a16:creationId xmlns:a16="http://schemas.microsoft.com/office/drawing/2014/main" id="{3098FFD4-54AE-B933-7B64-746AB94A8435}"/>
              </a:ext>
            </a:extLst>
          </p:cNvPr>
          <p:cNvSpPr txBox="1"/>
          <p:nvPr/>
        </p:nvSpPr>
        <p:spPr>
          <a:xfrm>
            <a:off x="7287059" y="1295102"/>
            <a:ext cx="3977841" cy="2800767"/>
          </a:xfrm>
          <a:prstGeom prst="rect">
            <a:avLst/>
          </a:prstGeom>
          <a:noFill/>
        </p:spPr>
        <p:txBody>
          <a:bodyPr wrap="square">
            <a:spAutoFit/>
          </a:bodyPr>
          <a:lstStyle/>
          <a:p>
            <a:r>
              <a:rPr lang="en-US" sz="2200" dirty="0"/>
              <a:t>A adds a stick to the left nest              → invalidates core B's copy</a:t>
            </a:r>
          </a:p>
          <a:p>
            <a:endParaRPr lang="en-US" sz="2200" dirty="0"/>
          </a:p>
          <a:p>
            <a:r>
              <a:rPr lang="en-US" sz="2200" dirty="0"/>
              <a:t>B adds a stick to the right nest → invalidates core A's copy</a:t>
            </a:r>
          </a:p>
          <a:p>
            <a:endParaRPr lang="en-US" sz="2200" dirty="0"/>
          </a:p>
          <a:p>
            <a:r>
              <a:rPr lang="en-US" sz="2200" dirty="0"/>
              <a:t>A adds another stick                     → takes the line back</a:t>
            </a:r>
          </a:p>
        </p:txBody>
      </p:sp>
      <p:pic>
        <p:nvPicPr>
          <p:cNvPr id="7" name="Graphic 6">
            <a:extLst>
              <a:ext uri="{FF2B5EF4-FFF2-40B4-BE49-F238E27FC236}">
                <a16:creationId xmlns:a16="http://schemas.microsoft.com/office/drawing/2014/main" id="{ABA79FF9-DE3D-4B21-4D64-49083F390C4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42416" y="1880547"/>
            <a:ext cx="4433599" cy="3075501"/>
          </a:xfrm>
          <a:prstGeom prst="rect">
            <a:avLst/>
          </a:prstGeom>
        </p:spPr>
      </p:pic>
      <p:pic>
        <p:nvPicPr>
          <p:cNvPr id="9" name="Graphic 8">
            <a:extLst>
              <a:ext uri="{FF2B5EF4-FFF2-40B4-BE49-F238E27FC236}">
                <a16:creationId xmlns:a16="http://schemas.microsoft.com/office/drawing/2014/main" id="{7FE389C4-1E6C-1B5E-5B84-BCB1880484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13818" y="4230243"/>
            <a:ext cx="761555" cy="795605"/>
          </a:xfrm>
          <a:prstGeom prst="rect">
            <a:avLst/>
          </a:prstGeom>
        </p:spPr>
      </p:pic>
      <p:pic>
        <p:nvPicPr>
          <p:cNvPr id="11" name="Graphic 10">
            <a:extLst>
              <a:ext uri="{FF2B5EF4-FFF2-40B4-BE49-F238E27FC236}">
                <a16:creationId xmlns:a16="http://schemas.microsoft.com/office/drawing/2014/main" id="{DDD0E589-D1A1-243A-5FB7-54F71B17E9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99490" y="4230243"/>
            <a:ext cx="761555" cy="795605"/>
          </a:xfrm>
          <a:prstGeom prst="rect">
            <a:avLst/>
          </a:prstGeom>
        </p:spPr>
      </p:pic>
      <p:pic>
        <p:nvPicPr>
          <p:cNvPr id="14" name="Graphic 13">
            <a:extLst>
              <a:ext uri="{FF2B5EF4-FFF2-40B4-BE49-F238E27FC236}">
                <a16:creationId xmlns:a16="http://schemas.microsoft.com/office/drawing/2014/main" id="{23811A5B-BD7D-B25E-C759-29D4B86CC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54018" y="4230242"/>
            <a:ext cx="761555" cy="795605"/>
          </a:xfrm>
          <a:prstGeom prst="rect">
            <a:avLst/>
          </a:prstGeom>
        </p:spPr>
      </p:pic>
      <p:pic>
        <p:nvPicPr>
          <p:cNvPr id="16" name="Graphic 15">
            <a:extLst>
              <a:ext uri="{FF2B5EF4-FFF2-40B4-BE49-F238E27FC236}">
                <a16:creationId xmlns:a16="http://schemas.microsoft.com/office/drawing/2014/main" id="{2FC4E92E-06CF-F821-7643-9ABBA12034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3549" y="4230241"/>
            <a:ext cx="761555" cy="795605"/>
          </a:xfrm>
          <a:prstGeom prst="rect">
            <a:avLst/>
          </a:prstGeom>
        </p:spPr>
      </p:pic>
      <p:sp>
        <p:nvSpPr>
          <p:cNvPr id="3" name="Slide Number Placeholder 2">
            <a:extLst>
              <a:ext uri="{FF2B5EF4-FFF2-40B4-BE49-F238E27FC236}">
                <a16:creationId xmlns:a16="http://schemas.microsoft.com/office/drawing/2014/main" id="{630DEC7C-54BC-85F0-2D2A-3823F046EC64}"/>
              </a:ext>
            </a:extLst>
          </p:cNvPr>
          <p:cNvSpPr>
            <a:spLocks noGrp="1"/>
          </p:cNvSpPr>
          <p:nvPr>
            <p:ph type="sldNum" sz="quarter" idx="12"/>
          </p:nvPr>
        </p:nvSpPr>
        <p:spPr/>
        <p:txBody>
          <a:bodyPr/>
          <a:lstStyle/>
          <a:p>
            <a:fld id="{A8D619E7-4118-4CE2-9D02-1AAE6DCE22A2}" type="slidenum">
              <a:rPr lang="en-US" smtClean="0"/>
              <a:t>49</a:t>
            </a:fld>
            <a:endParaRPr lang="en-US"/>
          </a:p>
        </p:txBody>
      </p:sp>
    </p:spTree>
    <p:extLst>
      <p:ext uri="{BB962C8B-B14F-4D97-AF65-F5344CB8AC3E}">
        <p14:creationId xmlns:p14="http://schemas.microsoft.com/office/powerpoint/2010/main" val="291595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B721C-674F-DD6A-51C6-A6360DB59D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4E77DA9-F174-11C0-333E-FC81E8BF4EB5}"/>
              </a:ext>
            </a:extLst>
          </p:cNvPr>
          <p:cNvPicPr>
            <a:picLocks noChangeAspect="1"/>
          </p:cNvPicPr>
          <p:nvPr/>
        </p:nvPicPr>
        <p:blipFill>
          <a:blip r:embed="rId3"/>
          <a:stretch>
            <a:fillRect/>
          </a:stretch>
        </p:blipFill>
        <p:spPr>
          <a:xfrm>
            <a:off x="293909" y="147320"/>
            <a:ext cx="5205191" cy="6321287"/>
          </a:xfrm>
          <a:prstGeom prst="rect">
            <a:avLst/>
          </a:prstGeom>
        </p:spPr>
      </p:pic>
      <p:sp>
        <p:nvSpPr>
          <p:cNvPr id="7" name="TextBox 6">
            <a:extLst>
              <a:ext uri="{FF2B5EF4-FFF2-40B4-BE49-F238E27FC236}">
                <a16:creationId xmlns:a16="http://schemas.microsoft.com/office/drawing/2014/main" id="{584C6B17-7435-D1BA-2295-0DC089C3CAD2}"/>
              </a:ext>
            </a:extLst>
          </p:cNvPr>
          <p:cNvSpPr txBox="1"/>
          <p:nvPr/>
        </p:nvSpPr>
        <p:spPr>
          <a:xfrm>
            <a:off x="1229352" y="3496415"/>
            <a:ext cx="4461932" cy="707886"/>
          </a:xfrm>
          <a:prstGeom prst="rect">
            <a:avLst/>
          </a:prstGeom>
          <a:noFill/>
        </p:spPr>
        <p:txBody>
          <a:bodyPr wrap="square">
            <a:spAutoFit/>
          </a:bodyPr>
          <a:lstStyle/>
          <a:p>
            <a:r>
              <a:rPr lang="en-US" sz="2000" dirty="0"/>
              <a:t>per-thread counters or worker slots packed together</a:t>
            </a:r>
          </a:p>
        </p:txBody>
      </p:sp>
      <p:sp>
        <p:nvSpPr>
          <p:cNvPr id="11" name="TextBox 10">
            <a:extLst>
              <a:ext uri="{FF2B5EF4-FFF2-40B4-BE49-F238E27FC236}">
                <a16:creationId xmlns:a16="http://schemas.microsoft.com/office/drawing/2014/main" id="{37AE4798-1E6C-8FD8-0E8F-0C189EE0BB78}"/>
              </a:ext>
            </a:extLst>
          </p:cNvPr>
          <p:cNvSpPr txBox="1"/>
          <p:nvPr/>
        </p:nvSpPr>
        <p:spPr>
          <a:xfrm>
            <a:off x="1229352" y="4175414"/>
            <a:ext cx="4079248" cy="707886"/>
          </a:xfrm>
          <a:prstGeom prst="rect">
            <a:avLst/>
          </a:prstGeom>
          <a:noFill/>
        </p:spPr>
        <p:txBody>
          <a:bodyPr wrap="square">
            <a:spAutoFit/>
          </a:bodyPr>
          <a:lstStyle/>
          <a:p>
            <a:r>
              <a:rPr lang="en-US" sz="2000" dirty="0"/>
              <a:t>makes independent writers fight over cache coherence</a:t>
            </a:r>
          </a:p>
        </p:txBody>
      </p:sp>
      <p:sp>
        <p:nvSpPr>
          <p:cNvPr id="14" name="TextBox 13">
            <a:extLst>
              <a:ext uri="{FF2B5EF4-FFF2-40B4-BE49-F238E27FC236}">
                <a16:creationId xmlns:a16="http://schemas.microsoft.com/office/drawing/2014/main" id="{9A548BCA-5CA2-D930-E91F-FACDDF91330C}"/>
              </a:ext>
            </a:extLst>
          </p:cNvPr>
          <p:cNvSpPr txBox="1"/>
          <p:nvPr/>
        </p:nvSpPr>
        <p:spPr>
          <a:xfrm>
            <a:off x="1229352" y="5593871"/>
            <a:ext cx="4079248" cy="707886"/>
          </a:xfrm>
          <a:prstGeom prst="rect">
            <a:avLst/>
          </a:prstGeom>
          <a:noFill/>
        </p:spPr>
        <p:txBody>
          <a:bodyPr wrap="square">
            <a:spAutoFit/>
          </a:bodyPr>
          <a:lstStyle/>
          <a:p>
            <a:r>
              <a:rPr lang="en-US" sz="2000" dirty="0"/>
              <a:t>place independently written hot data on separate cache lines</a:t>
            </a:r>
          </a:p>
        </p:txBody>
      </p:sp>
      <p:sp>
        <p:nvSpPr>
          <p:cNvPr id="17" name="TextBox 16">
            <a:extLst>
              <a:ext uri="{FF2B5EF4-FFF2-40B4-BE49-F238E27FC236}">
                <a16:creationId xmlns:a16="http://schemas.microsoft.com/office/drawing/2014/main" id="{D0CA836E-D2FC-6409-7569-979249007CEA}"/>
              </a:ext>
            </a:extLst>
          </p:cNvPr>
          <p:cNvSpPr txBox="1"/>
          <p:nvPr/>
        </p:nvSpPr>
        <p:spPr>
          <a:xfrm>
            <a:off x="1229352" y="4965273"/>
            <a:ext cx="4428074" cy="400110"/>
          </a:xfrm>
          <a:prstGeom prst="rect">
            <a:avLst/>
          </a:prstGeom>
          <a:noFill/>
        </p:spPr>
        <p:txBody>
          <a:bodyPr wrap="square">
            <a:spAutoFit/>
          </a:bodyPr>
          <a:lstStyle/>
          <a:p>
            <a:r>
              <a:rPr lang="en-US" sz="2000" dirty="0"/>
              <a:t>all results are correct</a:t>
            </a:r>
          </a:p>
        </p:txBody>
      </p:sp>
      <p:sp>
        <p:nvSpPr>
          <p:cNvPr id="22" name="Content Placeholder 2">
            <a:extLst>
              <a:ext uri="{FF2B5EF4-FFF2-40B4-BE49-F238E27FC236}">
                <a16:creationId xmlns:a16="http://schemas.microsoft.com/office/drawing/2014/main" id="{3B8473C1-C816-686E-0848-CDF58D75FB33}"/>
              </a:ext>
            </a:extLst>
          </p:cNvPr>
          <p:cNvSpPr txBox="1">
            <a:spLocks/>
          </p:cNvSpPr>
          <p:nvPr/>
        </p:nvSpPr>
        <p:spPr>
          <a:xfrm>
            <a:off x="5615370" y="541867"/>
            <a:ext cx="6885663" cy="5477933"/>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struct </a:t>
            </a:r>
            <a:r>
              <a:rPr lang="en-US" sz="2200" dirty="0" err="1">
                <a:solidFill>
                  <a:schemeClr val="tx2">
                    <a:lumMod val="90000"/>
                    <a:lumOff val="10000"/>
                  </a:schemeClr>
                </a:solidFill>
                <a:latin typeface="SourceCodePro"/>
                <a:ea typeface="SourceCodePro"/>
              </a:rPr>
              <a:t>alignas</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hardware_destructive_interference_size</a:t>
            </a:r>
            <a:r>
              <a:rPr lang="en-US" sz="2200" dirty="0">
                <a:solidFill>
                  <a:schemeClr val="tx2">
                    <a:lumMod val="90000"/>
                    <a:lumOff val="10000"/>
                  </a:schemeClr>
                </a:solidFill>
                <a:latin typeface="SourceCodePro"/>
                <a:ea typeface="SourceCodePro"/>
              </a:rPr>
              <a:t>) Nest </a:t>
            </a:r>
          </a:p>
          <a:p>
            <a:pPr marL="0" indent="0">
              <a:buNone/>
            </a:pP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atomic&lt;unsigned&gt; sticks{0};</a:t>
            </a:r>
          </a:p>
          <a:p>
            <a:pPr marL="0" indent="0">
              <a:buNone/>
            </a:pPr>
            <a:r>
              <a:rPr lang="en-US" sz="2200" dirty="0">
                <a:solidFill>
                  <a:schemeClr val="tx2">
                    <a:lumMod val="90000"/>
                    <a:lumOff val="10000"/>
                  </a:schemeClr>
                </a:solidFill>
                <a:latin typeface="SourceCodePro"/>
                <a:ea typeface="SourceCodePro"/>
              </a:rPr>
              <a:t>    char name[28]{};</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array&lt;Nest, 4&gt; oak {};</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void </a:t>
            </a:r>
            <a:r>
              <a:rPr lang="en-US" sz="2200" dirty="0" err="1">
                <a:solidFill>
                  <a:schemeClr val="tx2">
                    <a:lumMod val="90000"/>
                    <a:lumOff val="10000"/>
                  </a:schemeClr>
                </a:solidFill>
                <a:latin typeface="SourceCodePro"/>
                <a:ea typeface="SourceCodePro"/>
              </a:rPr>
              <a:t>build_nest</a:t>
            </a:r>
            <a:r>
              <a:rPr lang="en-US" sz="2200" dirty="0">
                <a:solidFill>
                  <a:schemeClr val="tx2">
                    <a:lumMod val="90000"/>
                    <a:lumOff val="10000"/>
                  </a:schemeClr>
                </a:solidFill>
                <a:latin typeface="SourceCodePro"/>
                <a:ea typeface="SourceCodePro"/>
              </a:rPr>
              <a:t>(Nest&amp; home) {</a:t>
            </a:r>
          </a:p>
          <a:p>
            <a:pPr marL="0" indent="0">
              <a:buNone/>
            </a:pPr>
            <a:r>
              <a:rPr lang="en-US" sz="2200" dirty="0">
                <a:solidFill>
                  <a:schemeClr val="tx2">
                    <a:lumMod val="90000"/>
                    <a:lumOff val="10000"/>
                  </a:schemeClr>
                </a:solidFill>
                <a:latin typeface="SourceCodePro"/>
                <a:ea typeface="SourceCodePro"/>
              </a:rPr>
              <a:t>    while (</a:t>
            </a:r>
            <a:r>
              <a:rPr lang="en-US" sz="2200" dirty="0" err="1">
                <a:solidFill>
                  <a:schemeClr val="tx2">
                    <a:lumMod val="90000"/>
                    <a:lumOff val="10000"/>
                  </a:schemeClr>
                </a:solidFill>
                <a:latin typeface="SourceCodePro"/>
                <a:ea typeface="SourceCodePro"/>
              </a:rPr>
              <a:t>find_new_stick</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home.sticks</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array&lt;</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 4&gt; sparrows;</a:t>
            </a:r>
          </a:p>
          <a:p>
            <a:pPr marL="0" indent="0">
              <a:buNone/>
            </a:pPr>
            <a:r>
              <a:rPr lang="en-US" sz="2200" dirty="0">
                <a:solidFill>
                  <a:schemeClr val="tx2">
                    <a:lumMod val="90000"/>
                    <a:lumOff val="10000"/>
                  </a:schemeClr>
                </a:solidFill>
                <a:latin typeface="SourceCodePro"/>
                <a:ea typeface="SourceCodePro"/>
              </a:rPr>
              <a:t>for (</a:t>
            </a:r>
            <a:r>
              <a:rPr lang="en-US" sz="2200" dirty="0" err="1">
                <a:solidFill>
                  <a:schemeClr val="tx2">
                    <a:lumMod val="90000"/>
                    <a:lumOff val="10000"/>
                  </a:schemeClr>
                </a:solidFill>
                <a:latin typeface="SourceCodePro"/>
                <a:ea typeface="SourceCodePro"/>
              </a:rPr>
              <a:t>size_t</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0;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&lt; </a:t>
            </a:r>
            <a:r>
              <a:rPr lang="en-US" sz="2200" dirty="0" err="1">
                <a:solidFill>
                  <a:schemeClr val="tx2">
                    <a:lumMod val="90000"/>
                    <a:lumOff val="10000"/>
                  </a:schemeClr>
                </a:solidFill>
                <a:latin typeface="SourceCodePro"/>
                <a:ea typeface="SourceCodePro"/>
              </a:rPr>
              <a:t>sparrows.size</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sparrows[</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jthread</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build_nest</a:t>
            </a:r>
            <a:r>
              <a:rPr lang="en-US" sz="2200" dirty="0">
                <a:solidFill>
                  <a:schemeClr val="tx2">
                    <a:lumMod val="90000"/>
                    <a:lumOff val="10000"/>
                  </a:schemeClr>
                </a:solidFill>
                <a:latin typeface="SourceCodePro"/>
                <a:ea typeface="SourceCodePro"/>
              </a:rPr>
              <a:t>, ref(oak[</a:t>
            </a:r>
            <a:r>
              <a:rPr lang="en-US" sz="2200" dirty="0" err="1">
                <a:solidFill>
                  <a:schemeClr val="tx2">
                    <a:lumMod val="90000"/>
                    <a:lumOff val="10000"/>
                  </a:schemeClr>
                </a:solidFill>
                <a:latin typeface="SourceCodePro"/>
                <a:ea typeface="SourceCodePro"/>
              </a:rPr>
              <a:t>i</a:t>
            </a:r>
            <a:r>
              <a:rPr lang="en-US" sz="2200" dirty="0">
                <a:solidFill>
                  <a:schemeClr val="tx2">
                    <a:lumMod val="90000"/>
                    <a:lumOff val="10000"/>
                  </a:schemeClr>
                </a:solidFill>
                <a:latin typeface="SourceCodePro"/>
                <a:ea typeface="SourceCodePro"/>
              </a:rPr>
              <a:t>]));</a:t>
            </a:r>
            <a:endParaRPr lang="en-US" sz="2200" dirty="0">
              <a:solidFill>
                <a:schemeClr val="tx2">
                  <a:lumMod val="90000"/>
                  <a:lumOff val="10000"/>
                </a:schemeClr>
              </a:solidFill>
            </a:endParaRPr>
          </a:p>
        </p:txBody>
      </p:sp>
      <p:sp>
        <p:nvSpPr>
          <p:cNvPr id="8" name="TextBox 7">
            <a:extLst>
              <a:ext uri="{FF2B5EF4-FFF2-40B4-BE49-F238E27FC236}">
                <a16:creationId xmlns:a16="http://schemas.microsoft.com/office/drawing/2014/main" id="{57B39241-8772-3D65-268D-BE99FEEC5F24}"/>
              </a:ext>
            </a:extLst>
          </p:cNvPr>
          <p:cNvSpPr txBox="1"/>
          <p:nvPr/>
        </p:nvSpPr>
        <p:spPr>
          <a:xfrm>
            <a:off x="1282471" y="318848"/>
            <a:ext cx="3602567" cy="430887"/>
          </a:xfrm>
          <a:prstGeom prst="rect">
            <a:avLst/>
          </a:prstGeom>
          <a:noFill/>
        </p:spPr>
        <p:txBody>
          <a:bodyPr wrap="square">
            <a:spAutoFit/>
          </a:bodyPr>
          <a:lstStyle/>
          <a:p>
            <a:r>
              <a:rPr lang="en-US" sz="2200" b="1" dirty="0"/>
              <a:t>The Next-Door Sparrows</a:t>
            </a:r>
            <a:endParaRPr lang="en-US" b="1" dirty="0"/>
          </a:p>
        </p:txBody>
      </p:sp>
      <p:pic>
        <p:nvPicPr>
          <p:cNvPr id="20" name="Graphic 19">
            <a:extLst>
              <a:ext uri="{FF2B5EF4-FFF2-40B4-BE49-F238E27FC236}">
                <a16:creationId xmlns:a16="http://schemas.microsoft.com/office/drawing/2014/main" id="{C4BF00E6-3DEB-4338-B9CC-AC40D2914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07963" y="1110768"/>
            <a:ext cx="2835437" cy="1955553"/>
          </a:xfrm>
          <a:prstGeom prst="rect">
            <a:avLst/>
          </a:prstGeom>
        </p:spPr>
      </p:pic>
      <p:sp>
        <p:nvSpPr>
          <p:cNvPr id="2" name="Slide Number Placeholder 1">
            <a:extLst>
              <a:ext uri="{FF2B5EF4-FFF2-40B4-BE49-F238E27FC236}">
                <a16:creationId xmlns:a16="http://schemas.microsoft.com/office/drawing/2014/main" id="{664C5EF3-22B3-8CB6-9E36-4A18A69B2C57}"/>
              </a:ext>
            </a:extLst>
          </p:cNvPr>
          <p:cNvSpPr>
            <a:spLocks noGrp="1"/>
          </p:cNvSpPr>
          <p:nvPr>
            <p:ph type="sldNum" sz="quarter" idx="12"/>
          </p:nvPr>
        </p:nvSpPr>
        <p:spPr/>
        <p:txBody>
          <a:bodyPr/>
          <a:lstStyle/>
          <a:p>
            <a:fld id="{A8D619E7-4118-4CE2-9D02-1AAE6DCE22A2}" type="slidenum">
              <a:rPr lang="en-US" smtClean="0"/>
              <a:t>50</a:t>
            </a:fld>
            <a:endParaRPr lang="en-US"/>
          </a:p>
        </p:txBody>
      </p:sp>
    </p:spTree>
    <p:extLst>
      <p:ext uri="{BB962C8B-B14F-4D97-AF65-F5344CB8AC3E}">
        <p14:creationId xmlns:p14="http://schemas.microsoft.com/office/powerpoint/2010/main" val="535257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xEl>
                                              <p:pRg st="6" end="6"/>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xEl>
                                              <p:pRg st="10" end="1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xEl>
                                              <p:pRg st="11" end="1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2">
                                            <p:txEl>
                                              <p:pRg st="13" end="13"/>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2">
                                            <p:txEl>
                                              <p:pRg st="14" end="14"/>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2">
                                            <p:txEl>
                                              <p:pRg st="15" end="1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5" presetClass="emph" presetSubtype="0" nodeType="clickEffect">
                                  <p:stCondLst>
                                    <p:cond delay="0"/>
                                  </p:stCondLst>
                                  <p:endCondLst>
                                    <p:cond evt="onNext" delay="0">
                                      <p:tgtEl>
                                        <p:sldTgt/>
                                      </p:tgtEl>
                                    </p:cond>
                                  </p:endCondLst>
                                  <p:childTnLst>
                                    <p:set>
                                      <p:cBhvr override="childStyle">
                                        <p:cTn id="52" dur="indefinite"/>
                                        <p:tgtEl>
                                          <p:spTgt spid="22">
                                            <p:txEl>
                                              <p:pRg st="0" end="0"/>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4" grpId="0"/>
      <p:bldP spid="1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9A981-B7B8-C271-1918-DA13619EF5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35137C-4BAB-9DB6-A7C3-CC1B680F0B35}"/>
              </a:ext>
            </a:extLst>
          </p:cNvPr>
          <p:cNvSpPr>
            <a:spLocks noGrp="1"/>
          </p:cNvSpPr>
          <p:nvPr>
            <p:ph type="title"/>
          </p:nvPr>
        </p:nvSpPr>
        <p:spPr>
          <a:xfrm>
            <a:off x="838200" y="365125"/>
            <a:ext cx="10998200" cy="1325563"/>
          </a:xfrm>
        </p:spPr>
        <p:txBody>
          <a:bodyPr/>
          <a:lstStyle/>
          <a:p>
            <a:r>
              <a:rPr lang="en-US" b="1" dirty="0">
                <a:latin typeface="Fraunces-72pt-SemiBold-NonWonky"/>
              </a:rPr>
              <a:t>Zookeeper rule #4</a:t>
            </a:r>
          </a:p>
        </p:txBody>
      </p:sp>
      <p:sp>
        <p:nvSpPr>
          <p:cNvPr id="4" name="TextBox 3">
            <a:extLst>
              <a:ext uri="{FF2B5EF4-FFF2-40B4-BE49-F238E27FC236}">
                <a16:creationId xmlns:a16="http://schemas.microsoft.com/office/drawing/2014/main" id="{DD8E44B2-9403-9C2C-D298-B56A7F76345B}"/>
              </a:ext>
            </a:extLst>
          </p:cNvPr>
          <p:cNvSpPr txBox="1"/>
          <p:nvPr/>
        </p:nvSpPr>
        <p:spPr>
          <a:xfrm>
            <a:off x="838200" y="2922897"/>
            <a:ext cx="9549440" cy="207486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Measure contention before replacing a clear design</a:t>
            </a:r>
          </a:p>
          <a:p>
            <a:pPr marL="285750" indent="-285750">
              <a:lnSpc>
                <a:spcPct val="150000"/>
              </a:lnSpc>
              <a:buFont typeface="Arial" panose="020B0604020202020204" pitchFamily="34" charset="0"/>
              <a:buChar char="•"/>
            </a:pPr>
            <a:r>
              <a:rPr lang="en-US" sz="2200" dirty="0"/>
              <a:t>Keep lock scope aligned with the invariant, not larger, not smaller</a:t>
            </a:r>
          </a:p>
          <a:p>
            <a:pPr marL="285750" indent="-285750">
              <a:lnSpc>
                <a:spcPct val="150000"/>
              </a:lnSpc>
              <a:buFont typeface="Arial" panose="020B0604020202020204" pitchFamily="34" charset="0"/>
              <a:buChar char="•"/>
            </a:pPr>
            <a:r>
              <a:rPr lang="en-US" sz="2200" dirty="0"/>
              <a:t>Keep independently written hot data on separate cache lines</a:t>
            </a:r>
          </a:p>
          <a:p>
            <a:pPr marL="285750" indent="-285750">
              <a:lnSpc>
                <a:spcPct val="150000"/>
              </a:lnSpc>
              <a:buFont typeface="Arial" panose="020B0604020202020204" pitchFamily="34" charset="0"/>
              <a:buChar char="•"/>
            </a:pPr>
            <a:r>
              <a:rPr lang="en-US" sz="2200" dirty="0"/>
              <a:t>Compare against a simple single-threaded baseline</a:t>
            </a:r>
          </a:p>
        </p:txBody>
      </p:sp>
      <p:sp>
        <p:nvSpPr>
          <p:cNvPr id="5" name="TextBox 4">
            <a:extLst>
              <a:ext uri="{FF2B5EF4-FFF2-40B4-BE49-F238E27FC236}">
                <a16:creationId xmlns:a16="http://schemas.microsoft.com/office/drawing/2014/main" id="{835B16F6-A555-FDAA-014F-2ED9DC21CF83}"/>
              </a:ext>
            </a:extLst>
          </p:cNvPr>
          <p:cNvSpPr txBox="1"/>
          <p:nvPr/>
        </p:nvSpPr>
        <p:spPr>
          <a:xfrm>
            <a:off x="838200" y="1614196"/>
            <a:ext cx="6214533" cy="769441"/>
          </a:xfrm>
          <a:prstGeom prst="rect">
            <a:avLst/>
          </a:prstGeom>
          <a:noFill/>
        </p:spPr>
        <p:txBody>
          <a:bodyPr wrap="square" rtlCol="0">
            <a:spAutoFit/>
          </a:bodyPr>
          <a:lstStyle/>
          <a:p>
            <a:r>
              <a:rPr lang="en-US" sz="2200" i="1" dirty="0">
                <a:latin typeface="SourceSans3ExtraLight"/>
              </a:rPr>
              <a:t>Correct does not mean scalable.  </a:t>
            </a:r>
          </a:p>
          <a:p>
            <a:r>
              <a:rPr lang="en-US" sz="2200" i="1" dirty="0">
                <a:latin typeface="SourceSans3ExtraLight"/>
              </a:rPr>
              <a:t>Measure the machine, not the story in your head.</a:t>
            </a:r>
          </a:p>
        </p:txBody>
      </p:sp>
      <p:sp>
        <p:nvSpPr>
          <p:cNvPr id="3" name="Slide Number Placeholder 2">
            <a:extLst>
              <a:ext uri="{FF2B5EF4-FFF2-40B4-BE49-F238E27FC236}">
                <a16:creationId xmlns:a16="http://schemas.microsoft.com/office/drawing/2014/main" id="{5535A042-2813-5FB7-43A7-0CD8699299E5}"/>
              </a:ext>
            </a:extLst>
          </p:cNvPr>
          <p:cNvSpPr>
            <a:spLocks noGrp="1"/>
          </p:cNvSpPr>
          <p:nvPr>
            <p:ph type="sldNum" sz="quarter" idx="12"/>
          </p:nvPr>
        </p:nvSpPr>
        <p:spPr/>
        <p:txBody>
          <a:bodyPr/>
          <a:lstStyle/>
          <a:p>
            <a:fld id="{A8D619E7-4118-4CE2-9D02-1AAE6DCE22A2}" type="slidenum">
              <a:rPr lang="en-US" smtClean="0"/>
              <a:t>51</a:t>
            </a:fld>
            <a:endParaRPr lang="en-US"/>
          </a:p>
        </p:txBody>
      </p:sp>
    </p:spTree>
    <p:extLst>
      <p:ext uri="{BB962C8B-B14F-4D97-AF65-F5344CB8AC3E}">
        <p14:creationId xmlns:p14="http://schemas.microsoft.com/office/powerpoint/2010/main" val="143664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56772-57E2-FE46-8CE6-CF56AF6A51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C77C3-F6BC-0458-0E42-FE0C9EE9D612}"/>
              </a:ext>
            </a:extLst>
          </p:cNvPr>
          <p:cNvSpPr>
            <a:spLocks noGrp="1"/>
          </p:cNvSpPr>
          <p:nvPr>
            <p:ph type="ctrTitle"/>
          </p:nvPr>
        </p:nvSpPr>
        <p:spPr>
          <a:xfrm>
            <a:off x="1523999" y="1122363"/>
            <a:ext cx="9144001" cy="2387600"/>
          </a:xfrm>
        </p:spPr>
        <p:txBody>
          <a:bodyPr/>
          <a:lstStyle/>
          <a:p>
            <a:r>
              <a:rPr lang="en-US" b="1" dirty="0">
                <a:solidFill>
                  <a:srgbClr val="1A1A1A"/>
                </a:solidFill>
                <a:latin typeface="Fraunces-72pt-SemiBold-NonWonky"/>
                <a:ea typeface="Fraunces-72pt-SemiBold-NonWonky"/>
              </a:rPr>
              <a:t>Zone 6: Dragon’s Cave</a:t>
            </a:r>
            <a:endParaRPr lang="en-US" dirty="0"/>
          </a:p>
        </p:txBody>
      </p:sp>
      <p:sp>
        <p:nvSpPr>
          <p:cNvPr id="5" name="Subtitle 4">
            <a:extLst>
              <a:ext uri="{FF2B5EF4-FFF2-40B4-BE49-F238E27FC236}">
                <a16:creationId xmlns:a16="http://schemas.microsoft.com/office/drawing/2014/main" id="{30DCD649-4BD7-98F4-E68D-A05D26948781}"/>
              </a:ext>
            </a:extLst>
          </p:cNvPr>
          <p:cNvSpPr>
            <a:spLocks noGrp="1"/>
          </p:cNvSpPr>
          <p:nvPr>
            <p:ph type="subTitle" idx="1"/>
          </p:nvPr>
        </p:nvSpPr>
        <p:spPr>
          <a:xfrm>
            <a:off x="1092200" y="3602038"/>
            <a:ext cx="10528300" cy="2824162"/>
          </a:xfrm>
        </p:spPr>
        <p:txBody>
          <a:bodyPr>
            <a:normAutofit/>
          </a:bodyPr>
          <a:lstStyle/>
          <a:p>
            <a:r>
              <a:rPr lang="en-US" i="1" dirty="0">
                <a:latin typeface="SourceSans3ExtraLight"/>
              </a:rPr>
              <a:t>At the journey's end waits the final monster. It does not tear memory or break</a:t>
            </a:r>
          </a:p>
          <a:p>
            <a:r>
              <a:rPr lang="en-US" i="1" dirty="0">
                <a:latin typeface="SourceSans3ExtraLight"/>
              </a:rPr>
              <a:t>our locks. It wears the same face after the world behind it has changed.</a:t>
            </a:r>
          </a:p>
          <a:p>
            <a:endParaRPr lang="en-US" i="1" dirty="0">
              <a:latin typeface="SourceSans3ExtraLight"/>
            </a:endParaRPr>
          </a:p>
          <a:p>
            <a:r>
              <a:rPr lang="en-US" i="1" dirty="0">
                <a:latin typeface="SourceSans3ExtraLight"/>
              </a:rPr>
              <a:t>Every operation can be atomic. Every comparison can be truthful. The algorithm</a:t>
            </a:r>
          </a:p>
          <a:p>
            <a:r>
              <a:rPr lang="en-US" i="1" dirty="0">
                <a:latin typeface="SourceSans3ExtraLight"/>
              </a:rPr>
              <a:t>can still be wrong.</a:t>
            </a:r>
          </a:p>
        </p:txBody>
      </p:sp>
      <p:sp>
        <p:nvSpPr>
          <p:cNvPr id="3" name="Slide Number Placeholder 2">
            <a:extLst>
              <a:ext uri="{FF2B5EF4-FFF2-40B4-BE49-F238E27FC236}">
                <a16:creationId xmlns:a16="http://schemas.microsoft.com/office/drawing/2014/main" id="{4D5687A7-0FC4-56A2-12D1-427A5F38EDE7}"/>
              </a:ext>
            </a:extLst>
          </p:cNvPr>
          <p:cNvSpPr>
            <a:spLocks noGrp="1"/>
          </p:cNvSpPr>
          <p:nvPr>
            <p:ph type="sldNum" sz="quarter" idx="12"/>
          </p:nvPr>
        </p:nvSpPr>
        <p:spPr/>
        <p:txBody>
          <a:bodyPr/>
          <a:lstStyle/>
          <a:p>
            <a:fld id="{A8D619E7-4118-4CE2-9D02-1AAE6DCE22A2}" type="slidenum">
              <a:rPr lang="en-US" smtClean="0"/>
              <a:t>52</a:t>
            </a:fld>
            <a:endParaRPr lang="en-US"/>
          </a:p>
        </p:txBody>
      </p:sp>
    </p:spTree>
    <p:extLst>
      <p:ext uri="{BB962C8B-B14F-4D97-AF65-F5344CB8AC3E}">
        <p14:creationId xmlns:p14="http://schemas.microsoft.com/office/powerpoint/2010/main" val="38488124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27280-D512-6BD0-5C37-2864218BC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5F2D46-411C-E7CC-7A0D-CF8D28CD1CEB}"/>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Final Boss: The ABA Dragon</a:t>
            </a:r>
          </a:p>
        </p:txBody>
      </p:sp>
      <p:sp>
        <p:nvSpPr>
          <p:cNvPr id="7" name="TextBox 6">
            <a:extLst>
              <a:ext uri="{FF2B5EF4-FFF2-40B4-BE49-F238E27FC236}">
                <a16:creationId xmlns:a16="http://schemas.microsoft.com/office/drawing/2014/main" id="{11692C11-4091-3A17-8674-9145F86B4E5B}"/>
              </a:ext>
            </a:extLst>
          </p:cNvPr>
          <p:cNvSpPr txBox="1"/>
          <p:nvPr/>
        </p:nvSpPr>
        <p:spPr>
          <a:xfrm>
            <a:off x="838200" y="3813790"/>
            <a:ext cx="10199914" cy="2462213"/>
          </a:xfrm>
          <a:prstGeom prst="rect">
            <a:avLst/>
          </a:prstGeom>
          <a:noFill/>
        </p:spPr>
        <p:txBody>
          <a:bodyPr wrap="square" rtlCol="0">
            <a:spAutoFit/>
          </a:bodyPr>
          <a:lstStyle/>
          <a:p>
            <a:r>
              <a:rPr lang="en-US" sz="2200" i="1" dirty="0">
                <a:latin typeface="SourceSans3ExtraLight"/>
              </a:rPr>
              <a:t>Cut off a head and watch it grow back.</a:t>
            </a:r>
          </a:p>
          <a:p>
            <a:endParaRPr lang="en-US" sz="2200" i="1" dirty="0">
              <a:latin typeface="SourceSans3ExtraLight"/>
            </a:endParaRPr>
          </a:p>
          <a:p>
            <a:r>
              <a:rPr lang="en-US" sz="2200" i="1" dirty="0">
                <a:latin typeface="SourceSans3ExtraLight"/>
              </a:rPr>
              <a:t>Look away - the kingdom changes twice.</a:t>
            </a:r>
          </a:p>
          <a:p>
            <a:endParaRPr lang="en-US" sz="2200" i="1" dirty="0">
              <a:latin typeface="SourceSans3ExtraLight"/>
            </a:endParaRPr>
          </a:p>
          <a:p>
            <a:r>
              <a:rPr lang="en-US" sz="2200" i="1" dirty="0">
                <a:latin typeface="SourceSans3ExtraLight"/>
              </a:rPr>
              <a:t>Look back - the same head guards the gate.</a:t>
            </a:r>
          </a:p>
          <a:p>
            <a:endParaRPr lang="en-US" sz="2200" i="1" dirty="0">
              <a:latin typeface="SourceSans3ExtraLight"/>
            </a:endParaRPr>
          </a:p>
          <a:p>
            <a:r>
              <a:rPr lang="en-US" sz="2200" i="1" dirty="0">
                <a:latin typeface="SourceSans3ExtraLight"/>
              </a:rPr>
              <a:t>Same face. Different generation.</a:t>
            </a:r>
          </a:p>
        </p:txBody>
      </p:sp>
      <p:pic>
        <p:nvPicPr>
          <p:cNvPr id="4" name="Graphic 3">
            <a:extLst>
              <a:ext uri="{FF2B5EF4-FFF2-40B4-BE49-F238E27FC236}">
                <a16:creationId xmlns:a16="http://schemas.microsoft.com/office/drawing/2014/main" id="{B816BFB3-392C-321A-D0EC-FF90ED8AA3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2320" y="487017"/>
            <a:ext cx="2654309" cy="1580321"/>
          </a:xfrm>
          <a:prstGeom prst="rect">
            <a:avLst/>
          </a:prstGeom>
        </p:spPr>
      </p:pic>
      <p:sp>
        <p:nvSpPr>
          <p:cNvPr id="3" name="Slide Number Placeholder 2">
            <a:extLst>
              <a:ext uri="{FF2B5EF4-FFF2-40B4-BE49-F238E27FC236}">
                <a16:creationId xmlns:a16="http://schemas.microsoft.com/office/drawing/2014/main" id="{A2D64A25-65E0-8D55-476D-B2D70F13E039}"/>
              </a:ext>
            </a:extLst>
          </p:cNvPr>
          <p:cNvSpPr>
            <a:spLocks noGrp="1"/>
          </p:cNvSpPr>
          <p:nvPr>
            <p:ph type="sldNum" sz="quarter" idx="12"/>
          </p:nvPr>
        </p:nvSpPr>
        <p:spPr/>
        <p:txBody>
          <a:bodyPr/>
          <a:lstStyle/>
          <a:p>
            <a:fld id="{A8D619E7-4118-4CE2-9D02-1AAE6DCE22A2}" type="slidenum">
              <a:rPr lang="en-US" smtClean="0"/>
              <a:t>53</a:t>
            </a:fld>
            <a:endParaRPr lang="en-US"/>
          </a:p>
        </p:txBody>
      </p:sp>
    </p:spTree>
    <p:extLst>
      <p:ext uri="{BB962C8B-B14F-4D97-AF65-F5344CB8AC3E}">
        <p14:creationId xmlns:p14="http://schemas.microsoft.com/office/powerpoint/2010/main" val="15802871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82F9D-5C0C-3608-BB5E-2B83A4BCCC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00A751-86BA-E248-B58D-6EE7BEE974F6}"/>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endParaRPr lang="en-US" dirty="0"/>
          </a:p>
        </p:txBody>
      </p:sp>
      <p:sp>
        <p:nvSpPr>
          <p:cNvPr id="3" name="Content Placeholder 2">
            <a:extLst>
              <a:ext uri="{FF2B5EF4-FFF2-40B4-BE49-F238E27FC236}">
                <a16:creationId xmlns:a16="http://schemas.microsoft.com/office/drawing/2014/main" id="{9E466583-C2B3-8ADE-AE72-62C095920393}"/>
              </a:ext>
            </a:extLst>
          </p:cNvPr>
          <p:cNvSpPr>
            <a:spLocks noGrp="1"/>
          </p:cNvSpPr>
          <p:nvPr>
            <p:ph idx="1"/>
          </p:nvPr>
        </p:nvSpPr>
        <p:spPr>
          <a:xfrm>
            <a:off x="838198" y="2110732"/>
            <a:ext cx="10947401" cy="3439167"/>
          </a:xfrm>
        </p:spPr>
        <p:txBody>
          <a:bodyPr>
            <a:normAutofit fontScale="85000" lnSpcReduction="20000"/>
          </a:bodyPr>
          <a:lstStyle/>
          <a:p>
            <a:pPr marL="0" inden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try_cut_head</a:t>
            </a:r>
            <a:r>
              <a:rPr lang="en-US" sz="2200" dirty="0">
                <a:solidFill>
                  <a:schemeClr val="tx2">
                    <a:lumMod val="90000"/>
                    <a:lumOff val="10000"/>
                  </a:schemeClr>
                </a:solidFill>
                <a:latin typeface="SourceCodePro"/>
                <a:ea typeface="SourceCodePro"/>
              </a:rPr>
              <a:t>() {</a:t>
            </a:r>
          </a:p>
          <a:p>
            <a:pPr marL="0" indent="0">
              <a:buNone/>
            </a:pPr>
            <a:r>
              <a:rPr lang="en-US" sz="2200" dirty="0">
                <a:solidFill>
                  <a:schemeClr val="tx2">
                    <a:lumMod val="90000"/>
                    <a:lumOff val="10000"/>
                  </a:schemeClr>
                </a:solidFill>
                <a:latin typeface="SourceCodePro"/>
                <a:ea typeface="SourceCodePro"/>
              </a:rPr>
              <a:t>    Head*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head_to_cut.load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if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a:t>
            </a:r>
            <a:r>
              <a:rPr lang="en-US" sz="2200" dirty="0" err="1">
                <a:solidFill>
                  <a:schemeClr val="tx2">
                    <a:lumMod val="90000"/>
                    <a:lumOff val="10000"/>
                  </a:schemeClr>
                </a:solidFill>
                <a:latin typeface="SourceCodePro"/>
                <a:ea typeface="SourceCodePro"/>
              </a:rPr>
              <a:t>nullptr</a:t>
            </a:r>
            <a:r>
              <a:rPr lang="en-US" sz="2200" dirty="0">
                <a:solidFill>
                  <a:schemeClr val="tx2">
                    <a:lumMod val="90000"/>
                    <a:lumOff val="10000"/>
                  </a:schemeClr>
                </a:solidFill>
                <a:latin typeface="SourceCodePro"/>
                <a:ea typeface="SourceCodePro"/>
              </a:rPr>
              <a:t>;</a:t>
            </a:r>
          </a:p>
          <a:p>
            <a:pPr marL="0" indent="0">
              <a:buNone/>
            </a:pPr>
            <a:endParaRPr lang="en-US" sz="2200" dirty="0">
              <a:solidFill>
                <a:schemeClr val="tx2">
                  <a:lumMod val="90000"/>
                  <a:lumOff val="10000"/>
                </a:schemeClr>
              </a:solidFill>
              <a:latin typeface="SourceCodePro"/>
              <a:ea typeface="SourceCodePro"/>
            </a:endParaRPr>
          </a:p>
          <a:p>
            <a:pPr marL="0" indent="0">
              <a:buNone/>
            </a:pPr>
            <a:r>
              <a:rPr lang="en-US" sz="2200" dirty="0">
                <a:solidFill>
                  <a:schemeClr val="tx2">
                    <a:lumMod val="90000"/>
                    <a:lumOff val="10000"/>
                  </a:schemeClr>
                </a:solidFill>
                <a:latin typeface="SourceCodePro"/>
                <a:ea typeface="SourceCodePro"/>
              </a:rPr>
              <a:t>    Head*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-&gt;next;</a:t>
            </a:r>
          </a:p>
          <a:p>
            <a:pPr marL="0" indent="0">
              <a:buNone/>
            </a:pPr>
            <a:r>
              <a:rPr lang="en-US" sz="2200" dirty="0">
                <a:solidFill>
                  <a:schemeClr val="tx2">
                    <a:lumMod val="90000"/>
                    <a:lumOff val="10000"/>
                  </a:schemeClr>
                </a:solidFill>
                <a:latin typeface="SourceCodePro"/>
                <a:ea typeface="SourceCodePro"/>
              </a:rPr>
              <a:t>    if (</a:t>
            </a:r>
            <a:r>
              <a:rPr lang="en-US" sz="2200" dirty="0" err="1">
                <a:solidFill>
                  <a:schemeClr val="tx2">
                    <a:lumMod val="90000"/>
                    <a:lumOff val="10000"/>
                  </a:schemeClr>
                </a:solidFill>
                <a:latin typeface="SourceCodePro"/>
                <a:ea typeface="SourceCodePro"/>
              </a:rPr>
              <a:t>head_to_cut.compare_exchange_strong</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a:t>
            </a:r>
            <a:r>
              <a:rPr lang="en-US" sz="2200" dirty="0" err="1">
                <a:solidFill>
                  <a:schemeClr val="tx2">
                    <a:lumMod val="90000"/>
                    <a:lumOff val="10000"/>
                  </a:schemeClr>
                </a:solidFill>
                <a:latin typeface="SourceCodePro"/>
                <a:ea typeface="SourceCodePro"/>
              </a:rPr>
              <a:t>nullptr</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a:t>
            </a:r>
          </a:p>
        </p:txBody>
      </p:sp>
      <p:sp>
        <p:nvSpPr>
          <p:cNvPr id="13" name="TextBox 12">
            <a:extLst>
              <a:ext uri="{FF2B5EF4-FFF2-40B4-BE49-F238E27FC236}">
                <a16:creationId xmlns:a16="http://schemas.microsoft.com/office/drawing/2014/main" id="{76455B85-3AB4-7BC9-36BA-8726AC3341CE}"/>
              </a:ext>
            </a:extLst>
          </p:cNvPr>
          <p:cNvSpPr txBox="1"/>
          <p:nvPr/>
        </p:nvSpPr>
        <p:spPr>
          <a:xfrm>
            <a:off x="838197" y="5790692"/>
            <a:ext cx="11159067" cy="430887"/>
          </a:xfrm>
          <a:prstGeom prst="rect">
            <a:avLst/>
          </a:prstGeom>
          <a:noFill/>
        </p:spPr>
        <p:txBody>
          <a:bodyPr wrap="square">
            <a:spAutoFit/>
          </a:bodyPr>
          <a:lstStyle/>
          <a:p>
            <a:r>
              <a:rPr lang="en-US" sz="2200" dirty="0"/>
              <a:t>CAS proves the value is equal. Not that its history is unchanged.</a:t>
            </a:r>
          </a:p>
        </p:txBody>
      </p:sp>
      <p:sp>
        <p:nvSpPr>
          <p:cNvPr id="6" name="TextBox 5">
            <a:extLst>
              <a:ext uri="{FF2B5EF4-FFF2-40B4-BE49-F238E27FC236}">
                <a16:creationId xmlns:a16="http://schemas.microsoft.com/office/drawing/2014/main" id="{817DF8A3-6AC1-24AF-8C4E-FF81647762F7}"/>
              </a:ext>
            </a:extLst>
          </p:cNvPr>
          <p:cNvSpPr txBox="1"/>
          <p:nvPr/>
        </p:nvSpPr>
        <p:spPr>
          <a:xfrm>
            <a:off x="838197" y="1439052"/>
            <a:ext cx="11159067" cy="430887"/>
          </a:xfrm>
          <a:prstGeom prst="rect">
            <a:avLst/>
          </a:prstGeom>
          <a:noFill/>
        </p:spPr>
        <p:txBody>
          <a:bodyPr wrap="square">
            <a:spAutoFit/>
          </a:bodyPr>
          <a:lstStyle/>
          <a:p>
            <a:r>
              <a:rPr lang="en-US" sz="2200" dirty="0"/>
              <a:t>To cut off its current head, a simplified lock-free stack tries this code</a:t>
            </a:r>
          </a:p>
        </p:txBody>
      </p:sp>
      <p:pic>
        <p:nvPicPr>
          <p:cNvPr id="7" name="Graphic 6">
            <a:extLst>
              <a:ext uri="{FF2B5EF4-FFF2-40B4-BE49-F238E27FC236}">
                <a16:creationId xmlns:a16="http://schemas.microsoft.com/office/drawing/2014/main" id="{93FB037D-6FE2-7210-C25D-E72002482D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2320" y="487017"/>
            <a:ext cx="2654309" cy="1580321"/>
          </a:xfrm>
          <a:prstGeom prst="rect">
            <a:avLst/>
          </a:prstGeom>
        </p:spPr>
      </p:pic>
      <p:sp>
        <p:nvSpPr>
          <p:cNvPr id="4" name="Slide Number Placeholder 3">
            <a:extLst>
              <a:ext uri="{FF2B5EF4-FFF2-40B4-BE49-F238E27FC236}">
                <a16:creationId xmlns:a16="http://schemas.microsoft.com/office/drawing/2014/main" id="{E39F9DF2-6F77-73DA-58D8-3A17D4F24788}"/>
              </a:ext>
            </a:extLst>
          </p:cNvPr>
          <p:cNvSpPr>
            <a:spLocks noGrp="1"/>
          </p:cNvSpPr>
          <p:nvPr>
            <p:ph type="sldNum" sz="quarter" idx="12"/>
          </p:nvPr>
        </p:nvSpPr>
        <p:spPr/>
        <p:txBody>
          <a:bodyPr/>
          <a:lstStyle/>
          <a:p>
            <a:fld id="{A8D619E7-4118-4CE2-9D02-1AAE6DCE22A2}" type="slidenum">
              <a:rPr lang="en-US" smtClean="0"/>
              <a:t>54</a:t>
            </a:fld>
            <a:endParaRPr lang="en-US"/>
          </a:p>
        </p:txBody>
      </p:sp>
    </p:spTree>
    <p:extLst>
      <p:ext uri="{BB962C8B-B14F-4D97-AF65-F5344CB8AC3E}">
        <p14:creationId xmlns:p14="http://schemas.microsoft.com/office/powerpoint/2010/main" val="1572642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C952-89E6-52FA-D49C-82A571B76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3A4F78-58AA-D8F2-4BD5-10518ECEE4D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p>
        </p:txBody>
      </p:sp>
      <p:sp>
        <p:nvSpPr>
          <p:cNvPr id="9" name="Thought Bubble: Cloud 8">
            <a:extLst>
              <a:ext uri="{FF2B5EF4-FFF2-40B4-BE49-F238E27FC236}">
                <a16:creationId xmlns:a16="http://schemas.microsoft.com/office/drawing/2014/main" id="{EF0DA8D6-5D68-A1AF-769A-22252399EBE3}"/>
              </a:ext>
            </a:extLst>
          </p:cNvPr>
          <p:cNvSpPr/>
          <p:nvPr/>
        </p:nvSpPr>
        <p:spPr>
          <a:xfrm>
            <a:off x="1170583" y="2730500"/>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hought Bubble: Cloud 10">
            <a:extLst>
              <a:ext uri="{FF2B5EF4-FFF2-40B4-BE49-F238E27FC236}">
                <a16:creationId xmlns:a16="http://schemas.microsoft.com/office/drawing/2014/main" id="{14ECDF77-1B98-8DDD-B7D6-0A1564309CFE}"/>
              </a:ext>
            </a:extLst>
          </p:cNvPr>
          <p:cNvSpPr/>
          <p:nvPr/>
        </p:nvSpPr>
        <p:spPr>
          <a:xfrm>
            <a:off x="5197614" y="813594"/>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a:extLst>
              <a:ext uri="{FF2B5EF4-FFF2-40B4-BE49-F238E27FC236}">
                <a16:creationId xmlns:a16="http://schemas.microsoft.com/office/drawing/2014/main" id="{63D2C5CE-FE3A-D79E-4DFD-2728A0C0C23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3186" y="3192024"/>
            <a:ext cx="5130783" cy="3054763"/>
          </a:xfrm>
          <a:prstGeom prst="rect">
            <a:avLst/>
          </a:prstGeom>
        </p:spPr>
      </p:pic>
      <p:pic>
        <p:nvPicPr>
          <p:cNvPr id="6" name="Picture 5">
            <a:extLst>
              <a:ext uri="{FF2B5EF4-FFF2-40B4-BE49-F238E27FC236}">
                <a16:creationId xmlns:a16="http://schemas.microsoft.com/office/drawing/2014/main" id="{B332D51F-474B-EB87-8E33-ACC0EDF6F7D2}"/>
              </a:ext>
            </a:extLst>
          </p:cNvPr>
          <p:cNvPicPr>
            <a:picLocks noChangeAspect="1"/>
          </p:cNvPicPr>
          <p:nvPr/>
        </p:nvPicPr>
        <p:blipFill>
          <a:blip r:embed="rId4"/>
          <a:stretch>
            <a:fillRect/>
          </a:stretch>
        </p:blipFill>
        <p:spPr>
          <a:xfrm>
            <a:off x="1519246" y="2932264"/>
            <a:ext cx="1363970" cy="745215"/>
          </a:xfrm>
          <a:prstGeom prst="rect">
            <a:avLst/>
          </a:prstGeom>
        </p:spPr>
      </p:pic>
      <p:pic>
        <p:nvPicPr>
          <p:cNvPr id="10" name="Picture 9">
            <a:extLst>
              <a:ext uri="{FF2B5EF4-FFF2-40B4-BE49-F238E27FC236}">
                <a16:creationId xmlns:a16="http://schemas.microsoft.com/office/drawing/2014/main" id="{51BA9276-3723-6E07-DC61-852667BBDB2D}"/>
              </a:ext>
            </a:extLst>
          </p:cNvPr>
          <p:cNvPicPr>
            <a:picLocks noChangeAspect="1"/>
          </p:cNvPicPr>
          <p:nvPr/>
        </p:nvPicPr>
        <p:blipFill>
          <a:blip r:embed="rId4"/>
          <a:stretch>
            <a:fillRect/>
          </a:stretch>
        </p:blipFill>
        <p:spPr>
          <a:xfrm>
            <a:off x="5583863" y="1098991"/>
            <a:ext cx="1274751" cy="696470"/>
          </a:xfrm>
          <a:prstGeom prst="rect">
            <a:avLst/>
          </a:prstGeom>
        </p:spPr>
      </p:pic>
      <p:pic>
        <p:nvPicPr>
          <p:cNvPr id="17" name="Graphic 16">
            <a:extLst>
              <a:ext uri="{FF2B5EF4-FFF2-40B4-BE49-F238E27FC236}">
                <a16:creationId xmlns:a16="http://schemas.microsoft.com/office/drawing/2014/main" id="{B5D37F59-D003-49A6-D6FE-0CDBA9C808D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4198" y="2301537"/>
            <a:ext cx="1084884" cy="1609344"/>
          </a:xfrm>
          <a:prstGeom prst="rect">
            <a:avLst/>
          </a:prstGeom>
        </p:spPr>
      </p:pic>
      <p:pic>
        <p:nvPicPr>
          <p:cNvPr id="20" name="Graphic 19">
            <a:extLst>
              <a:ext uri="{FF2B5EF4-FFF2-40B4-BE49-F238E27FC236}">
                <a16:creationId xmlns:a16="http://schemas.microsoft.com/office/drawing/2014/main" id="{66DD6342-E27C-ED15-3CD4-323492839F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8200" y="4365033"/>
            <a:ext cx="1084884" cy="1609344"/>
          </a:xfrm>
          <a:prstGeom prst="rect">
            <a:avLst/>
          </a:prstGeom>
        </p:spPr>
      </p:pic>
      <p:pic>
        <p:nvPicPr>
          <p:cNvPr id="5" name="Graphic 4">
            <a:extLst>
              <a:ext uri="{FF2B5EF4-FFF2-40B4-BE49-F238E27FC236}">
                <a16:creationId xmlns:a16="http://schemas.microsoft.com/office/drawing/2014/main" id="{869CDF31-DD41-D0BB-0385-9027DD6997E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84198" y="2313432"/>
            <a:ext cx="1084884" cy="1609344"/>
          </a:xfrm>
          <a:prstGeom prst="rect">
            <a:avLst/>
          </a:prstGeom>
        </p:spPr>
      </p:pic>
      <p:sp>
        <p:nvSpPr>
          <p:cNvPr id="7" name="Content Placeholder 2">
            <a:extLst>
              <a:ext uri="{FF2B5EF4-FFF2-40B4-BE49-F238E27FC236}">
                <a16:creationId xmlns:a16="http://schemas.microsoft.com/office/drawing/2014/main" id="{F6C8B658-49BB-7E03-CA75-55BDB3496BEC}"/>
              </a:ext>
            </a:extLst>
          </p:cNvPr>
          <p:cNvSpPr txBox="1">
            <a:spLocks/>
          </p:cNvSpPr>
          <p:nvPr/>
        </p:nvSpPr>
        <p:spPr>
          <a:xfrm>
            <a:off x="7089932" y="176551"/>
            <a:ext cx="5130782" cy="109220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head_to_cut.load</a:t>
            </a:r>
            <a:r>
              <a:rPr lang="en-US" sz="2200" dirty="0">
                <a:solidFill>
                  <a:schemeClr val="tx2">
                    <a:lumMod val="90000"/>
                    <a:lumOff val="10000"/>
                  </a:schemeClr>
                </a:solidFill>
                <a:latin typeface="SourceCodePro"/>
                <a:ea typeface="SourceCodePro"/>
              </a:rPr>
              <a:t>();</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-&gt;next;</a:t>
            </a:r>
          </a:p>
          <a:p>
            <a:pPr marL="0" indent="0">
              <a:buFont typeface="Arial" panose="020B0604020202020204" pitchFamily="34" charset="0"/>
              <a:buNone/>
            </a:pPr>
            <a:endParaRPr lang="en-US" sz="2200" dirty="0">
              <a:solidFill>
                <a:schemeClr val="tx2">
                  <a:lumMod val="90000"/>
                  <a:lumOff val="10000"/>
                </a:schemeClr>
              </a:solidFill>
              <a:latin typeface="SourceCodePro"/>
              <a:ea typeface="SourceCodePro"/>
            </a:endParaRPr>
          </a:p>
        </p:txBody>
      </p:sp>
      <p:sp>
        <p:nvSpPr>
          <p:cNvPr id="3" name="Slide Number Placeholder 2">
            <a:extLst>
              <a:ext uri="{FF2B5EF4-FFF2-40B4-BE49-F238E27FC236}">
                <a16:creationId xmlns:a16="http://schemas.microsoft.com/office/drawing/2014/main" id="{EE86E895-B3C5-CFE9-9F23-0AFE6ADD2559}"/>
              </a:ext>
            </a:extLst>
          </p:cNvPr>
          <p:cNvSpPr>
            <a:spLocks noGrp="1"/>
          </p:cNvSpPr>
          <p:nvPr>
            <p:ph type="sldNum" sz="quarter" idx="12"/>
          </p:nvPr>
        </p:nvSpPr>
        <p:spPr/>
        <p:txBody>
          <a:bodyPr/>
          <a:lstStyle/>
          <a:p>
            <a:fld id="{A8D619E7-4118-4CE2-9D02-1AAE6DCE22A2}" type="slidenum">
              <a:rPr lang="en-US" smtClean="0"/>
              <a:t>55</a:t>
            </a:fld>
            <a:endParaRPr lang="en-US"/>
          </a:p>
        </p:txBody>
      </p:sp>
    </p:spTree>
    <p:extLst>
      <p:ext uri="{BB962C8B-B14F-4D97-AF65-F5344CB8AC3E}">
        <p14:creationId xmlns:p14="http://schemas.microsoft.com/office/powerpoint/2010/main" val="361866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7"/>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991CF-E836-09D1-0A7E-89F323468A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1F62B-DE2E-EA7F-9DCE-380CFB29FB8C}"/>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p>
        </p:txBody>
      </p:sp>
      <p:sp>
        <p:nvSpPr>
          <p:cNvPr id="9" name="Thought Bubble: Cloud 8">
            <a:extLst>
              <a:ext uri="{FF2B5EF4-FFF2-40B4-BE49-F238E27FC236}">
                <a16:creationId xmlns:a16="http://schemas.microsoft.com/office/drawing/2014/main" id="{23B94481-9BEE-08D6-7669-14722B8703AA}"/>
              </a:ext>
            </a:extLst>
          </p:cNvPr>
          <p:cNvSpPr/>
          <p:nvPr/>
        </p:nvSpPr>
        <p:spPr>
          <a:xfrm>
            <a:off x="1170583" y="2730500"/>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hought Bubble: Cloud 10">
            <a:extLst>
              <a:ext uri="{FF2B5EF4-FFF2-40B4-BE49-F238E27FC236}">
                <a16:creationId xmlns:a16="http://schemas.microsoft.com/office/drawing/2014/main" id="{725E0F56-BF9D-6E19-E7B9-0DC3CD42D3E6}"/>
              </a:ext>
            </a:extLst>
          </p:cNvPr>
          <p:cNvSpPr/>
          <p:nvPr/>
        </p:nvSpPr>
        <p:spPr>
          <a:xfrm>
            <a:off x="5197614" y="813594"/>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2FE6EFAD-4C35-8B54-C26C-839503C052E3}"/>
              </a:ext>
            </a:extLst>
          </p:cNvPr>
          <p:cNvPicPr>
            <a:picLocks noChangeAspect="1"/>
          </p:cNvPicPr>
          <p:nvPr/>
        </p:nvPicPr>
        <p:blipFill>
          <a:blip r:embed="rId3"/>
          <a:stretch>
            <a:fillRect/>
          </a:stretch>
        </p:blipFill>
        <p:spPr>
          <a:xfrm>
            <a:off x="1519246" y="2932264"/>
            <a:ext cx="1363970" cy="745215"/>
          </a:xfrm>
          <a:prstGeom prst="rect">
            <a:avLst/>
          </a:prstGeom>
        </p:spPr>
      </p:pic>
      <p:pic>
        <p:nvPicPr>
          <p:cNvPr id="14" name="Picture 13">
            <a:extLst>
              <a:ext uri="{FF2B5EF4-FFF2-40B4-BE49-F238E27FC236}">
                <a16:creationId xmlns:a16="http://schemas.microsoft.com/office/drawing/2014/main" id="{A5C7C1A6-0584-70F9-8F5C-02FDC6620CDF}"/>
              </a:ext>
            </a:extLst>
          </p:cNvPr>
          <p:cNvPicPr>
            <a:picLocks noChangeAspect="1"/>
          </p:cNvPicPr>
          <p:nvPr/>
        </p:nvPicPr>
        <p:blipFill>
          <a:blip r:embed="rId4"/>
          <a:stretch>
            <a:fillRect/>
          </a:stretch>
        </p:blipFill>
        <p:spPr>
          <a:xfrm>
            <a:off x="5627782" y="1054100"/>
            <a:ext cx="1310712" cy="743187"/>
          </a:xfrm>
          <a:prstGeom prst="rect">
            <a:avLst/>
          </a:prstGeom>
        </p:spPr>
      </p:pic>
      <p:pic>
        <p:nvPicPr>
          <p:cNvPr id="4" name="Graphic 3">
            <a:extLst>
              <a:ext uri="{FF2B5EF4-FFF2-40B4-BE49-F238E27FC236}">
                <a16:creationId xmlns:a16="http://schemas.microsoft.com/office/drawing/2014/main" id="{35BB622F-AF83-58D4-5A26-461B5BA8C3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8200" y="4365033"/>
            <a:ext cx="1084884" cy="1609344"/>
          </a:xfrm>
          <a:prstGeom prst="rect">
            <a:avLst/>
          </a:prstGeom>
        </p:spPr>
      </p:pic>
      <p:pic>
        <p:nvPicPr>
          <p:cNvPr id="7" name="Graphic 6">
            <a:extLst>
              <a:ext uri="{FF2B5EF4-FFF2-40B4-BE49-F238E27FC236}">
                <a16:creationId xmlns:a16="http://schemas.microsoft.com/office/drawing/2014/main" id="{27478E0E-0F16-B240-877A-4125D8A5895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84198" y="2313432"/>
            <a:ext cx="1084884" cy="1609344"/>
          </a:xfrm>
          <a:prstGeom prst="rect">
            <a:avLst/>
          </a:prstGeom>
        </p:spPr>
      </p:pic>
      <p:pic>
        <p:nvPicPr>
          <p:cNvPr id="15" name="Graphic 14">
            <a:extLst>
              <a:ext uri="{FF2B5EF4-FFF2-40B4-BE49-F238E27FC236}">
                <a16:creationId xmlns:a16="http://schemas.microsoft.com/office/drawing/2014/main" id="{74CDC37D-80EE-A06D-F8DC-13B5564268F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13186" y="3192024"/>
            <a:ext cx="5130783" cy="3054763"/>
          </a:xfrm>
          <a:prstGeom prst="rect">
            <a:avLst/>
          </a:prstGeom>
        </p:spPr>
      </p:pic>
      <p:sp>
        <p:nvSpPr>
          <p:cNvPr id="19" name="Rectangle 18">
            <a:extLst>
              <a:ext uri="{FF2B5EF4-FFF2-40B4-BE49-F238E27FC236}">
                <a16:creationId xmlns:a16="http://schemas.microsoft.com/office/drawing/2014/main" id="{8C862EAE-0FF4-1F25-CE51-03013C54C3F6}"/>
              </a:ext>
            </a:extLst>
          </p:cNvPr>
          <p:cNvSpPr/>
          <p:nvPr/>
        </p:nvSpPr>
        <p:spPr>
          <a:xfrm rot="1060205">
            <a:off x="6005044" y="280752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2">
            <a:extLst>
              <a:ext uri="{FF2B5EF4-FFF2-40B4-BE49-F238E27FC236}">
                <a16:creationId xmlns:a16="http://schemas.microsoft.com/office/drawing/2014/main" id="{4496ACD7-CA4F-BB67-71E9-5DF605E7FA9F}"/>
              </a:ext>
            </a:extLst>
          </p:cNvPr>
          <p:cNvSpPr txBox="1">
            <a:spLocks/>
          </p:cNvSpPr>
          <p:nvPr/>
        </p:nvSpPr>
        <p:spPr>
          <a:xfrm>
            <a:off x="7057748" y="225777"/>
            <a:ext cx="5362705" cy="116965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chemeClr val="tx2">
                    <a:lumMod val="90000"/>
                    <a:lumOff val="10000"/>
                  </a:schemeClr>
                </a:solidFill>
                <a:latin typeface="SourceCodePro"/>
                <a:ea typeface="SourceCodePro"/>
              </a:rPr>
              <a:t>Head*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 =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-&gt;next;</a:t>
            </a:r>
          </a:p>
          <a:p>
            <a:pPr marL="0" indent="0">
              <a:buNone/>
            </a:pPr>
            <a:r>
              <a:rPr lang="en-US" sz="2000" dirty="0">
                <a:solidFill>
                  <a:schemeClr val="tx2">
                    <a:lumMod val="90000"/>
                    <a:lumOff val="10000"/>
                  </a:schemeClr>
                </a:solidFill>
                <a:latin typeface="SourceCodePro"/>
                <a:ea typeface="SourceCodePro"/>
              </a:rPr>
              <a:t>if (</a:t>
            </a:r>
            <a:r>
              <a:rPr lang="en-US" sz="2000" dirty="0" err="1">
                <a:solidFill>
                  <a:schemeClr val="tx2">
                    <a:lumMod val="90000"/>
                    <a:lumOff val="10000"/>
                  </a:schemeClr>
                </a:solidFill>
                <a:latin typeface="SourceCodePro"/>
                <a:ea typeface="SourceCodePro"/>
              </a:rPr>
              <a:t>head_to_cut.CAS</a:t>
            </a:r>
            <a:r>
              <a:rPr lang="en-US" sz="2000" dirty="0">
                <a:solidFill>
                  <a:schemeClr val="tx2">
                    <a:lumMod val="90000"/>
                    <a:lumOff val="10000"/>
                  </a:schemeClr>
                </a:solidFill>
                <a:latin typeface="SourceCodePro"/>
                <a:ea typeface="SourceCodePro"/>
              </a:rPr>
              <a:t>(</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a:t>
            </a:r>
          </a:p>
          <a:p>
            <a:pPr marL="0" indent="0">
              <a:buNone/>
            </a:pPr>
            <a:r>
              <a:rPr lang="en-US" sz="2000" dirty="0">
                <a:solidFill>
                  <a:schemeClr val="tx2">
                    <a:lumMod val="90000"/>
                    <a:lumOff val="10000"/>
                  </a:schemeClr>
                </a:solidFill>
                <a:latin typeface="SourceCodePro"/>
                <a:ea typeface="SourceCodePro"/>
              </a:rPr>
              <a:t>	return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a:t>
            </a:r>
          </a:p>
        </p:txBody>
      </p:sp>
      <p:sp>
        <p:nvSpPr>
          <p:cNvPr id="21" name="Content Placeholder 2">
            <a:extLst>
              <a:ext uri="{FF2B5EF4-FFF2-40B4-BE49-F238E27FC236}">
                <a16:creationId xmlns:a16="http://schemas.microsoft.com/office/drawing/2014/main" id="{06C86DD5-9578-5FB5-4E72-417638D635A4}"/>
              </a:ext>
            </a:extLst>
          </p:cNvPr>
          <p:cNvSpPr txBox="1">
            <a:spLocks/>
          </p:cNvSpPr>
          <p:nvPr/>
        </p:nvSpPr>
        <p:spPr>
          <a:xfrm>
            <a:off x="7057748" y="229710"/>
            <a:ext cx="4997873" cy="109220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head_to_cut.load</a:t>
            </a:r>
            <a:r>
              <a:rPr lang="en-US" sz="2200" dirty="0">
                <a:solidFill>
                  <a:schemeClr val="tx2">
                    <a:lumMod val="90000"/>
                    <a:lumOff val="10000"/>
                  </a:schemeClr>
                </a:solidFill>
                <a:latin typeface="SourceCodePro"/>
                <a:ea typeface="SourceCodePro"/>
              </a:rPr>
              <a:t>();</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-&gt;next;</a:t>
            </a:r>
          </a:p>
          <a:p>
            <a:pPr marL="0" indent="0">
              <a:buFont typeface="Arial" panose="020B0604020202020204" pitchFamily="34" charset="0"/>
              <a:buNone/>
            </a:pPr>
            <a:endParaRPr lang="en-US" sz="2200" dirty="0">
              <a:solidFill>
                <a:schemeClr val="tx2">
                  <a:lumMod val="90000"/>
                  <a:lumOff val="10000"/>
                </a:schemeClr>
              </a:solidFill>
              <a:latin typeface="SourceCodePro"/>
              <a:ea typeface="SourceCodePro"/>
            </a:endParaRPr>
          </a:p>
        </p:txBody>
      </p:sp>
      <p:pic>
        <p:nvPicPr>
          <p:cNvPr id="22" name="Picture 21">
            <a:extLst>
              <a:ext uri="{FF2B5EF4-FFF2-40B4-BE49-F238E27FC236}">
                <a16:creationId xmlns:a16="http://schemas.microsoft.com/office/drawing/2014/main" id="{EADDA5EE-EE53-F322-622D-A6F415FC85A7}"/>
              </a:ext>
            </a:extLst>
          </p:cNvPr>
          <p:cNvPicPr>
            <a:picLocks noChangeAspect="1"/>
          </p:cNvPicPr>
          <p:nvPr/>
        </p:nvPicPr>
        <p:blipFill>
          <a:blip r:embed="rId3"/>
          <a:stretch>
            <a:fillRect/>
          </a:stretch>
        </p:blipFill>
        <p:spPr>
          <a:xfrm>
            <a:off x="5583863" y="1098991"/>
            <a:ext cx="1274751" cy="696470"/>
          </a:xfrm>
          <a:prstGeom prst="rect">
            <a:avLst/>
          </a:prstGeom>
        </p:spPr>
      </p:pic>
      <p:sp>
        <p:nvSpPr>
          <p:cNvPr id="3" name="Slide Number Placeholder 2">
            <a:extLst>
              <a:ext uri="{FF2B5EF4-FFF2-40B4-BE49-F238E27FC236}">
                <a16:creationId xmlns:a16="http://schemas.microsoft.com/office/drawing/2014/main" id="{ACA9EF86-6C44-85E7-27EF-A8DF426A23AA}"/>
              </a:ext>
            </a:extLst>
          </p:cNvPr>
          <p:cNvSpPr>
            <a:spLocks noGrp="1"/>
          </p:cNvSpPr>
          <p:nvPr>
            <p:ph type="sldNum" sz="quarter" idx="12"/>
          </p:nvPr>
        </p:nvSpPr>
        <p:spPr/>
        <p:txBody>
          <a:bodyPr/>
          <a:lstStyle/>
          <a:p>
            <a:fld id="{A8D619E7-4118-4CE2-9D02-1AAE6DCE22A2}" type="slidenum">
              <a:rPr lang="en-US" smtClean="0"/>
              <a:t>56</a:t>
            </a:fld>
            <a:endParaRPr lang="en-US"/>
          </a:p>
        </p:txBody>
      </p:sp>
    </p:spTree>
    <p:extLst>
      <p:ext uri="{BB962C8B-B14F-4D97-AF65-F5344CB8AC3E}">
        <p14:creationId xmlns:p14="http://schemas.microsoft.com/office/powerpoint/2010/main" val="82317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264F8-1DF7-C115-5E7D-48FFAD9A4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245DA7-08EC-4362-16E2-C9C4D7603FA5}"/>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p>
        </p:txBody>
      </p:sp>
      <p:sp>
        <p:nvSpPr>
          <p:cNvPr id="11" name="Thought Bubble: Cloud 10">
            <a:extLst>
              <a:ext uri="{FF2B5EF4-FFF2-40B4-BE49-F238E27FC236}">
                <a16:creationId xmlns:a16="http://schemas.microsoft.com/office/drawing/2014/main" id="{BD5CBA62-E693-C756-7857-74B94334A5C5}"/>
              </a:ext>
            </a:extLst>
          </p:cNvPr>
          <p:cNvSpPr/>
          <p:nvPr/>
        </p:nvSpPr>
        <p:spPr>
          <a:xfrm>
            <a:off x="5197614" y="813594"/>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hought Bubble: Cloud 8">
            <a:extLst>
              <a:ext uri="{FF2B5EF4-FFF2-40B4-BE49-F238E27FC236}">
                <a16:creationId xmlns:a16="http://schemas.microsoft.com/office/drawing/2014/main" id="{3CD3B43D-1818-473A-8341-E4F363D193C9}"/>
              </a:ext>
            </a:extLst>
          </p:cNvPr>
          <p:cNvSpPr/>
          <p:nvPr/>
        </p:nvSpPr>
        <p:spPr>
          <a:xfrm>
            <a:off x="1170583" y="2730500"/>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114B2603-6DF7-7B59-61EA-195FA3C4A513}"/>
              </a:ext>
            </a:extLst>
          </p:cNvPr>
          <p:cNvPicPr>
            <a:picLocks noChangeAspect="1"/>
          </p:cNvPicPr>
          <p:nvPr/>
        </p:nvPicPr>
        <p:blipFill>
          <a:blip r:embed="rId3"/>
          <a:stretch>
            <a:fillRect/>
          </a:stretch>
        </p:blipFill>
        <p:spPr>
          <a:xfrm>
            <a:off x="1519246" y="2932264"/>
            <a:ext cx="1363970" cy="745215"/>
          </a:xfrm>
          <a:prstGeom prst="rect">
            <a:avLst/>
          </a:prstGeom>
        </p:spPr>
      </p:pic>
      <p:pic>
        <p:nvPicPr>
          <p:cNvPr id="19" name="Graphic 18">
            <a:extLst>
              <a:ext uri="{FF2B5EF4-FFF2-40B4-BE49-F238E27FC236}">
                <a16:creationId xmlns:a16="http://schemas.microsoft.com/office/drawing/2014/main" id="{4D0F4040-7456-3FB0-43EC-1F32AE6D46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200" y="4362640"/>
            <a:ext cx="1084884" cy="1609344"/>
          </a:xfrm>
          <a:prstGeom prst="rect">
            <a:avLst/>
          </a:prstGeom>
        </p:spPr>
      </p:pic>
      <p:pic>
        <p:nvPicPr>
          <p:cNvPr id="21" name="Graphic 20">
            <a:extLst>
              <a:ext uri="{FF2B5EF4-FFF2-40B4-BE49-F238E27FC236}">
                <a16:creationId xmlns:a16="http://schemas.microsoft.com/office/drawing/2014/main" id="{86502FDE-A2C2-2D3B-BE8F-A8849C2932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4198" y="2301537"/>
            <a:ext cx="1084884" cy="1609344"/>
          </a:xfrm>
          <a:prstGeom prst="rect">
            <a:avLst/>
          </a:prstGeom>
        </p:spPr>
      </p:pic>
      <p:pic>
        <p:nvPicPr>
          <p:cNvPr id="12" name="Picture 11">
            <a:extLst>
              <a:ext uri="{FF2B5EF4-FFF2-40B4-BE49-F238E27FC236}">
                <a16:creationId xmlns:a16="http://schemas.microsoft.com/office/drawing/2014/main" id="{BD434B32-7C2E-2122-C652-4E06D466BD0B}"/>
              </a:ext>
            </a:extLst>
          </p:cNvPr>
          <p:cNvPicPr>
            <a:picLocks noChangeAspect="1"/>
          </p:cNvPicPr>
          <p:nvPr/>
        </p:nvPicPr>
        <p:blipFill>
          <a:blip r:embed="rId6"/>
          <a:stretch>
            <a:fillRect/>
          </a:stretch>
        </p:blipFill>
        <p:spPr>
          <a:xfrm>
            <a:off x="1528124" y="2988885"/>
            <a:ext cx="1355092" cy="768351"/>
          </a:xfrm>
          <a:prstGeom prst="rect">
            <a:avLst/>
          </a:prstGeom>
        </p:spPr>
      </p:pic>
      <p:pic>
        <p:nvPicPr>
          <p:cNvPr id="15" name="Picture 14">
            <a:extLst>
              <a:ext uri="{FF2B5EF4-FFF2-40B4-BE49-F238E27FC236}">
                <a16:creationId xmlns:a16="http://schemas.microsoft.com/office/drawing/2014/main" id="{CC78F270-3307-71E5-0954-5ACBD3F1B206}"/>
              </a:ext>
            </a:extLst>
          </p:cNvPr>
          <p:cNvPicPr>
            <a:picLocks noChangeAspect="1"/>
          </p:cNvPicPr>
          <p:nvPr/>
        </p:nvPicPr>
        <p:blipFill>
          <a:blip r:embed="rId6"/>
          <a:stretch>
            <a:fillRect/>
          </a:stretch>
        </p:blipFill>
        <p:spPr>
          <a:xfrm>
            <a:off x="5627782" y="1054100"/>
            <a:ext cx="1310712" cy="743187"/>
          </a:xfrm>
          <a:prstGeom prst="rect">
            <a:avLst/>
          </a:prstGeom>
        </p:spPr>
      </p:pic>
      <p:pic>
        <p:nvPicPr>
          <p:cNvPr id="24" name="Graphic 23">
            <a:extLst>
              <a:ext uri="{FF2B5EF4-FFF2-40B4-BE49-F238E27FC236}">
                <a16:creationId xmlns:a16="http://schemas.microsoft.com/office/drawing/2014/main" id="{A2DE4AA5-CC10-9B3E-D773-A5874AB1709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13186" y="3192024"/>
            <a:ext cx="5130783" cy="3054763"/>
          </a:xfrm>
          <a:prstGeom prst="rect">
            <a:avLst/>
          </a:prstGeom>
        </p:spPr>
      </p:pic>
      <p:sp>
        <p:nvSpPr>
          <p:cNvPr id="26" name="Rectangle 25">
            <a:extLst>
              <a:ext uri="{FF2B5EF4-FFF2-40B4-BE49-F238E27FC236}">
                <a16:creationId xmlns:a16="http://schemas.microsoft.com/office/drawing/2014/main" id="{B5E84EEA-B90C-1106-DF10-21070875827F}"/>
              </a:ext>
            </a:extLst>
          </p:cNvPr>
          <p:cNvSpPr/>
          <p:nvPr/>
        </p:nvSpPr>
        <p:spPr>
          <a:xfrm rot="1060205">
            <a:off x="6005044" y="280752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191BBFB-36FC-E4E4-6A6A-B8FCDB40A2D5}"/>
              </a:ext>
            </a:extLst>
          </p:cNvPr>
          <p:cNvSpPr/>
          <p:nvPr/>
        </p:nvSpPr>
        <p:spPr>
          <a:xfrm rot="5957121">
            <a:off x="7702619" y="255904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ntent Placeholder 2">
            <a:extLst>
              <a:ext uri="{FF2B5EF4-FFF2-40B4-BE49-F238E27FC236}">
                <a16:creationId xmlns:a16="http://schemas.microsoft.com/office/drawing/2014/main" id="{B4AE80EF-A4B9-BB29-BB69-81211C73FF18}"/>
              </a:ext>
            </a:extLst>
          </p:cNvPr>
          <p:cNvSpPr txBox="1">
            <a:spLocks/>
          </p:cNvSpPr>
          <p:nvPr/>
        </p:nvSpPr>
        <p:spPr>
          <a:xfrm>
            <a:off x="6667130" y="71873"/>
            <a:ext cx="6125794" cy="1725413"/>
          </a:xfrm>
          <a:prstGeom prst="rect">
            <a:avLst/>
          </a:prstGeom>
          <a:solidFill>
            <a:srgbClr val="FFFFFF">
              <a:alpha val="74902"/>
            </a:srgbClr>
          </a:solidFill>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-&gt;next;</a:t>
            </a:r>
          </a:p>
          <a:p>
            <a:pPr marL="0" indent="0">
              <a:buNone/>
            </a:pPr>
            <a:r>
              <a:rPr lang="en-US" sz="2200" dirty="0">
                <a:solidFill>
                  <a:schemeClr val="tx2">
                    <a:lumMod val="90000"/>
                    <a:lumOff val="10000"/>
                  </a:schemeClr>
                </a:solidFill>
                <a:latin typeface="SourceCodePro"/>
                <a:ea typeface="SourceCodePro"/>
              </a:rPr>
              <a:t>if (</a:t>
            </a:r>
            <a:r>
              <a:rPr lang="en-US" sz="2200" dirty="0" err="1">
                <a:solidFill>
                  <a:schemeClr val="tx2">
                    <a:lumMod val="90000"/>
                    <a:lumOff val="10000"/>
                  </a:schemeClr>
                </a:solidFill>
                <a:latin typeface="SourceCodePro"/>
                <a:ea typeface="SourceCodePro"/>
              </a:rPr>
              <a:t>head_to_cut.CAS</a:t>
            </a:r>
            <a:r>
              <a:rPr lang="en-US" sz="2200" dirty="0">
                <a:solidFill>
                  <a:schemeClr val="tx2">
                    <a:lumMod val="90000"/>
                    <a:lumOff val="10000"/>
                  </a:schemeClr>
                </a:solidFill>
                <a:latin typeface="SourceCodePro"/>
                <a:ea typeface="SourceCodePro"/>
              </a:rPr>
              <a:t>(</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	return </a:t>
            </a:r>
            <a:r>
              <a:rPr lang="en-US" sz="2200" dirty="0" err="1">
                <a:solidFill>
                  <a:schemeClr val="tx2">
                    <a:lumMod val="90000"/>
                    <a:lumOff val="10000"/>
                  </a:schemeClr>
                </a:solidFill>
                <a:latin typeface="SourceCodePro"/>
                <a:ea typeface="SourceCodePro"/>
              </a:rPr>
              <a:t>old_head</a:t>
            </a:r>
            <a:r>
              <a:rPr lang="en-US" sz="2200" dirty="0">
                <a:solidFill>
                  <a:schemeClr val="tx2">
                    <a:lumMod val="90000"/>
                    <a:lumOff val="10000"/>
                  </a:schemeClr>
                </a:solidFill>
                <a:latin typeface="SourceCodePro"/>
                <a:ea typeface="SourceCodePro"/>
              </a:rPr>
              <a:t>;</a:t>
            </a:r>
          </a:p>
          <a:p>
            <a:pPr marL="0" indent="0">
              <a:buNone/>
            </a:pPr>
            <a:r>
              <a:rPr lang="en-US" sz="2200" dirty="0">
                <a:solidFill>
                  <a:schemeClr val="tx2">
                    <a:lumMod val="90000"/>
                    <a:lumOff val="10000"/>
                  </a:schemeClr>
                </a:solidFill>
                <a:latin typeface="SourceCodePro"/>
                <a:ea typeface="SourceCodePro"/>
              </a:rPr>
              <a:t>return </a:t>
            </a:r>
            <a:r>
              <a:rPr lang="en-US" sz="2200" dirty="0" err="1">
                <a:solidFill>
                  <a:schemeClr val="tx2">
                    <a:lumMod val="90000"/>
                    <a:lumOff val="10000"/>
                  </a:schemeClr>
                </a:solidFill>
                <a:latin typeface="SourceCodePro"/>
                <a:ea typeface="SourceCodePro"/>
              </a:rPr>
              <a:t>nullptr</a:t>
            </a:r>
            <a:r>
              <a:rPr lang="en-US" sz="2200" dirty="0">
                <a:solidFill>
                  <a:schemeClr val="tx2">
                    <a:lumMod val="90000"/>
                    <a:lumOff val="10000"/>
                  </a:schemeClr>
                </a:solidFill>
                <a:latin typeface="SourceCodePro"/>
                <a:ea typeface="SourceCodePro"/>
              </a:rPr>
              <a:t>;</a:t>
            </a:r>
          </a:p>
        </p:txBody>
      </p:sp>
      <p:sp>
        <p:nvSpPr>
          <p:cNvPr id="32" name="Content Placeholder 2">
            <a:extLst>
              <a:ext uri="{FF2B5EF4-FFF2-40B4-BE49-F238E27FC236}">
                <a16:creationId xmlns:a16="http://schemas.microsoft.com/office/drawing/2014/main" id="{7B5AA9DA-2A29-299C-657D-6F7796DB4942}"/>
              </a:ext>
            </a:extLst>
          </p:cNvPr>
          <p:cNvSpPr txBox="1">
            <a:spLocks/>
          </p:cNvSpPr>
          <p:nvPr/>
        </p:nvSpPr>
        <p:spPr>
          <a:xfrm>
            <a:off x="6667130" y="2398693"/>
            <a:ext cx="5471413" cy="109220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head_to_cut.load</a:t>
            </a:r>
            <a:r>
              <a:rPr lang="en-US" sz="2200" dirty="0">
                <a:solidFill>
                  <a:schemeClr val="tx2">
                    <a:lumMod val="90000"/>
                    <a:lumOff val="10000"/>
                  </a:schemeClr>
                </a:solidFill>
                <a:latin typeface="SourceCodePro"/>
                <a:ea typeface="SourceCodePro"/>
              </a:rPr>
              <a:t>();</a:t>
            </a:r>
          </a:p>
          <a:p>
            <a:pPr marL="0" indent="0">
              <a:buFont typeface="Arial" panose="020B0604020202020204" pitchFamily="34" charset="0"/>
              <a:buNone/>
            </a:pPr>
            <a:r>
              <a:rPr lang="en-US" sz="2200" dirty="0">
                <a:solidFill>
                  <a:schemeClr val="tx2">
                    <a:lumMod val="90000"/>
                    <a:lumOff val="10000"/>
                  </a:schemeClr>
                </a:solidFill>
                <a:latin typeface="SourceCodePro"/>
                <a:ea typeface="SourceCodePro"/>
              </a:rPr>
              <a:t>Head* </a:t>
            </a:r>
            <a:r>
              <a:rPr lang="en-US" sz="2200" dirty="0" err="1">
                <a:solidFill>
                  <a:schemeClr val="tx2">
                    <a:lumMod val="90000"/>
                    <a:lumOff val="10000"/>
                  </a:schemeClr>
                </a:solidFill>
                <a:latin typeface="SourceCodePro"/>
                <a:ea typeface="SourceCodePro"/>
              </a:rPr>
              <a:t>next_head</a:t>
            </a:r>
            <a:r>
              <a:rPr lang="en-US" sz="2200" dirty="0">
                <a:solidFill>
                  <a:schemeClr val="tx2">
                    <a:lumMod val="90000"/>
                    <a:lumOff val="10000"/>
                  </a:schemeClr>
                </a:solidFill>
                <a:latin typeface="SourceCodePro"/>
                <a:ea typeface="SourceCodePro"/>
              </a:rPr>
              <a:t> = </a:t>
            </a:r>
            <a:r>
              <a:rPr lang="en-US" sz="2200" dirty="0" err="1">
                <a:solidFill>
                  <a:schemeClr val="tx2">
                    <a:lumMod val="90000"/>
                    <a:lumOff val="10000"/>
                  </a:schemeClr>
                </a:solidFill>
                <a:latin typeface="SourceCodePro"/>
                <a:ea typeface="SourceCodePro"/>
              </a:rPr>
              <a:t>loaded_head</a:t>
            </a:r>
            <a:r>
              <a:rPr lang="en-US" sz="2200" dirty="0">
                <a:solidFill>
                  <a:schemeClr val="tx2">
                    <a:lumMod val="90000"/>
                    <a:lumOff val="10000"/>
                  </a:schemeClr>
                </a:solidFill>
                <a:latin typeface="SourceCodePro"/>
                <a:ea typeface="SourceCodePro"/>
              </a:rPr>
              <a:t>-&gt;next;</a:t>
            </a:r>
          </a:p>
          <a:p>
            <a:pPr marL="0" indent="0">
              <a:buFont typeface="Arial" panose="020B0604020202020204" pitchFamily="34" charset="0"/>
              <a:buNone/>
            </a:pPr>
            <a:endParaRPr lang="en-US" sz="2200" dirty="0">
              <a:solidFill>
                <a:schemeClr val="tx2">
                  <a:lumMod val="90000"/>
                  <a:lumOff val="10000"/>
                </a:schemeClr>
              </a:solidFill>
              <a:latin typeface="SourceCodePro"/>
              <a:ea typeface="SourceCodePro"/>
            </a:endParaRPr>
          </a:p>
        </p:txBody>
      </p:sp>
      <p:sp>
        <p:nvSpPr>
          <p:cNvPr id="3" name="Slide Number Placeholder 2">
            <a:extLst>
              <a:ext uri="{FF2B5EF4-FFF2-40B4-BE49-F238E27FC236}">
                <a16:creationId xmlns:a16="http://schemas.microsoft.com/office/drawing/2014/main" id="{6344FCC1-A23F-BB76-2733-EDA8088BAA61}"/>
              </a:ext>
            </a:extLst>
          </p:cNvPr>
          <p:cNvSpPr>
            <a:spLocks noGrp="1"/>
          </p:cNvSpPr>
          <p:nvPr>
            <p:ph type="sldNum" sz="quarter" idx="12"/>
          </p:nvPr>
        </p:nvSpPr>
        <p:spPr/>
        <p:txBody>
          <a:bodyPr/>
          <a:lstStyle/>
          <a:p>
            <a:fld id="{A8D619E7-4118-4CE2-9D02-1AAE6DCE22A2}" type="slidenum">
              <a:rPr lang="en-US" smtClean="0"/>
              <a:t>57</a:t>
            </a:fld>
            <a:endParaRPr lang="en-US"/>
          </a:p>
        </p:txBody>
      </p:sp>
    </p:spTree>
    <p:extLst>
      <p:ext uri="{BB962C8B-B14F-4D97-AF65-F5344CB8AC3E}">
        <p14:creationId xmlns:p14="http://schemas.microsoft.com/office/powerpoint/2010/main" val="3324022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p:bldP spid="3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A4D50-283F-53D8-0A1C-661EBA7026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11DD2-8896-D00F-359C-D0F1F04BC0B7}"/>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p>
        </p:txBody>
      </p:sp>
      <p:sp>
        <p:nvSpPr>
          <p:cNvPr id="9" name="Thought Bubble: Cloud 8">
            <a:extLst>
              <a:ext uri="{FF2B5EF4-FFF2-40B4-BE49-F238E27FC236}">
                <a16:creationId xmlns:a16="http://schemas.microsoft.com/office/drawing/2014/main" id="{E351A8F2-3865-5F13-A69E-1C97FBB178B9}"/>
              </a:ext>
            </a:extLst>
          </p:cNvPr>
          <p:cNvSpPr/>
          <p:nvPr/>
        </p:nvSpPr>
        <p:spPr>
          <a:xfrm>
            <a:off x="1170583" y="2730500"/>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hought Bubble: Cloud 10">
            <a:extLst>
              <a:ext uri="{FF2B5EF4-FFF2-40B4-BE49-F238E27FC236}">
                <a16:creationId xmlns:a16="http://schemas.microsoft.com/office/drawing/2014/main" id="{83C7C3D5-BE2F-9BC8-6835-CFDAD3F7A33B}"/>
              </a:ext>
            </a:extLst>
          </p:cNvPr>
          <p:cNvSpPr/>
          <p:nvPr/>
        </p:nvSpPr>
        <p:spPr>
          <a:xfrm>
            <a:off x="5197614" y="813594"/>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11D3DEE5-1A23-6D0A-9D15-9355E9898B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200" y="4365033"/>
            <a:ext cx="1084884" cy="1609344"/>
          </a:xfrm>
          <a:prstGeom prst="rect">
            <a:avLst/>
          </a:prstGeom>
        </p:spPr>
      </p:pic>
      <p:pic>
        <p:nvPicPr>
          <p:cNvPr id="14" name="Picture 13">
            <a:extLst>
              <a:ext uri="{FF2B5EF4-FFF2-40B4-BE49-F238E27FC236}">
                <a16:creationId xmlns:a16="http://schemas.microsoft.com/office/drawing/2014/main" id="{5E367693-ED2E-53E6-AD55-458C26FD7184}"/>
              </a:ext>
            </a:extLst>
          </p:cNvPr>
          <p:cNvPicPr>
            <a:picLocks noChangeAspect="1"/>
          </p:cNvPicPr>
          <p:nvPr/>
        </p:nvPicPr>
        <p:blipFill>
          <a:blip r:embed="rId4"/>
          <a:stretch>
            <a:fillRect/>
          </a:stretch>
        </p:blipFill>
        <p:spPr>
          <a:xfrm>
            <a:off x="1939837" y="2846440"/>
            <a:ext cx="913391" cy="932420"/>
          </a:xfrm>
          <a:prstGeom prst="rect">
            <a:avLst/>
          </a:prstGeom>
        </p:spPr>
      </p:pic>
      <p:pic>
        <p:nvPicPr>
          <p:cNvPr id="10" name="Picture 9">
            <a:extLst>
              <a:ext uri="{FF2B5EF4-FFF2-40B4-BE49-F238E27FC236}">
                <a16:creationId xmlns:a16="http://schemas.microsoft.com/office/drawing/2014/main" id="{B56ADF48-A3AD-ED79-3521-EC12C80D68B5}"/>
              </a:ext>
            </a:extLst>
          </p:cNvPr>
          <p:cNvPicPr>
            <a:picLocks noChangeAspect="1"/>
          </p:cNvPicPr>
          <p:nvPr/>
        </p:nvPicPr>
        <p:blipFill>
          <a:blip r:embed="rId5"/>
          <a:stretch>
            <a:fillRect/>
          </a:stretch>
        </p:blipFill>
        <p:spPr>
          <a:xfrm>
            <a:off x="5627782" y="1054100"/>
            <a:ext cx="1310712" cy="743187"/>
          </a:xfrm>
          <a:prstGeom prst="rect">
            <a:avLst/>
          </a:prstGeom>
        </p:spPr>
      </p:pic>
      <p:pic>
        <p:nvPicPr>
          <p:cNvPr id="13" name="Graphic 12">
            <a:extLst>
              <a:ext uri="{FF2B5EF4-FFF2-40B4-BE49-F238E27FC236}">
                <a16:creationId xmlns:a16="http://schemas.microsoft.com/office/drawing/2014/main" id="{FBECA387-6B46-04C5-04EF-C1A9A00BC3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8200" y="4362640"/>
            <a:ext cx="1084884" cy="1609344"/>
          </a:xfrm>
          <a:prstGeom prst="rect">
            <a:avLst/>
          </a:prstGeom>
        </p:spPr>
      </p:pic>
      <p:pic>
        <p:nvPicPr>
          <p:cNvPr id="17" name="Graphic 16">
            <a:extLst>
              <a:ext uri="{FF2B5EF4-FFF2-40B4-BE49-F238E27FC236}">
                <a16:creationId xmlns:a16="http://schemas.microsoft.com/office/drawing/2014/main" id="{CC71083B-F772-8D71-5586-01958B6EFC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84198" y="2301537"/>
            <a:ext cx="1084884" cy="1609344"/>
          </a:xfrm>
          <a:prstGeom prst="rect">
            <a:avLst/>
          </a:prstGeom>
        </p:spPr>
      </p:pic>
      <p:sp>
        <p:nvSpPr>
          <p:cNvPr id="19" name="Rectangle 18">
            <a:extLst>
              <a:ext uri="{FF2B5EF4-FFF2-40B4-BE49-F238E27FC236}">
                <a16:creationId xmlns:a16="http://schemas.microsoft.com/office/drawing/2014/main" id="{807AE80F-DF1C-BDD8-95E0-BC89453CF942}"/>
              </a:ext>
            </a:extLst>
          </p:cNvPr>
          <p:cNvSpPr/>
          <p:nvPr/>
        </p:nvSpPr>
        <p:spPr>
          <a:xfrm rot="1060205">
            <a:off x="9509662" y="2808485"/>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12483BF4-344E-D035-33B6-0D98EB13D67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13186" y="3192024"/>
            <a:ext cx="5130783" cy="3054763"/>
          </a:xfrm>
          <a:prstGeom prst="rect">
            <a:avLst/>
          </a:prstGeom>
        </p:spPr>
      </p:pic>
      <p:sp>
        <p:nvSpPr>
          <p:cNvPr id="23" name="Rectangle 22">
            <a:extLst>
              <a:ext uri="{FF2B5EF4-FFF2-40B4-BE49-F238E27FC236}">
                <a16:creationId xmlns:a16="http://schemas.microsoft.com/office/drawing/2014/main" id="{61BC71D0-CAAF-0E83-15B4-CC737D5CCB54}"/>
              </a:ext>
            </a:extLst>
          </p:cNvPr>
          <p:cNvSpPr/>
          <p:nvPr/>
        </p:nvSpPr>
        <p:spPr>
          <a:xfrm rot="1060205">
            <a:off x="6005044" y="280752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0723540-034C-CEC8-94B3-9C2B9DBDE304}"/>
              </a:ext>
            </a:extLst>
          </p:cNvPr>
          <p:cNvSpPr/>
          <p:nvPr/>
        </p:nvSpPr>
        <p:spPr>
          <a:xfrm rot="5957121">
            <a:off x="7702619" y="255904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6FAD586-F05A-EABE-D538-E5A4EA8C27DD}"/>
              </a:ext>
            </a:extLst>
          </p:cNvPr>
          <p:cNvSpPr/>
          <p:nvPr/>
        </p:nvSpPr>
        <p:spPr>
          <a:xfrm rot="5957121">
            <a:off x="9563155" y="2706937"/>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ntent Placeholder 2">
            <a:extLst>
              <a:ext uri="{FF2B5EF4-FFF2-40B4-BE49-F238E27FC236}">
                <a16:creationId xmlns:a16="http://schemas.microsoft.com/office/drawing/2014/main" id="{FA6A942A-592C-4362-B52C-5E34312435A2}"/>
              </a:ext>
            </a:extLst>
          </p:cNvPr>
          <p:cNvSpPr txBox="1">
            <a:spLocks/>
          </p:cNvSpPr>
          <p:nvPr/>
        </p:nvSpPr>
        <p:spPr>
          <a:xfrm>
            <a:off x="7119892" y="196166"/>
            <a:ext cx="5530990" cy="149452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chemeClr val="tx2">
                    <a:lumMod val="90000"/>
                    <a:lumOff val="10000"/>
                  </a:schemeClr>
                </a:solidFill>
                <a:latin typeface="SourceCodePro"/>
                <a:ea typeface="SourceCodePro"/>
              </a:rPr>
              <a:t>Head*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 =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-&gt;next;</a:t>
            </a:r>
          </a:p>
          <a:p>
            <a:pPr marL="0" indent="0">
              <a:buNone/>
            </a:pPr>
            <a:r>
              <a:rPr lang="en-US" sz="2000" dirty="0">
                <a:solidFill>
                  <a:schemeClr val="tx2">
                    <a:lumMod val="90000"/>
                    <a:lumOff val="10000"/>
                  </a:schemeClr>
                </a:solidFill>
                <a:latin typeface="SourceCodePro"/>
                <a:ea typeface="SourceCodePro"/>
              </a:rPr>
              <a:t>if (</a:t>
            </a:r>
            <a:r>
              <a:rPr lang="en-US" sz="2000" dirty="0" err="1">
                <a:solidFill>
                  <a:schemeClr val="tx2">
                    <a:lumMod val="90000"/>
                    <a:lumOff val="10000"/>
                  </a:schemeClr>
                </a:solidFill>
                <a:latin typeface="SourceCodePro"/>
                <a:ea typeface="SourceCodePro"/>
              </a:rPr>
              <a:t>head_to_cut.CAS</a:t>
            </a:r>
            <a:r>
              <a:rPr lang="en-US" sz="2000" dirty="0">
                <a:solidFill>
                  <a:schemeClr val="tx2">
                    <a:lumMod val="90000"/>
                    <a:lumOff val="10000"/>
                  </a:schemeClr>
                </a:solidFill>
                <a:latin typeface="SourceCodePro"/>
                <a:ea typeface="SourceCodePro"/>
              </a:rPr>
              <a:t>(</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a:t>
            </a:r>
          </a:p>
          <a:p>
            <a:pPr marL="0" indent="0">
              <a:buNone/>
            </a:pPr>
            <a:r>
              <a:rPr lang="en-US" sz="2000" dirty="0">
                <a:solidFill>
                  <a:schemeClr val="tx2">
                    <a:lumMod val="90000"/>
                    <a:lumOff val="10000"/>
                  </a:schemeClr>
                </a:solidFill>
                <a:latin typeface="SourceCodePro"/>
                <a:ea typeface="SourceCodePro"/>
              </a:rPr>
              <a:t>	return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a:t>
            </a:r>
          </a:p>
        </p:txBody>
      </p:sp>
      <p:sp>
        <p:nvSpPr>
          <p:cNvPr id="3" name="Slide Number Placeholder 2">
            <a:extLst>
              <a:ext uri="{FF2B5EF4-FFF2-40B4-BE49-F238E27FC236}">
                <a16:creationId xmlns:a16="http://schemas.microsoft.com/office/drawing/2014/main" id="{585A2392-5853-8412-E1F5-229219E6A209}"/>
              </a:ext>
            </a:extLst>
          </p:cNvPr>
          <p:cNvSpPr>
            <a:spLocks noGrp="1"/>
          </p:cNvSpPr>
          <p:nvPr>
            <p:ph type="sldNum" sz="quarter" idx="12"/>
          </p:nvPr>
        </p:nvSpPr>
        <p:spPr/>
        <p:txBody>
          <a:bodyPr/>
          <a:lstStyle/>
          <a:p>
            <a:fld id="{A8D619E7-4118-4CE2-9D02-1AAE6DCE22A2}" type="slidenum">
              <a:rPr lang="en-US" smtClean="0"/>
              <a:t>58</a:t>
            </a:fld>
            <a:endParaRPr lang="en-US"/>
          </a:p>
        </p:txBody>
      </p:sp>
    </p:spTree>
    <p:extLst>
      <p:ext uri="{BB962C8B-B14F-4D97-AF65-F5344CB8AC3E}">
        <p14:creationId xmlns:p14="http://schemas.microsoft.com/office/powerpoint/2010/main" val="1603375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7AE81-BD3D-6399-3F04-C0C613B221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6107EA-551F-CBC7-F26E-927EAC1E2851}"/>
              </a:ext>
            </a:extLst>
          </p:cNvPr>
          <p:cNvSpPr>
            <a:spLocks noGrp="1"/>
          </p:cNvSpPr>
          <p:nvPr>
            <p:ph type="title"/>
          </p:nvPr>
        </p:nvSpPr>
        <p:spPr/>
        <p:txBody>
          <a:bodyPr/>
          <a:lstStyle/>
          <a:p>
            <a:r>
              <a:rPr lang="en-US" b="1" dirty="0">
                <a:solidFill>
                  <a:srgbClr val="1A1A1A"/>
                </a:solidFill>
                <a:latin typeface="Fraunces-72pt-SemiBold-NonWonky"/>
                <a:ea typeface="Fraunces-72pt-SemiBold-NonWonky"/>
              </a:rPr>
              <a:t>The ABA Dragon</a:t>
            </a:r>
          </a:p>
        </p:txBody>
      </p:sp>
      <p:sp>
        <p:nvSpPr>
          <p:cNvPr id="9" name="Thought Bubble: Cloud 8">
            <a:extLst>
              <a:ext uri="{FF2B5EF4-FFF2-40B4-BE49-F238E27FC236}">
                <a16:creationId xmlns:a16="http://schemas.microsoft.com/office/drawing/2014/main" id="{4857303E-4B62-B745-F237-F47BA6417492}"/>
              </a:ext>
            </a:extLst>
          </p:cNvPr>
          <p:cNvSpPr/>
          <p:nvPr/>
        </p:nvSpPr>
        <p:spPr>
          <a:xfrm>
            <a:off x="1170583" y="2730500"/>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hought Bubble: Cloud 10">
            <a:extLst>
              <a:ext uri="{FF2B5EF4-FFF2-40B4-BE49-F238E27FC236}">
                <a16:creationId xmlns:a16="http://schemas.microsoft.com/office/drawing/2014/main" id="{BBAB2AEA-64E1-2842-6F81-6DA722734667}"/>
              </a:ext>
            </a:extLst>
          </p:cNvPr>
          <p:cNvSpPr/>
          <p:nvPr/>
        </p:nvSpPr>
        <p:spPr>
          <a:xfrm>
            <a:off x="5197614" y="813594"/>
            <a:ext cx="2209800" cy="1397000"/>
          </a:xfrm>
          <a:prstGeom prst="cloudCallou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4DAA71DC-D2B3-D838-312C-7820FEF19F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200" y="4365033"/>
            <a:ext cx="1084884" cy="1609344"/>
          </a:xfrm>
          <a:prstGeom prst="rect">
            <a:avLst/>
          </a:prstGeom>
        </p:spPr>
      </p:pic>
      <p:pic>
        <p:nvPicPr>
          <p:cNvPr id="14" name="Picture 13">
            <a:extLst>
              <a:ext uri="{FF2B5EF4-FFF2-40B4-BE49-F238E27FC236}">
                <a16:creationId xmlns:a16="http://schemas.microsoft.com/office/drawing/2014/main" id="{1DB36270-E178-EE95-9DAD-088F40056360}"/>
              </a:ext>
            </a:extLst>
          </p:cNvPr>
          <p:cNvPicPr>
            <a:picLocks noChangeAspect="1"/>
          </p:cNvPicPr>
          <p:nvPr/>
        </p:nvPicPr>
        <p:blipFill>
          <a:blip r:embed="rId4"/>
          <a:stretch>
            <a:fillRect/>
          </a:stretch>
        </p:blipFill>
        <p:spPr>
          <a:xfrm>
            <a:off x="1939837" y="2846440"/>
            <a:ext cx="913391" cy="932420"/>
          </a:xfrm>
          <a:prstGeom prst="rect">
            <a:avLst/>
          </a:prstGeom>
        </p:spPr>
      </p:pic>
      <p:pic>
        <p:nvPicPr>
          <p:cNvPr id="10" name="Picture 9">
            <a:extLst>
              <a:ext uri="{FF2B5EF4-FFF2-40B4-BE49-F238E27FC236}">
                <a16:creationId xmlns:a16="http://schemas.microsoft.com/office/drawing/2014/main" id="{CF99433F-5D6B-8524-A302-3F420611A296}"/>
              </a:ext>
            </a:extLst>
          </p:cNvPr>
          <p:cNvPicPr>
            <a:picLocks noChangeAspect="1"/>
          </p:cNvPicPr>
          <p:nvPr/>
        </p:nvPicPr>
        <p:blipFill>
          <a:blip r:embed="rId5"/>
          <a:stretch>
            <a:fillRect/>
          </a:stretch>
        </p:blipFill>
        <p:spPr>
          <a:xfrm>
            <a:off x="5627782" y="1054100"/>
            <a:ext cx="1310712" cy="743187"/>
          </a:xfrm>
          <a:prstGeom prst="rect">
            <a:avLst/>
          </a:prstGeom>
        </p:spPr>
      </p:pic>
      <p:pic>
        <p:nvPicPr>
          <p:cNvPr id="17" name="Graphic 16">
            <a:extLst>
              <a:ext uri="{FF2B5EF4-FFF2-40B4-BE49-F238E27FC236}">
                <a16:creationId xmlns:a16="http://schemas.microsoft.com/office/drawing/2014/main" id="{776F7AF8-AC54-AEC4-1A65-2A4E12165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84198" y="2301537"/>
            <a:ext cx="1084884" cy="1609344"/>
          </a:xfrm>
          <a:prstGeom prst="rect">
            <a:avLst/>
          </a:prstGeom>
        </p:spPr>
      </p:pic>
      <p:sp>
        <p:nvSpPr>
          <p:cNvPr id="19" name="Rectangle 18">
            <a:extLst>
              <a:ext uri="{FF2B5EF4-FFF2-40B4-BE49-F238E27FC236}">
                <a16:creationId xmlns:a16="http://schemas.microsoft.com/office/drawing/2014/main" id="{2E9550EA-00A8-EB79-9D5B-0D62A94F9CDF}"/>
              </a:ext>
            </a:extLst>
          </p:cNvPr>
          <p:cNvSpPr/>
          <p:nvPr/>
        </p:nvSpPr>
        <p:spPr>
          <a:xfrm rot="1060205">
            <a:off x="9509662" y="2808485"/>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793B3A8F-D930-6A23-14F9-BA122E473B0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13186" y="3192024"/>
            <a:ext cx="5130783" cy="3054763"/>
          </a:xfrm>
          <a:prstGeom prst="rect">
            <a:avLst/>
          </a:prstGeom>
        </p:spPr>
      </p:pic>
      <p:sp>
        <p:nvSpPr>
          <p:cNvPr id="23" name="Rectangle 22">
            <a:extLst>
              <a:ext uri="{FF2B5EF4-FFF2-40B4-BE49-F238E27FC236}">
                <a16:creationId xmlns:a16="http://schemas.microsoft.com/office/drawing/2014/main" id="{B8198F79-2738-6A80-7E71-51501C7D0282}"/>
              </a:ext>
            </a:extLst>
          </p:cNvPr>
          <p:cNvSpPr/>
          <p:nvPr/>
        </p:nvSpPr>
        <p:spPr>
          <a:xfrm rot="1060205">
            <a:off x="6005044" y="2807529"/>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AD2D49D-F1E2-91C5-5069-BA7717388643}"/>
              </a:ext>
            </a:extLst>
          </p:cNvPr>
          <p:cNvSpPr/>
          <p:nvPr/>
        </p:nvSpPr>
        <p:spPr>
          <a:xfrm rot="5957121">
            <a:off x="9563155" y="2706937"/>
            <a:ext cx="1866900" cy="17399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raphic 4">
            <a:extLst>
              <a:ext uri="{FF2B5EF4-FFF2-40B4-BE49-F238E27FC236}">
                <a16:creationId xmlns:a16="http://schemas.microsoft.com/office/drawing/2014/main" id="{BBD2BB0D-A2D2-D17D-9B14-8FB4C5AA074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84198" y="2313432"/>
            <a:ext cx="1084884" cy="1609344"/>
          </a:xfrm>
          <a:prstGeom prst="rect">
            <a:avLst/>
          </a:prstGeom>
        </p:spPr>
      </p:pic>
      <p:sp>
        <p:nvSpPr>
          <p:cNvPr id="7" name="Freeform: Shape 6">
            <a:extLst>
              <a:ext uri="{FF2B5EF4-FFF2-40B4-BE49-F238E27FC236}">
                <a16:creationId xmlns:a16="http://schemas.microsoft.com/office/drawing/2014/main" id="{05E1276C-12E8-4816-3F9C-750662364166}"/>
              </a:ext>
            </a:extLst>
          </p:cNvPr>
          <p:cNvSpPr/>
          <p:nvPr/>
        </p:nvSpPr>
        <p:spPr>
          <a:xfrm rot="20890217">
            <a:off x="3922801" y="2616248"/>
            <a:ext cx="3312572" cy="1218393"/>
          </a:xfrm>
          <a:custGeom>
            <a:avLst/>
            <a:gdLst/>
            <a:ahLst/>
            <a:cxnLst/>
            <a:rect l="0" t="0" r="r" b="b"/>
            <a:pathLst>
              <a:path w="7568" h="1191">
                <a:moveTo>
                  <a:pt x="0" y="1006"/>
                </a:moveTo>
                <a:lnTo>
                  <a:pt x="0" y="185"/>
                </a:lnTo>
                <a:cubicBezTo>
                  <a:pt x="0" y="173"/>
                  <a:pt x="1" y="161"/>
                  <a:pt x="4" y="149"/>
                </a:cubicBezTo>
                <a:cubicBezTo>
                  <a:pt x="6" y="137"/>
                  <a:pt x="10" y="125"/>
                  <a:pt x="14" y="114"/>
                </a:cubicBezTo>
                <a:cubicBezTo>
                  <a:pt x="19" y="103"/>
                  <a:pt x="25" y="92"/>
                  <a:pt x="31" y="82"/>
                </a:cubicBezTo>
                <a:cubicBezTo>
                  <a:pt x="38" y="72"/>
                  <a:pt x="46" y="63"/>
                  <a:pt x="55" y="54"/>
                </a:cubicBezTo>
                <a:cubicBezTo>
                  <a:pt x="64" y="45"/>
                  <a:pt x="73" y="38"/>
                  <a:pt x="83" y="31"/>
                </a:cubicBezTo>
                <a:cubicBezTo>
                  <a:pt x="94" y="24"/>
                  <a:pt x="104" y="19"/>
                  <a:pt x="115" y="14"/>
                </a:cubicBezTo>
                <a:cubicBezTo>
                  <a:pt x="127" y="9"/>
                  <a:pt x="138" y="6"/>
                  <a:pt x="150" y="3"/>
                </a:cubicBezTo>
                <a:cubicBezTo>
                  <a:pt x="162" y="1"/>
                  <a:pt x="174" y="0"/>
                  <a:pt x="186" y="0"/>
                </a:cubicBezTo>
                <a:lnTo>
                  <a:pt x="7383" y="0"/>
                </a:lnTo>
                <a:cubicBezTo>
                  <a:pt x="7395" y="0"/>
                  <a:pt x="7407" y="1"/>
                  <a:pt x="7419" y="3"/>
                </a:cubicBezTo>
                <a:cubicBezTo>
                  <a:pt x="7431" y="6"/>
                  <a:pt x="7443" y="9"/>
                  <a:pt x="7454" y="14"/>
                </a:cubicBezTo>
                <a:cubicBezTo>
                  <a:pt x="7465" y="19"/>
                  <a:pt x="7476" y="24"/>
                  <a:pt x="7486" y="31"/>
                </a:cubicBezTo>
                <a:cubicBezTo>
                  <a:pt x="7496" y="38"/>
                  <a:pt x="7505" y="45"/>
                  <a:pt x="7514" y="54"/>
                </a:cubicBezTo>
                <a:cubicBezTo>
                  <a:pt x="7523" y="63"/>
                  <a:pt x="7530" y="72"/>
                  <a:pt x="7537" y="82"/>
                </a:cubicBezTo>
                <a:cubicBezTo>
                  <a:pt x="7544" y="92"/>
                  <a:pt x="7549" y="103"/>
                  <a:pt x="7554" y="114"/>
                </a:cubicBezTo>
                <a:cubicBezTo>
                  <a:pt x="7559" y="125"/>
                  <a:pt x="7562" y="137"/>
                  <a:pt x="7565" y="149"/>
                </a:cubicBezTo>
                <a:cubicBezTo>
                  <a:pt x="7567" y="161"/>
                  <a:pt x="7568" y="173"/>
                  <a:pt x="7568" y="185"/>
                </a:cubicBezTo>
                <a:lnTo>
                  <a:pt x="7568" y="1006"/>
                </a:lnTo>
                <a:cubicBezTo>
                  <a:pt x="7568" y="1018"/>
                  <a:pt x="7567" y="1030"/>
                  <a:pt x="7565" y="1042"/>
                </a:cubicBezTo>
                <a:cubicBezTo>
                  <a:pt x="7562" y="1054"/>
                  <a:pt x="7559" y="1066"/>
                  <a:pt x="7554" y="1077"/>
                </a:cubicBezTo>
                <a:cubicBezTo>
                  <a:pt x="7549" y="1088"/>
                  <a:pt x="7544" y="1099"/>
                  <a:pt x="7537" y="1109"/>
                </a:cubicBezTo>
                <a:cubicBezTo>
                  <a:pt x="7530" y="1119"/>
                  <a:pt x="7523" y="1129"/>
                  <a:pt x="7514" y="1137"/>
                </a:cubicBezTo>
                <a:cubicBezTo>
                  <a:pt x="7505" y="1146"/>
                  <a:pt x="7496" y="1153"/>
                  <a:pt x="7486" y="1160"/>
                </a:cubicBezTo>
                <a:cubicBezTo>
                  <a:pt x="7476" y="1167"/>
                  <a:pt x="7465" y="1173"/>
                  <a:pt x="7454" y="1177"/>
                </a:cubicBezTo>
                <a:cubicBezTo>
                  <a:pt x="7443" y="1182"/>
                  <a:pt x="7431" y="1185"/>
                  <a:pt x="7419" y="1188"/>
                </a:cubicBezTo>
                <a:cubicBezTo>
                  <a:pt x="7407" y="1190"/>
                  <a:pt x="7395" y="1191"/>
                  <a:pt x="7383" y="1191"/>
                </a:cubicBezTo>
                <a:lnTo>
                  <a:pt x="186" y="1191"/>
                </a:lnTo>
                <a:cubicBezTo>
                  <a:pt x="174" y="1191"/>
                  <a:pt x="162" y="1190"/>
                  <a:pt x="150" y="1188"/>
                </a:cubicBezTo>
                <a:cubicBezTo>
                  <a:pt x="138" y="1185"/>
                  <a:pt x="127" y="1182"/>
                  <a:pt x="115" y="1177"/>
                </a:cubicBezTo>
                <a:cubicBezTo>
                  <a:pt x="104" y="1173"/>
                  <a:pt x="94" y="1167"/>
                  <a:pt x="83" y="1160"/>
                </a:cubicBezTo>
                <a:cubicBezTo>
                  <a:pt x="73" y="1153"/>
                  <a:pt x="64" y="1146"/>
                  <a:pt x="55" y="1137"/>
                </a:cubicBezTo>
                <a:cubicBezTo>
                  <a:pt x="46" y="1129"/>
                  <a:pt x="38" y="1119"/>
                  <a:pt x="31" y="1109"/>
                </a:cubicBezTo>
                <a:cubicBezTo>
                  <a:pt x="25" y="1099"/>
                  <a:pt x="19" y="1088"/>
                  <a:pt x="14" y="1077"/>
                </a:cubicBezTo>
                <a:cubicBezTo>
                  <a:pt x="10" y="1066"/>
                  <a:pt x="6" y="1054"/>
                  <a:pt x="4" y="1042"/>
                </a:cubicBezTo>
                <a:cubicBezTo>
                  <a:pt x="1" y="1030"/>
                  <a:pt x="0" y="1018"/>
                  <a:pt x="0" y="1006"/>
                </a:cubicBezTo>
                <a:close/>
              </a:path>
            </a:pathLst>
          </a:custGeom>
          <a:solidFill>
            <a:srgbClr val="FFFFFF">
              <a:alpha val="30196"/>
            </a:srgbClr>
          </a:solidFill>
          <a:ln w="19050">
            <a:solidFill>
              <a:srgbClr val="C00000"/>
            </a:solidFill>
            <a:miter/>
            <a:extLst>
              <a:ext uri="{C807C97D-BFC1-408E-A445-0C87EB9F89A2}">
                <ask:lineSketchStyleProps xmlns:ask="http://schemas.microsoft.com/office/drawing/2018/sketchyshapes" sd="3356984581">
                  <a:custGeom>
                    <a:avLst/>
                    <a:gdLst>
                      <a:gd name="csX0" fmla="*/ 0 w 2724480"/>
                      <a:gd name="csY0" fmla="*/ 362173 h 428760"/>
                      <a:gd name="csX1" fmla="*/ 0 w 2724480"/>
                      <a:gd name="csY1" fmla="*/ 66586 h 428760"/>
                      <a:gd name="csX2" fmla="*/ 1362 w 2724480"/>
                      <a:gd name="csY2" fmla="*/ 53637 h 428760"/>
                      <a:gd name="csX3" fmla="*/ 4904 w 2724480"/>
                      <a:gd name="csY3" fmla="*/ 41032 h 428760"/>
                      <a:gd name="csX4" fmla="*/ 11170 w 2724480"/>
                      <a:gd name="csY4" fmla="*/ 29498 h 428760"/>
                      <a:gd name="csX5" fmla="*/ 19888 w 2724480"/>
                      <a:gd name="csY5" fmla="*/ 19422 h 428760"/>
                      <a:gd name="csX6" fmla="*/ 29969 w 2724480"/>
                      <a:gd name="csY6" fmla="*/ 11147 h 428760"/>
                      <a:gd name="csX7" fmla="*/ 41412 w 2724480"/>
                      <a:gd name="csY7" fmla="*/ 5059 h 428760"/>
                      <a:gd name="csX8" fmla="*/ 53944 w 2724480"/>
                      <a:gd name="csY8" fmla="*/ 1071 h 428760"/>
                      <a:gd name="csX9" fmla="*/ 67022 w 2724480"/>
                      <a:gd name="csY9" fmla="*/ 0 h 428760"/>
                      <a:gd name="csX10" fmla="*/ 688857 w 2724480"/>
                      <a:gd name="csY10" fmla="*/ 0 h 428760"/>
                      <a:gd name="csX11" fmla="*/ 1284783 w 2724480"/>
                      <a:gd name="csY11" fmla="*/ 0 h 428760"/>
                      <a:gd name="csX12" fmla="*/ 1984347 w 2724480"/>
                      <a:gd name="csY12" fmla="*/ 0 h 428760"/>
                      <a:gd name="csX13" fmla="*/ 2658002 w 2724480"/>
                      <a:gd name="csY13" fmla="*/ 0 h 428760"/>
                      <a:gd name="csX14" fmla="*/ 2670807 w 2724480"/>
                      <a:gd name="csY14" fmla="*/ 1071 h 428760"/>
                      <a:gd name="csX15" fmla="*/ 2683340 w 2724480"/>
                      <a:gd name="csY15" fmla="*/ 5059 h 428760"/>
                      <a:gd name="csX16" fmla="*/ 2695055 w 2724480"/>
                      <a:gd name="csY16" fmla="*/ 11147 h 428760"/>
                      <a:gd name="csX17" fmla="*/ 2705136 w 2724480"/>
                      <a:gd name="csY17" fmla="*/ 19422 h 428760"/>
                      <a:gd name="csX18" fmla="*/ 2713309 w 2724480"/>
                      <a:gd name="csY18" fmla="*/ 29498 h 428760"/>
                      <a:gd name="csX19" fmla="*/ 2719575 w 2724480"/>
                      <a:gd name="csY19" fmla="*/ 41032 h 428760"/>
                      <a:gd name="csX20" fmla="*/ 2723390 w 2724480"/>
                      <a:gd name="csY20" fmla="*/ 53637 h 428760"/>
                      <a:gd name="csX21" fmla="*/ 2724480 w 2724480"/>
                      <a:gd name="csY21" fmla="*/ 66586 h 428760"/>
                      <a:gd name="csX22" fmla="*/ 2724480 w 2724480"/>
                      <a:gd name="csY22" fmla="*/ 362173 h 428760"/>
                      <a:gd name="csX23" fmla="*/ 2723390 w 2724480"/>
                      <a:gd name="csY23" fmla="*/ 375122 h 428760"/>
                      <a:gd name="csX24" fmla="*/ 2719575 w 2724480"/>
                      <a:gd name="csY24" fmla="*/ 387727 h 428760"/>
                      <a:gd name="csX25" fmla="*/ 2713309 w 2724480"/>
                      <a:gd name="csY25" fmla="*/ 399261 h 428760"/>
                      <a:gd name="csX26" fmla="*/ 2705136 w 2724480"/>
                      <a:gd name="csY26" fmla="*/ 409337 h 428760"/>
                      <a:gd name="csX27" fmla="*/ 2695055 w 2724480"/>
                      <a:gd name="csY27" fmla="*/ 417612 h 428760"/>
                      <a:gd name="csX28" fmla="*/ 2683340 w 2724480"/>
                      <a:gd name="csY28" fmla="*/ 423700 h 428760"/>
                      <a:gd name="csX29" fmla="*/ 2670807 w 2724480"/>
                      <a:gd name="csY29" fmla="*/ 427688 h 428760"/>
                      <a:gd name="csX30" fmla="*/ 2658002 w 2724480"/>
                      <a:gd name="csY30" fmla="*/ 428760 h 428760"/>
                      <a:gd name="csX31" fmla="*/ 2087986 w 2724480"/>
                      <a:gd name="csY31" fmla="*/ 428760 h 428760"/>
                      <a:gd name="csX32" fmla="*/ 1388422 w 2724480"/>
                      <a:gd name="csY32" fmla="*/ 428760 h 428760"/>
                      <a:gd name="csX33" fmla="*/ 766587 w 2724480"/>
                      <a:gd name="csY33" fmla="*/ 428760 h 428760"/>
                      <a:gd name="csX34" fmla="*/ 67022 w 2724480"/>
                      <a:gd name="csY34" fmla="*/ 428760 h 428760"/>
                      <a:gd name="csX35" fmla="*/ 53944 w 2724480"/>
                      <a:gd name="csY35" fmla="*/ 427688 h 428760"/>
                      <a:gd name="csX36" fmla="*/ 41412 w 2724480"/>
                      <a:gd name="csY36" fmla="*/ 423700 h 428760"/>
                      <a:gd name="csX37" fmla="*/ 29969 w 2724480"/>
                      <a:gd name="csY37" fmla="*/ 417612 h 428760"/>
                      <a:gd name="csX38" fmla="*/ 19888 w 2724480"/>
                      <a:gd name="csY38" fmla="*/ 409337 h 428760"/>
                      <a:gd name="csX39" fmla="*/ 11170 w 2724480"/>
                      <a:gd name="csY39" fmla="*/ 399261 h 428760"/>
                      <a:gd name="csX40" fmla="*/ 4904 w 2724480"/>
                      <a:gd name="csY40" fmla="*/ 387727 h 428760"/>
                      <a:gd name="csX41" fmla="*/ 1362 w 2724480"/>
                      <a:gd name="csY41" fmla="*/ 375122 h 428760"/>
                      <a:gd name="csX42" fmla="*/ 0 w 2724480"/>
                      <a:gd name="csY42" fmla="*/ 362173 h 428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724480" h="428760" extrusionOk="0">
                        <a:moveTo>
                          <a:pt x="0" y="362173"/>
                        </a:moveTo>
                        <a:cubicBezTo>
                          <a:pt x="-6921" y="299755"/>
                          <a:pt x="13124" y="134475"/>
                          <a:pt x="0" y="66586"/>
                        </a:cubicBezTo>
                        <a:cubicBezTo>
                          <a:pt x="335" y="61645"/>
                          <a:pt x="532" y="58635"/>
                          <a:pt x="1362" y="53637"/>
                        </a:cubicBezTo>
                        <a:cubicBezTo>
                          <a:pt x="3181" y="49461"/>
                          <a:pt x="3342" y="44248"/>
                          <a:pt x="4904" y="41032"/>
                        </a:cubicBezTo>
                        <a:cubicBezTo>
                          <a:pt x="7115" y="37725"/>
                          <a:pt x="9327" y="33976"/>
                          <a:pt x="11170" y="29498"/>
                        </a:cubicBezTo>
                        <a:cubicBezTo>
                          <a:pt x="14250" y="25217"/>
                          <a:pt x="16265" y="22532"/>
                          <a:pt x="19888" y="19422"/>
                        </a:cubicBezTo>
                        <a:cubicBezTo>
                          <a:pt x="23190" y="15888"/>
                          <a:pt x="26415" y="13897"/>
                          <a:pt x="29969" y="11147"/>
                        </a:cubicBezTo>
                        <a:cubicBezTo>
                          <a:pt x="34535" y="8916"/>
                          <a:pt x="36954" y="6548"/>
                          <a:pt x="41412" y="5059"/>
                        </a:cubicBezTo>
                        <a:cubicBezTo>
                          <a:pt x="45844" y="3374"/>
                          <a:pt x="49185" y="1989"/>
                          <a:pt x="53944" y="1071"/>
                        </a:cubicBezTo>
                        <a:cubicBezTo>
                          <a:pt x="58319" y="672"/>
                          <a:pt x="62990" y="-1000"/>
                          <a:pt x="67022" y="0"/>
                        </a:cubicBezTo>
                        <a:cubicBezTo>
                          <a:pt x="290554" y="29510"/>
                          <a:pt x="503466" y="8545"/>
                          <a:pt x="688857" y="0"/>
                        </a:cubicBezTo>
                        <a:cubicBezTo>
                          <a:pt x="874248" y="-8545"/>
                          <a:pt x="991535" y="-29680"/>
                          <a:pt x="1284783" y="0"/>
                        </a:cubicBezTo>
                        <a:cubicBezTo>
                          <a:pt x="1578031" y="29680"/>
                          <a:pt x="1693430" y="-10147"/>
                          <a:pt x="1984347" y="0"/>
                        </a:cubicBezTo>
                        <a:cubicBezTo>
                          <a:pt x="2275264" y="10147"/>
                          <a:pt x="2428454" y="31273"/>
                          <a:pt x="2658002" y="0"/>
                        </a:cubicBezTo>
                        <a:cubicBezTo>
                          <a:pt x="2661795" y="239"/>
                          <a:pt x="2666447" y="-49"/>
                          <a:pt x="2670807" y="1071"/>
                        </a:cubicBezTo>
                        <a:cubicBezTo>
                          <a:pt x="2674973" y="1193"/>
                          <a:pt x="2680010" y="3710"/>
                          <a:pt x="2683340" y="5059"/>
                        </a:cubicBezTo>
                        <a:cubicBezTo>
                          <a:pt x="2687436" y="6633"/>
                          <a:pt x="2692156" y="8188"/>
                          <a:pt x="2695055" y="11147"/>
                        </a:cubicBezTo>
                        <a:cubicBezTo>
                          <a:pt x="2697953" y="14256"/>
                          <a:pt x="2701850" y="15454"/>
                          <a:pt x="2705136" y="19422"/>
                        </a:cubicBezTo>
                        <a:cubicBezTo>
                          <a:pt x="2708624" y="21757"/>
                          <a:pt x="2711007" y="26380"/>
                          <a:pt x="2713309" y="29498"/>
                        </a:cubicBezTo>
                        <a:cubicBezTo>
                          <a:pt x="2714960" y="33676"/>
                          <a:pt x="2717861" y="36421"/>
                          <a:pt x="2719575" y="41032"/>
                        </a:cubicBezTo>
                        <a:cubicBezTo>
                          <a:pt x="2720595" y="44947"/>
                          <a:pt x="2722863" y="48895"/>
                          <a:pt x="2723390" y="53637"/>
                        </a:cubicBezTo>
                        <a:cubicBezTo>
                          <a:pt x="2724950" y="58649"/>
                          <a:pt x="2724455" y="61864"/>
                          <a:pt x="2724480" y="66586"/>
                        </a:cubicBezTo>
                        <a:cubicBezTo>
                          <a:pt x="2720204" y="200879"/>
                          <a:pt x="2718596" y="218199"/>
                          <a:pt x="2724480" y="362173"/>
                        </a:cubicBezTo>
                        <a:cubicBezTo>
                          <a:pt x="2724439" y="366607"/>
                          <a:pt x="2725231" y="370900"/>
                          <a:pt x="2723390" y="375122"/>
                        </a:cubicBezTo>
                        <a:cubicBezTo>
                          <a:pt x="2721905" y="380132"/>
                          <a:pt x="2721231" y="384045"/>
                          <a:pt x="2719575" y="387727"/>
                        </a:cubicBezTo>
                        <a:cubicBezTo>
                          <a:pt x="2717727" y="391410"/>
                          <a:pt x="2715451" y="395584"/>
                          <a:pt x="2713309" y="399261"/>
                        </a:cubicBezTo>
                        <a:cubicBezTo>
                          <a:pt x="2711492" y="403139"/>
                          <a:pt x="2707634" y="406836"/>
                          <a:pt x="2705136" y="409337"/>
                        </a:cubicBezTo>
                        <a:cubicBezTo>
                          <a:pt x="2702374" y="412632"/>
                          <a:pt x="2698372" y="414116"/>
                          <a:pt x="2695055" y="417612"/>
                        </a:cubicBezTo>
                        <a:cubicBezTo>
                          <a:pt x="2690886" y="420615"/>
                          <a:pt x="2686971" y="423169"/>
                          <a:pt x="2683340" y="423700"/>
                        </a:cubicBezTo>
                        <a:cubicBezTo>
                          <a:pt x="2680044" y="425173"/>
                          <a:pt x="2675390" y="426568"/>
                          <a:pt x="2670807" y="427688"/>
                        </a:cubicBezTo>
                        <a:cubicBezTo>
                          <a:pt x="2665603" y="427969"/>
                          <a:pt x="2661796" y="428108"/>
                          <a:pt x="2658002" y="428760"/>
                        </a:cubicBezTo>
                        <a:cubicBezTo>
                          <a:pt x="2465615" y="401551"/>
                          <a:pt x="2355295" y="451241"/>
                          <a:pt x="2087986" y="428760"/>
                        </a:cubicBezTo>
                        <a:cubicBezTo>
                          <a:pt x="1820677" y="406279"/>
                          <a:pt x="1529660" y="450402"/>
                          <a:pt x="1388422" y="428760"/>
                        </a:cubicBezTo>
                        <a:cubicBezTo>
                          <a:pt x="1247184" y="407118"/>
                          <a:pt x="923477" y="455597"/>
                          <a:pt x="766587" y="428760"/>
                        </a:cubicBezTo>
                        <a:cubicBezTo>
                          <a:pt x="609697" y="401923"/>
                          <a:pt x="410877" y="420110"/>
                          <a:pt x="67022" y="428760"/>
                        </a:cubicBezTo>
                        <a:cubicBezTo>
                          <a:pt x="62355" y="428420"/>
                          <a:pt x="59005" y="427965"/>
                          <a:pt x="53944" y="427688"/>
                        </a:cubicBezTo>
                        <a:cubicBezTo>
                          <a:pt x="49782" y="425696"/>
                          <a:pt x="46050" y="425610"/>
                          <a:pt x="41412" y="423700"/>
                        </a:cubicBezTo>
                        <a:cubicBezTo>
                          <a:pt x="37519" y="422138"/>
                          <a:pt x="33575" y="420736"/>
                          <a:pt x="29969" y="417612"/>
                        </a:cubicBezTo>
                        <a:cubicBezTo>
                          <a:pt x="26740" y="414910"/>
                          <a:pt x="22882" y="412528"/>
                          <a:pt x="19888" y="409337"/>
                        </a:cubicBezTo>
                        <a:cubicBezTo>
                          <a:pt x="16712" y="406345"/>
                          <a:pt x="14172" y="402127"/>
                          <a:pt x="11170" y="399261"/>
                        </a:cubicBezTo>
                        <a:cubicBezTo>
                          <a:pt x="9344" y="395354"/>
                          <a:pt x="7383" y="391473"/>
                          <a:pt x="4904" y="387727"/>
                        </a:cubicBezTo>
                        <a:cubicBezTo>
                          <a:pt x="4167" y="384230"/>
                          <a:pt x="2793" y="379969"/>
                          <a:pt x="1362" y="375122"/>
                        </a:cubicBezTo>
                        <a:cubicBezTo>
                          <a:pt x="-404" y="370226"/>
                          <a:pt x="-156" y="366382"/>
                          <a:pt x="0" y="362173"/>
                        </a:cubicBezTo>
                        <a:close/>
                      </a:path>
                    </a:pathLst>
                  </a:custGeom>
                  <ask:type>
                    <ask:lineSketchNone/>
                  </ask:type>
                </ask:lineSketchStyleProps>
              </a:ext>
            </a:extLst>
          </a:ln>
          <a:effectLst/>
        </p:spPr>
        <p:txBody>
          <a:bodyPr lIns="9360" tIns="9360" rIns="9360" bIns="9360" anchor="t">
            <a:noAutofit/>
          </a:bodyPr>
          <a:lstStyle/>
          <a:p>
            <a:endParaRPr lang="en-US" sz="2400" b="0" u="none" strike="noStrike">
              <a:solidFill>
                <a:srgbClr val="C00000"/>
              </a:solidFill>
              <a:effectLst/>
              <a:uFillTx/>
              <a:latin typeface="Times New Roman"/>
            </a:endParaRPr>
          </a:p>
        </p:txBody>
      </p:sp>
      <p:sp>
        <p:nvSpPr>
          <p:cNvPr id="12" name="TextBox 11">
            <a:extLst>
              <a:ext uri="{FF2B5EF4-FFF2-40B4-BE49-F238E27FC236}">
                <a16:creationId xmlns:a16="http://schemas.microsoft.com/office/drawing/2014/main" id="{D31ECCBE-CD40-3800-28C2-3BE48E42DF11}"/>
              </a:ext>
            </a:extLst>
          </p:cNvPr>
          <p:cNvSpPr txBox="1"/>
          <p:nvPr/>
        </p:nvSpPr>
        <p:spPr>
          <a:xfrm rot="20890217">
            <a:off x="3836827" y="2915791"/>
            <a:ext cx="3320418" cy="492443"/>
          </a:xfrm>
          <a:prstGeom prst="rect">
            <a:avLst/>
          </a:prstGeom>
          <a:solidFill>
            <a:srgbClr val="FFFFFF">
              <a:alpha val="30196"/>
            </a:srgbClr>
          </a:solidFill>
          <a:ln w="0">
            <a:noFill/>
          </a:ln>
        </p:spPr>
        <p:txBody>
          <a:bodyPr wrap="square" lIns="0" tIns="0" rIns="0" bIns="0" anchor="t">
            <a:spAutoFit/>
          </a:bodyPr>
          <a:lstStyle/>
          <a:p>
            <a:pPr algn="ctr"/>
            <a:r>
              <a:rPr lang="en-US" sz="3200" dirty="0">
                <a:solidFill>
                  <a:srgbClr val="C00000"/>
                </a:solidFill>
                <a:latin typeface="SourceCodePro"/>
                <a:ea typeface="SourceCodePro"/>
              </a:rPr>
              <a:t>Convicted of UB</a:t>
            </a:r>
            <a:endParaRPr lang="en-US" sz="3200" b="0" u="none" strike="noStrike" dirty="0">
              <a:solidFill>
                <a:srgbClr val="C00000"/>
              </a:solidFill>
              <a:effectLst/>
              <a:uFillTx/>
              <a:latin typeface="SourceCodePro"/>
              <a:ea typeface="SourceCodePro"/>
            </a:endParaRPr>
          </a:p>
        </p:txBody>
      </p:sp>
      <p:sp>
        <p:nvSpPr>
          <p:cNvPr id="15" name="Content Placeholder 2">
            <a:extLst>
              <a:ext uri="{FF2B5EF4-FFF2-40B4-BE49-F238E27FC236}">
                <a16:creationId xmlns:a16="http://schemas.microsoft.com/office/drawing/2014/main" id="{0063A3A2-5B7B-0272-6A29-61E2CE432CE0}"/>
              </a:ext>
            </a:extLst>
          </p:cNvPr>
          <p:cNvSpPr txBox="1">
            <a:spLocks/>
          </p:cNvSpPr>
          <p:nvPr/>
        </p:nvSpPr>
        <p:spPr>
          <a:xfrm>
            <a:off x="7172462" y="196166"/>
            <a:ext cx="5478420" cy="149452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chemeClr val="tx2">
                    <a:lumMod val="90000"/>
                    <a:lumOff val="10000"/>
                  </a:schemeClr>
                </a:solidFill>
                <a:latin typeface="SourceCodePro"/>
                <a:ea typeface="SourceCodePro"/>
              </a:rPr>
              <a:t>Head*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 =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-&gt;next;</a:t>
            </a:r>
          </a:p>
          <a:p>
            <a:pPr marL="0" indent="0">
              <a:buNone/>
            </a:pPr>
            <a:r>
              <a:rPr lang="en-US" sz="2000" dirty="0">
                <a:solidFill>
                  <a:schemeClr val="tx2">
                    <a:lumMod val="90000"/>
                    <a:lumOff val="10000"/>
                  </a:schemeClr>
                </a:solidFill>
                <a:latin typeface="SourceCodePro"/>
                <a:ea typeface="SourceCodePro"/>
              </a:rPr>
              <a:t>if (</a:t>
            </a:r>
            <a:r>
              <a:rPr lang="en-US" sz="2000" dirty="0" err="1">
                <a:solidFill>
                  <a:schemeClr val="tx2">
                    <a:lumMod val="90000"/>
                    <a:lumOff val="10000"/>
                  </a:schemeClr>
                </a:solidFill>
                <a:latin typeface="SourceCodePro"/>
                <a:ea typeface="SourceCodePro"/>
              </a:rPr>
              <a:t>head_to_cut.CAS</a:t>
            </a:r>
            <a:r>
              <a:rPr lang="en-US" sz="2000" dirty="0">
                <a:solidFill>
                  <a:schemeClr val="tx2">
                    <a:lumMod val="90000"/>
                    <a:lumOff val="10000"/>
                  </a:schemeClr>
                </a:solidFill>
                <a:latin typeface="SourceCodePro"/>
                <a:ea typeface="SourceCodePro"/>
              </a:rPr>
              <a:t>(</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 </a:t>
            </a:r>
            <a:r>
              <a:rPr lang="en-US" sz="2000" dirty="0" err="1">
                <a:solidFill>
                  <a:schemeClr val="tx2">
                    <a:lumMod val="90000"/>
                    <a:lumOff val="10000"/>
                  </a:schemeClr>
                </a:solidFill>
                <a:latin typeface="SourceCodePro"/>
                <a:ea typeface="SourceCodePro"/>
              </a:rPr>
              <a:t>next_head</a:t>
            </a:r>
            <a:r>
              <a:rPr lang="en-US" sz="2000" dirty="0">
                <a:solidFill>
                  <a:schemeClr val="tx2">
                    <a:lumMod val="90000"/>
                    <a:lumOff val="10000"/>
                  </a:schemeClr>
                </a:solidFill>
                <a:latin typeface="SourceCodePro"/>
                <a:ea typeface="SourceCodePro"/>
              </a:rPr>
              <a:t>))</a:t>
            </a:r>
          </a:p>
          <a:p>
            <a:pPr marL="0" indent="0">
              <a:buNone/>
            </a:pPr>
            <a:r>
              <a:rPr lang="en-US" sz="2000" dirty="0">
                <a:solidFill>
                  <a:schemeClr val="tx2">
                    <a:lumMod val="90000"/>
                    <a:lumOff val="10000"/>
                  </a:schemeClr>
                </a:solidFill>
                <a:latin typeface="SourceCodePro"/>
                <a:ea typeface="SourceCodePro"/>
              </a:rPr>
              <a:t>	return </a:t>
            </a:r>
            <a:r>
              <a:rPr lang="en-US" sz="2000" dirty="0" err="1">
                <a:solidFill>
                  <a:schemeClr val="tx2">
                    <a:lumMod val="90000"/>
                    <a:lumOff val="10000"/>
                  </a:schemeClr>
                </a:solidFill>
                <a:latin typeface="SourceCodePro"/>
                <a:ea typeface="SourceCodePro"/>
              </a:rPr>
              <a:t>loaded_head</a:t>
            </a:r>
            <a:r>
              <a:rPr lang="en-US" sz="2000" dirty="0">
                <a:solidFill>
                  <a:schemeClr val="tx2">
                    <a:lumMod val="90000"/>
                    <a:lumOff val="10000"/>
                  </a:schemeClr>
                </a:solidFill>
                <a:latin typeface="SourceCodePro"/>
                <a:ea typeface="SourceCodePro"/>
              </a:rPr>
              <a:t>;</a:t>
            </a:r>
          </a:p>
        </p:txBody>
      </p:sp>
      <p:sp>
        <p:nvSpPr>
          <p:cNvPr id="3" name="Slide Number Placeholder 2">
            <a:extLst>
              <a:ext uri="{FF2B5EF4-FFF2-40B4-BE49-F238E27FC236}">
                <a16:creationId xmlns:a16="http://schemas.microsoft.com/office/drawing/2014/main" id="{A2C8C73A-AA27-CB7C-554A-97672257174D}"/>
              </a:ext>
            </a:extLst>
          </p:cNvPr>
          <p:cNvSpPr>
            <a:spLocks noGrp="1"/>
          </p:cNvSpPr>
          <p:nvPr>
            <p:ph type="sldNum" sz="quarter" idx="12"/>
          </p:nvPr>
        </p:nvSpPr>
        <p:spPr/>
        <p:txBody>
          <a:bodyPr/>
          <a:lstStyle/>
          <a:p>
            <a:fld id="{A8D619E7-4118-4CE2-9D02-1AAE6DCE22A2}" type="slidenum">
              <a:rPr lang="en-US" smtClean="0"/>
              <a:t>59</a:t>
            </a:fld>
            <a:endParaRPr lang="en-US"/>
          </a:p>
        </p:txBody>
      </p:sp>
    </p:spTree>
    <p:extLst>
      <p:ext uri="{BB962C8B-B14F-4D97-AF65-F5344CB8AC3E}">
        <p14:creationId xmlns:p14="http://schemas.microsoft.com/office/powerpoint/2010/main" val="3293303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7"/>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2" grpId="0" animBg="1"/>
      <p:bldP spid="15"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22E1B-3DA1-BB78-6504-56665CCEA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780FA-0F9A-5755-5FD0-2C1A082E8905}"/>
              </a:ext>
            </a:extLst>
          </p:cNvPr>
          <p:cNvPicPr>
            <a:picLocks noChangeAspect="1"/>
          </p:cNvPicPr>
          <p:nvPr/>
        </p:nvPicPr>
        <p:blipFill>
          <a:blip r:embed="rId3"/>
          <a:stretch>
            <a:fillRect/>
          </a:stretch>
        </p:blipFill>
        <p:spPr>
          <a:xfrm>
            <a:off x="293909" y="185420"/>
            <a:ext cx="5205191" cy="6321287"/>
          </a:xfrm>
          <a:prstGeom prst="rect">
            <a:avLst/>
          </a:prstGeom>
        </p:spPr>
      </p:pic>
      <p:sp>
        <p:nvSpPr>
          <p:cNvPr id="22" name="Content Placeholder 2">
            <a:extLst>
              <a:ext uri="{FF2B5EF4-FFF2-40B4-BE49-F238E27FC236}">
                <a16:creationId xmlns:a16="http://schemas.microsoft.com/office/drawing/2014/main" id="{97C42D6E-85A6-4975-C8BD-2C80D2FD5C65}"/>
              </a:ext>
            </a:extLst>
          </p:cNvPr>
          <p:cNvSpPr txBox="1">
            <a:spLocks/>
          </p:cNvSpPr>
          <p:nvPr/>
        </p:nvSpPr>
        <p:spPr>
          <a:xfrm>
            <a:off x="5860631" y="465593"/>
            <a:ext cx="5141530" cy="5477933"/>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Default choice should be mutex or proven concurrent container</a:t>
            </a:r>
          </a:p>
          <a:p>
            <a:pPr marL="0" indent="0">
              <a:buNone/>
            </a:pPr>
            <a:endParaRPr lang="en-US" dirty="0"/>
          </a:p>
          <a:p>
            <a:pPr marL="0" indent="0">
              <a:buNone/>
            </a:pPr>
            <a:r>
              <a:rPr lang="en-US" dirty="0"/>
              <a:t>For lock-free trail there is a bunch existing proven algorithm to explore</a:t>
            </a:r>
          </a:p>
          <a:p>
            <a:pPr marL="0" indent="0">
              <a:buNone/>
            </a:pPr>
            <a:endParaRPr lang="en-US" dirty="0"/>
          </a:p>
          <a:p>
            <a:pPr marL="0" indent="0">
              <a:buNone/>
            </a:pPr>
            <a:r>
              <a:rPr lang="en-US" dirty="0"/>
              <a:t>You may find your way by exploring those:</a:t>
            </a:r>
          </a:p>
          <a:p>
            <a:r>
              <a:rPr lang="en-US" dirty="0"/>
              <a:t>tagged/versioned heads</a:t>
            </a:r>
          </a:p>
          <a:p>
            <a:r>
              <a:rPr lang="en-US" dirty="0"/>
              <a:t>hazard pointers</a:t>
            </a:r>
          </a:p>
          <a:p>
            <a:r>
              <a:rPr lang="en-US" dirty="0"/>
              <a:t>epochs/RCU</a:t>
            </a:r>
          </a:p>
        </p:txBody>
      </p:sp>
      <p:sp>
        <p:nvSpPr>
          <p:cNvPr id="8" name="TextBox 7">
            <a:extLst>
              <a:ext uri="{FF2B5EF4-FFF2-40B4-BE49-F238E27FC236}">
                <a16:creationId xmlns:a16="http://schemas.microsoft.com/office/drawing/2014/main" id="{B795D2C8-0924-F2C8-F4E9-C7F2BAB8E5CC}"/>
              </a:ext>
            </a:extLst>
          </p:cNvPr>
          <p:cNvSpPr txBox="1"/>
          <p:nvPr/>
        </p:nvSpPr>
        <p:spPr>
          <a:xfrm>
            <a:off x="1706033" y="411171"/>
            <a:ext cx="3602567" cy="461665"/>
          </a:xfrm>
          <a:prstGeom prst="rect">
            <a:avLst/>
          </a:prstGeom>
          <a:noFill/>
        </p:spPr>
        <p:txBody>
          <a:bodyPr wrap="square">
            <a:spAutoFit/>
          </a:bodyPr>
          <a:lstStyle/>
          <a:p>
            <a:r>
              <a:rPr lang="en-US" sz="2200" b="1" dirty="0"/>
              <a:t>The ABA </a:t>
            </a:r>
            <a:r>
              <a:rPr lang="en-US" sz="2400" b="1" dirty="0">
                <a:solidFill>
                  <a:srgbClr val="1A1A1A"/>
                </a:solidFill>
                <a:latin typeface="Fraunces-72pt-SemiBold-NonWonky"/>
                <a:ea typeface="Fraunces-72pt-SemiBold-NonWonky"/>
              </a:rPr>
              <a:t>Dragon</a:t>
            </a:r>
            <a:endParaRPr lang="en-US" b="1" dirty="0"/>
          </a:p>
        </p:txBody>
      </p:sp>
      <p:sp>
        <p:nvSpPr>
          <p:cNvPr id="7" name="TextBox 6">
            <a:extLst>
              <a:ext uri="{FF2B5EF4-FFF2-40B4-BE49-F238E27FC236}">
                <a16:creationId xmlns:a16="http://schemas.microsoft.com/office/drawing/2014/main" id="{6E2B5DEA-3DC7-E34A-C530-12C4299BC502}"/>
              </a:ext>
            </a:extLst>
          </p:cNvPr>
          <p:cNvSpPr txBox="1"/>
          <p:nvPr/>
        </p:nvSpPr>
        <p:spPr>
          <a:xfrm>
            <a:off x="1229352" y="3541034"/>
            <a:ext cx="4461932" cy="707886"/>
          </a:xfrm>
          <a:prstGeom prst="rect">
            <a:avLst/>
          </a:prstGeom>
          <a:noFill/>
        </p:spPr>
        <p:txBody>
          <a:bodyPr wrap="square">
            <a:spAutoFit/>
          </a:bodyPr>
          <a:lstStyle/>
          <a:p>
            <a:r>
              <a:rPr lang="en-US" sz="2000" dirty="0"/>
              <a:t>CAS algorithms that treat the same value as unchanged</a:t>
            </a:r>
          </a:p>
        </p:txBody>
      </p:sp>
      <p:sp>
        <p:nvSpPr>
          <p:cNvPr id="11" name="TextBox 10">
            <a:extLst>
              <a:ext uri="{FF2B5EF4-FFF2-40B4-BE49-F238E27FC236}">
                <a16:creationId xmlns:a16="http://schemas.microsoft.com/office/drawing/2014/main" id="{B544B99C-BE6D-9E65-42F6-63DB23EA8F8E}"/>
              </a:ext>
            </a:extLst>
          </p:cNvPr>
          <p:cNvSpPr txBox="1"/>
          <p:nvPr/>
        </p:nvSpPr>
        <p:spPr>
          <a:xfrm>
            <a:off x="1229352" y="4265854"/>
            <a:ext cx="4079248" cy="707886"/>
          </a:xfrm>
          <a:prstGeom prst="rect">
            <a:avLst/>
          </a:prstGeom>
          <a:noFill/>
        </p:spPr>
        <p:txBody>
          <a:bodyPr wrap="square">
            <a:spAutoFit/>
          </a:bodyPr>
          <a:lstStyle/>
          <a:p>
            <a:r>
              <a:rPr lang="en-US" sz="2000" dirty="0"/>
              <a:t>a stale CAS succeeds after a pointer leaves and returns</a:t>
            </a:r>
          </a:p>
        </p:txBody>
      </p:sp>
      <p:sp>
        <p:nvSpPr>
          <p:cNvPr id="14" name="TextBox 13">
            <a:extLst>
              <a:ext uri="{FF2B5EF4-FFF2-40B4-BE49-F238E27FC236}">
                <a16:creationId xmlns:a16="http://schemas.microsoft.com/office/drawing/2014/main" id="{365EF65E-AF74-B6DE-15F6-0C4E0C4FDBE1}"/>
              </a:ext>
            </a:extLst>
          </p:cNvPr>
          <p:cNvSpPr txBox="1"/>
          <p:nvPr/>
        </p:nvSpPr>
        <p:spPr>
          <a:xfrm>
            <a:off x="1229352" y="5690439"/>
            <a:ext cx="3736348" cy="707886"/>
          </a:xfrm>
          <a:prstGeom prst="rect">
            <a:avLst/>
          </a:prstGeom>
          <a:noFill/>
        </p:spPr>
        <p:txBody>
          <a:bodyPr wrap="square">
            <a:spAutoFit/>
          </a:bodyPr>
          <a:lstStyle/>
          <a:p>
            <a:r>
              <a:rPr lang="en-US" sz="2000" dirty="0"/>
              <a:t>track identity and reclaim nodes safely or use a mutex</a:t>
            </a:r>
          </a:p>
        </p:txBody>
      </p:sp>
      <p:sp>
        <p:nvSpPr>
          <p:cNvPr id="17" name="TextBox 16">
            <a:extLst>
              <a:ext uri="{FF2B5EF4-FFF2-40B4-BE49-F238E27FC236}">
                <a16:creationId xmlns:a16="http://schemas.microsoft.com/office/drawing/2014/main" id="{C8E080DF-AC69-3CAD-7AB1-A9B021212AFC}"/>
              </a:ext>
            </a:extLst>
          </p:cNvPr>
          <p:cNvSpPr txBox="1"/>
          <p:nvPr/>
        </p:nvSpPr>
        <p:spPr>
          <a:xfrm>
            <a:off x="1229352" y="4965273"/>
            <a:ext cx="4428074" cy="400110"/>
          </a:xfrm>
          <a:prstGeom prst="rect">
            <a:avLst/>
          </a:prstGeom>
          <a:noFill/>
        </p:spPr>
        <p:txBody>
          <a:bodyPr wrap="square">
            <a:spAutoFit/>
          </a:bodyPr>
          <a:lstStyle/>
          <a:p>
            <a:r>
              <a:rPr lang="en-US" sz="2000" dirty="0"/>
              <a:t>every atomic comparison is truthful</a:t>
            </a:r>
          </a:p>
        </p:txBody>
      </p:sp>
      <p:pic>
        <p:nvPicPr>
          <p:cNvPr id="20" name="Graphic 19">
            <a:extLst>
              <a:ext uri="{FF2B5EF4-FFF2-40B4-BE49-F238E27FC236}">
                <a16:creationId xmlns:a16="http://schemas.microsoft.com/office/drawing/2014/main" id="{D7B099AA-D54E-9497-6411-103661CA3A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29352" y="1127524"/>
            <a:ext cx="3525528" cy="2099027"/>
          </a:xfrm>
          <a:prstGeom prst="rect">
            <a:avLst/>
          </a:prstGeom>
        </p:spPr>
      </p:pic>
      <p:sp>
        <p:nvSpPr>
          <p:cNvPr id="2" name="Slide Number Placeholder 1">
            <a:extLst>
              <a:ext uri="{FF2B5EF4-FFF2-40B4-BE49-F238E27FC236}">
                <a16:creationId xmlns:a16="http://schemas.microsoft.com/office/drawing/2014/main" id="{A8FFEA11-411B-2A72-0D4C-343ADE72A7E6}"/>
              </a:ext>
            </a:extLst>
          </p:cNvPr>
          <p:cNvSpPr>
            <a:spLocks noGrp="1"/>
          </p:cNvSpPr>
          <p:nvPr>
            <p:ph type="sldNum" sz="quarter" idx="12"/>
          </p:nvPr>
        </p:nvSpPr>
        <p:spPr/>
        <p:txBody>
          <a:bodyPr/>
          <a:lstStyle/>
          <a:p>
            <a:fld id="{A8D619E7-4118-4CE2-9D02-1AAE6DCE22A2}" type="slidenum">
              <a:rPr lang="en-US" smtClean="0"/>
              <a:t>60</a:t>
            </a:fld>
            <a:endParaRPr lang="en-US"/>
          </a:p>
        </p:txBody>
      </p:sp>
    </p:spTree>
    <p:extLst>
      <p:ext uri="{BB962C8B-B14F-4D97-AF65-F5344CB8AC3E}">
        <p14:creationId xmlns:p14="http://schemas.microsoft.com/office/powerpoint/2010/main" val="1089411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xEl>
                                              <p:pRg st="6" end="6"/>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4" grpId="0"/>
      <p:bldP spid="1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99DDA-9432-0D27-51C5-56A7C5EF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14F8-59B4-14B4-F0E2-B5A65F4557D9}"/>
              </a:ext>
            </a:extLst>
          </p:cNvPr>
          <p:cNvSpPr>
            <a:spLocks noGrp="1"/>
          </p:cNvSpPr>
          <p:nvPr>
            <p:ph type="title"/>
          </p:nvPr>
        </p:nvSpPr>
        <p:spPr>
          <a:xfrm>
            <a:off x="838200" y="365125"/>
            <a:ext cx="10998200" cy="1325563"/>
          </a:xfrm>
        </p:spPr>
        <p:txBody>
          <a:bodyPr/>
          <a:lstStyle/>
          <a:p>
            <a:r>
              <a:rPr lang="en-US" b="1" dirty="0">
                <a:latin typeface="Fraunces-72pt-SemiBold-NonWonky"/>
              </a:rPr>
              <a:t>Zookeeper rule #5</a:t>
            </a:r>
          </a:p>
        </p:txBody>
      </p:sp>
      <p:sp>
        <p:nvSpPr>
          <p:cNvPr id="4" name="TextBox 3">
            <a:extLst>
              <a:ext uri="{FF2B5EF4-FFF2-40B4-BE49-F238E27FC236}">
                <a16:creationId xmlns:a16="http://schemas.microsoft.com/office/drawing/2014/main" id="{3C44F2AD-6CEB-E1A7-384D-52883700DA5F}"/>
              </a:ext>
            </a:extLst>
          </p:cNvPr>
          <p:cNvSpPr txBox="1"/>
          <p:nvPr/>
        </p:nvSpPr>
        <p:spPr>
          <a:xfrm>
            <a:off x="838199" y="2922897"/>
            <a:ext cx="10913533" cy="156703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Prefer proven components over clever local inventions</a:t>
            </a:r>
          </a:p>
          <a:p>
            <a:pPr marL="285750" indent="-285750">
              <a:lnSpc>
                <a:spcPct val="150000"/>
              </a:lnSpc>
              <a:buFont typeface="Arial" panose="020B0604020202020204" pitchFamily="34" charset="0"/>
              <a:buChar char="•"/>
            </a:pPr>
            <a:r>
              <a:rPr lang="en-US" sz="2200" dirty="0"/>
              <a:t>Demand a measured reason for concurrency</a:t>
            </a:r>
          </a:p>
          <a:p>
            <a:pPr marL="285750" indent="-285750">
              <a:lnSpc>
                <a:spcPct val="150000"/>
              </a:lnSpc>
              <a:buFont typeface="Arial" panose="020B0604020202020204" pitchFamily="34" charset="0"/>
              <a:buChar char="•"/>
            </a:pPr>
            <a:r>
              <a:rPr lang="en-US" sz="2200" dirty="0"/>
              <a:t>If you cannot explain the guarantees, step back</a:t>
            </a:r>
          </a:p>
        </p:txBody>
      </p:sp>
      <p:sp>
        <p:nvSpPr>
          <p:cNvPr id="5" name="TextBox 4">
            <a:extLst>
              <a:ext uri="{FF2B5EF4-FFF2-40B4-BE49-F238E27FC236}">
                <a16:creationId xmlns:a16="http://schemas.microsoft.com/office/drawing/2014/main" id="{1AEF865C-ED5C-5F53-E00F-D25AC8F02738}"/>
              </a:ext>
            </a:extLst>
          </p:cNvPr>
          <p:cNvSpPr txBox="1"/>
          <p:nvPr/>
        </p:nvSpPr>
        <p:spPr>
          <a:xfrm>
            <a:off x="838200" y="1614196"/>
            <a:ext cx="8017933" cy="769441"/>
          </a:xfrm>
          <a:prstGeom prst="rect">
            <a:avLst/>
          </a:prstGeom>
          <a:noFill/>
        </p:spPr>
        <p:txBody>
          <a:bodyPr wrap="square" rtlCol="0">
            <a:spAutoFit/>
          </a:bodyPr>
          <a:lstStyle/>
          <a:p>
            <a:r>
              <a:rPr lang="en-US" sz="2200" i="1" dirty="0">
                <a:latin typeface="SourceSans3ExtraLight"/>
              </a:rPr>
              <a:t>The Dragon was only a glimpse beyond the marked paths.  </a:t>
            </a:r>
          </a:p>
          <a:p>
            <a:r>
              <a:rPr lang="en-US" sz="2200" i="1" dirty="0">
                <a:latin typeface="SourceSans3ExtraLight"/>
              </a:rPr>
              <a:t>Advanced concurrency has more traps than one talk can cage.</a:t>
            </a:r>
          </a:p>
        </p:txBody>
      </p:sp>
      <p:sp>
        <p:nvSpPr>
          <p:cNvPr id="3" name="Slide Number Placeholder 2">
            <a:extLst>
              <a:ext uri="{FF2B5EF4-FFF2-40B4-BE49-F238E27FC236}">
                <a16:creationId xmlns:a16="http://schemas.microsoft.com/office/drawing/2014/main" id="{46FD6FF2-3539-195E-BA08-5848175CC207}"/>
              </a:ext>
            </a:extLst>
          </p:cNvPr>
          <p:cNvSpPr>
            <a:spLocks noGrp="1"/>
          </p:cNvSpPr>
          <p:nvPr>
            <p:ph type="sldNum" sz="quarter" idx="12"/>
          </p:nvPr>
        </p:nvSpPr>
        <p:spPr/>
        <p:txBody>
          <a:bodyPr/>
          <a:lstStyle/>
          <a:p>
            <a:fld id="{A8D619E7-4118-4CE2-9D02-1AAE6DCE22A2}" type="slidenum">
              <a:rPr lang="en-US" smtClean="0"/>
              <a:t>61</a:t>
            </a:fld>
            <a:endParaRPr lang="en-US"/>
          </a:p>
        </p:txBody>
      </p:sp>
    </p:spTree>
    <p:extLst>
      <p:ext uri="{BB962C8B-B14F-4D97-AF65-F5344CB8AC3E}">
        <p14:creationId xmlns:p14="http://schemas.microsoft.com/office/powerpoint/2010/main" val="2172337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5F3E8-A918-71B5-5972-99589E76E7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AD77A-F986-7AEA-619D-652887F46DFE}"/>
              </a:ext>
            </a:extLst>
          </p:cNvPr>
          <p:cNvSpPr>
            <a:spLocks noGrp="1"/>
          </p:cNvSpPr>
          <p:nvPr>
            <p:ph type="title"/>
          </p:nvPr>
        </p:nvSpPr>
        <p:spPr/>
        <p:txBody>
          <a:bodyPr/>
          <a:lstStyle/>
          <a:p>
            <a:r>
              <a:rPr lang="en-US" b="1" dirty="0">
                <a:latin typeface="Fraunces-72pt-SemiBold-NonWonky"/>
              </a:rPr>
              <a:t>What happened?</a:t>
            </a:r>
          </a:p>
        </p:txBody>
      </p:sp>
      <p:sp>
        <p:nvSpPr>
          <p:cNvPr id="4" name="TextBox 3">
            <a:extLst>
              <a:ext uri="{FF2B5EF4-FFF2-40B4-BE49-F238E27FC236}">
                <a16:creationId xmlns:a16="http://schemas.microsoft.com/office/drawing/2014/main" id="{EBB6AF52-3617-B2B5-9615-22BFB6E8773B}"/>
              </a:ext>
            </a:extLst>
          </p:cNvPr>
          <p:cNvSpPr txBox="1"/>
          <p:nvPr/>
        </p:nvSpPr>
        <p:spPr>
          <a:xfrm>
            <a:off x="838199" y="1690688"/>
            <a:ext cx="11260667" cy="4614020"/>
          </a:xfrm>
          <a:prstGeom prst="rect">
            <a:avLst/>
          </a:prstGeom>
          <a:noFill/>
        </p:spPr>
        <p:txBody>
          <a:bodyPr wrap="square" rtlCol="0">
            <a:spAutoFit/>
          </a:bodyPr>
          <a:lstStyle/>
          <a:p>
            <a:pPr>
              <a:lnSpc>
                <a:spcPct val="150000"/>
              </a:lnSpc>
            </a:pPr>
            <a:r>
              <a:rPr lang="en-US" sz="2200" b="1" dirty="0"/>
              <a:t>Wrong count</a:t>
            </a:r>
            <a:r>
              <a:rPr lang="en-US" sz="2200" dirty="0"/>
              <a:t> 		shared read-modify-write</a:t>
            </a:r>
          </a:p>
          <a:p>
            <a:pPr>
              <a:lnSpc>
                <a:spcPct val="150000"/>
              </a:lnSpc>
            </a:pPr>
            <a:r>
              <a:rPr lang="en-US" sz="2200" b="1" dirty="0"/>
              <a:t>Crash</a:t>
            </a:r>
            <a:r>
              <a:rPr lang="en-US" sz="2200" dirty="0"/>
              <a:t> 			a thread outlived what it touched</a:t>
            </a:r>
          </a:p>
          <a:p>
            <a:pPr>
              <a:lnSpc>
                <a:spcPct val="150000"/>
              </a:lnSpc>
            </a:pPr>
            <a:r>
              <a:rPr lang="en-US" sz="2200" b="1" dirty="0"/>
              <a:t>Silence		</a:t>
            </a:r>
            <a:r>
              <a:rPr lang="en-US" sz="2200" dirty="0"/>
              <a:t>waiting for the wrong event or circular locking</a:t>
            </a:r>
          </a:p>
          <a:p>
            <a:pPr>
              <a:lnSpc>
                <a:spcPct val="150000"/>
              </a:lnSpc>
            </a:pPr>
            <a:r>
              <a:rPr lang="en-US" sz="2200" b="1" dirty="0"/>
              <a:t>Slow but correct</a:t>
            </a:r>
            <a:r>
              <a:rPr lang="en-US" sz="2200" dirty="0"/>
              <a:t> 	serialization or cache coherence ate the speedup</a:t>
            </a:r>
          </a:p>
          <a:p>
            <a:pPr>
              <a:lnSpc>
                <a:spcPct val="150000"/>
              </a:lnSpc>
            </a:pPr>
            <a:r>
              <a:rPr lang="en-US" sz="2200" b="1" dirty="0"/>
              <a:t>Déjà vu</a:t>
            </a:r>
            <a:r>
              <a:rPr lang="en-US" sz="2200" dirty="0"/>
              <a:t> 		the same pointer value hid a changed generation</a:t>
            </a:r>
          </a:p>
          <a:p>
            <a:pPr>
              <a:lnSpc>
                <a:spcPct val="150000"/>
              </a:lnSpc>
            </a:pPr>
            <a:endParaRPr lang="en-US" sz="2200" dirty="0"/>
          </a:p>
          <a:p>
            <a:pPr algn="ctr">
              <a:lnSpc>
                <a:spcPct val="150000"/>
              </a:lnSpc>
            </a:pPr>
            <a:r>
              <a:rPr lang="en-US" sz="2200" dirty="0"/>
              <a:t>The code often looked reasonable.</a:t>
            </a:r>
          </a:p>
          <a:p>
            <a:pPr algn="ctr">
              <a:lnSpc>
                <a:spcPct val="150000"/>
              </a:lnSpc>
            </a:pPr>
            <a:endParaRPr lang="en-US" sz="2200" dirty="0"/>
          </a:p>
          <a:p>
            <a:pPr algn="ctr">
              <a:lnSpc>
                <a:spcPct val="150000"/>
              </a:lnSpc>
            </a:pPr>
            <a:r>
              <a:rPr lang="en-US" sz="2200" dirty="0"/>
              <a:t>The interleaving, lifetime, and hardware told the truth.</a:t>
            </a:r>
            <a:endParaRPr lang="en-US" sz="2200" b="1" dirty="0"/>
          </a:p>
        </p:txBody>
      </p:sp>
      <p:sp>
        <p:nvSpPr>
          <p:cNvPr id="3" name="Slide Number Placeholder 2">
            <a:extLst>
              <a:ext uri="{FF2B5EF4-FFF2-40B4-BE49-F238E27FC236}">
                <a16:creationId xmlns:a16="http://schemas.microsoft.com/office/drawing/2014/main" id="{3E6FD478-D95A-9E34-E0FE-AE594523774B}"/>
              </a:ext>
            </a:extLst>
          </p:cNvPr>
          <p:cNvSpPr>
            <a:spLocks noGrp="1"/>
          </p:cNvSpPr>
          <p:nvPr>
            <p:ph type="sldNum" sz="quarter" idx="12"/>
          </p:nvPr>
        </p:nvSpPr>
        <p:spPr/>
        <p:txBody>
          <a:bodyPr/>
          <a:lstStyle/>
          <a:p>
            <a:fld id="{A8D619E7-4118-4CE2-9D02-1AAE6DCE22A2}" type="slidenum">
              <a:rPr lang="en-US" smtClean="0"/>
              <a:t>62</a:t>
            </a:fld>
            <a:endParaRPr lang="en-US"/>
          </a:p>
        </p:txBody>
      </p:sp>
    </p:spTree>
    <p:extLst>
      <p:ext uri="{BB962C8B-B14F-4D97-AF65-F5344CB8AC3E}">
        <p14:creationId xmlns:p14="http://schemas.microsoft.com/office/powerpoint/2010/main" val="625377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A768C-83D2-89AF-4B44-CF36FCE894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7E50E-DD2E-5C56-63E1-31229264F5D9}"/>
              </a:ext>
            </a:extLst>
          </p:cNvPr>
          <p:cNvSpPr>
            <a:spLocks noGrp="1"/>
          </p:cNvSpPr>
          <p:nvPr>
            <p:ph type="title"/>
          </p:nvPr>
        </p:nvSpPr>
        <p:spPr>
          <a:xfrm>
            <a:off x="838200" y="365125"/>
            <a:ext cx="10998200" cy="1325563"/>
          </a:xfrm>
        </p:spPr>
        <p:txBody>
          <a:bodyPr/>
          <a:lstStyle/>
          <a:p>
            <a:r>
              <a:rPr lang="en-US" b="1" dirty="0">
                <a:latin typeface="Fraunces-72pt-SemiBold-NonWonky"/>
              </a:rPr>
              <a:t>Before you spawn the thread</a:t>
            </a:r>
          </a:p>
        </p:txBody>
      </p:sp>
      <p:sp>
        <p:nvSpPr>
          <p:cNvPr id="4" name="TextBox 3">
            <a:extLst>
              <a:ext uri="{FF2B5EF4-FFF2-40B4-BE49-F238E27FC236}">
                <a16:creationId xmlns:a16="http://schemas.microsoft.com/office/drawing/2014/main" id="{B07DC45D-8CEA-844E-8272-96CDA7B5A292}"/>
              </a:ext>
            </a:extLst>
          </p:cNvPr>
          <p:cNvSpPr txBox="1"/>
          <p:nvPr/>
        </p:nvSpPr>
        <p:spPr>
          <a:xfrm>
            <a:off x="838199" y="2922897"/>
            <a:ext cx="10913533" cy="410618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200" dirty="0"/>
              <a:t>What does this thread own?</a:t>
            </a:r>
          </a:p>
          <a:p>
            <a:pPr marL="285750" indent="-285750">
              <a:lnSpc>
                <a:spcPct val="150000"/>
              </a:lnSpc>
              <a:buFont typeface="Arial" panose="020B0604020202020204" pitchFamily="34" charset="0"/>
              <a:buChar char="•"/>
            </a:pPr>
            <a:r>
              <a:rPr lang="en-US" sz="2200" dirty="0"/>
              <a:t>What state is shared?</a:t>
            </a:r>
          </a:p>
          <a:p>
            <a:pPr marL="285750" indent="-285750">
              <a:lnSpc>
                <a:spcPct val="150000"/>
              </a:lnSpc>
              <a:buFont typeface="Arial" panose="020B0604020202020204" pitchFamily="34" charset="0"/>
              <a:buChar char="•"/>
            </a:pPr>
            <a:r>
              <a:rPr lang="en-US" sz="2200" dirty="0"/>
              <a:t>What protects the whole invariant?</a:t>
            </a:r>
          </a:p>
          <a:p>
            <a:pPr marL="285750" indent="-285750">
              <a:lnSpc>
                <a:spcPct val="150000"/>
              </a:lnSpc>
              <a:buFont typeface="Arial" panose="020B0604020202020204" pitchFamily="34" charset="0"/>
              <a:buChar char="•"/>
            </a:pPr>
            <a:r>
              <a:rPr lang="en-US" sz="2200" dirty="0"/>
              <a:t>What keeps every referenced object alive?</a:t>
            </a:r>
          </a:p>
          <a:p>
            <a:pPr marL="285750" indent="-285750">
              <a:lnSpc>
                <a:spcPct val="150000"/>
              </a:lnSpc>
              <a:buFont typeface="Arial" panose="020B0604020202020204" pitchFamily="34" charset="0"/>
              <a:buChar char="•"/>
            </a:pPr>
            <a:r>
              <a:rPr lang="en-US" sz="2200" dirty="0"/>
              <a:t>What guarantees progress and shutdown?</a:t>
            </a:r>
          </a:p>
          <a:p>
            <a:pPr marL="285750" indent="-285750">
              <a:lnSpc>
                <a:spcPct val="150000"/>
              </a:lnSpc>
              <a:buFont typeface="Arial" panose="020B0604020202020204" pitchFamily="34" charset="0"/>
              <a:buChar char="•"/>
            </a:pPr>
            <a:r>
              <a:rPr lang="en-US" sz="2200" dirty="0"/>
              <a:t>How will we prove the concurrency helped?</a:t>
            </a:r>
          </a:p>
          <a:p>
            <a:pPr marL="285750" indent="-285750">
              <a:lnSpc>
                <a:spcPct val="150000"/>
              </a:lnSpc>
              <a:buFont typeface="Arial" panose="020B0604020202020204" pitchFamily="34" charset="0"/>
              <a:buChar char="•"/>
            </a:pPr>
            <a:endParaRPr lang="en-US" sz="2200" dirty="0"/>
          </a:p>
          <a:p>
            <a:pPr>
              <a:lnSpc>
                <a:spcPct val="150000"/>
              </a:lnSpc>
            </a:pPr>
            <a:endParaRPr lang="en-US" sz="2200" dirty="0"/>
          </a:p>
        </p:txBody>
      </p:sp>
      <p:sp>
        <p:nvSpPr>
          <p:cNvPr id="5" name="TextBox 4">
            <a:extLst>
              <a:ext uri="{FF2B5EF4-FFF2-40B4-BE49-F238E27FC236}">
                <a16:creationId xmlns:a16="http://schemas.microsoft.com/office/drawing/2014/main" id="{8D50771F-478B-E3C3-3202-DEE05CA13FBE}"/>
              </a:ext>
            </a:extLst>
          </p:cNvPr>
          <p:cNvSpPr txBox="1"/>
          <p:nvPr/>
        </p:nvSpPr>
        <p:spPr>
          <a:xfrm>
            <a:off x="838200" y="1614196"/>
            <a:ext cx="8017933" cy="769441"/>
          </a:xfrm>
          <a:prstGeom prst="rect">
            <a:avLst/>
          </a:prstGeom>
          <a:noFill/>
        </p:spPr>
        <p:txBody>
          <a:bodyPr wrap="square" rtlCol="0">
            <a:spAutoFit/>
          </a:bodyPr>
          <a:lstStyle/>
          <a:p>
            <a:r>
              <a:rPr lang="en-US" sz="2200" i="1" dirty="0">
                <a:latin typeface="SourceSans3ExtraLight"/>
              </a:rPr>
              <a:t>Once upon a time, a developer was about to spawn a thread.  </a:t>
            </a:r>
          </a:p>
          <a:p>
            <a:r>
              <a:rPr lang="en-US" sz="2200" i="1" dirty="0">
                <a:latin typeface="SourceSans3ExtraLight"/>
              </a:rPr>
              <a:t>This time, they stopped and asked who owned what.</a:t>
            </a:r>
          </a:p>
        </p:txBody>
      </p:sp>
      <p:sp>
        <p:nvSpPr>
          <p:cNvPr id="3" name="Slide Number Placeholder 2">
            <a:extLst>
              <a:ext uri="{FF2B5EF4-FFF2-40B4-BE49-F238E27FC236}">
                <a16:creationId xmlns:a16="http://schemas.microsoft.com/office/drawing/2014/main" id="{9A7F6510-D5AB-015B-BDFD-E9BD0DB4AEC3}"/>
              </a:ext>
            </a:extLst>
          </p:cNvPr>
          <p:cNvSpPr>
            <a:spLocks noGrp="1"/>
          </p:cNvSpPr>
          <p:nvPr>
            <p:ph type="sldNum" sz="quarter" idx="12"/>
          </p:nvPr>
        </p:nvSpPr>
        <p:spPr/>
        <p:txBody>
          <a:bodyPr/>
          <a:lstStyle/>
          <a:p>
            <a:fld id="{A8D619E7-4118-4CE2-9D02-1AAE6DCE22A2}" type="slidenum">
              <a:rPr lang="en-US" smtClean="0"/>
              <a:t>63</a:t>
            </a:fld>
            <a:endParaRPr lang="en-US"/>
          </a:p>
        </p:txBody>
      </p:sp>
    </p:spTree>
    <p:extLst>
      <p:ext uri="{BB962C8B-B14F-4D97-AF65-F5344CB8AC3E}">
        <p14:creationId xmlns:p14="http://schemas.microsoft.com/office/powerpoint/2010/main" val="768202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6C63F-1526-C47D-713A-3B7542F06A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3D6459-6B70-2DCE-D369-97C5640097B3}"/>
              </a:ext>
            </a:extLst>
          </p:cNvPr>
          <p:cNvSpPr>
            <a:spLocks noGrp="1"/>
          </p:cNvSpPr>
          <p:nvPr>
            <p:ph type="ctrTitle"/>
          </p:nvPr>
        </p:nvSpPr>
        <p:spPr>
          <a:xfrm>
            <a:off x="1524000" y="788264"/>
            <a:ext cx="9144000" cy="998537"/>
          </a:xfrm>
        </p:spPr>
        <p:txBody>
          <a:bodyPr/>
          <a:lstStyle/>
          <a:p>
            <a:r>
              <a:rPr lang="en-US" b="1" dirty="0">
                <a:solidFill>
                  <a:srgbClr val="1A1A1A"/>
                </a:solidFill>
                <a:latin typeface="Fraunces-72pt-SemiBold-NonWonky"/>
                <a:ea typeface="Fraunces-72pt-SemiBold-NonWonky"/>
              </a:rPr>
              <a:t>Thank you!</a:t>
            </a:r>
            <a:endParaRPr lang="en-US" dirty="0"/>
          </a:p>
        </p:txBody>
      </p:sp>
      <p:sp>
        <p:nvSpPr>
          <p:cNvPr id="3" name="Subtitle 2">
            <a:extLst>
              <a:ext uri="{FF2B5EF4-FFF2-40B4-BE49-F238E27FC236}">
                <a16:creationId xmlns:a16="http://schemas.microsoft.com/office/drawing/2014/main" id="{2CB7E24E-88F0-26EF-84D2-511E43F9C025}"/>
              </a:ext>
            </a:extLst>
          </p:cNvPr>
          <p:cNvSpPr>
            <a:spLocks noGrp="1"/>
          </p:cNvSpPr>
          <p:nvPr>
            <p:ph type="subTitle" idx="1"/>
          </p:nvPr>
        </p:nvSpPr>
        <p:spPr>
          <a:xfrm>
            <a:off x="1524000" y="3034533"/>
            <a:ext cx="9144000" cy="2893513"/>
          </a:xfrm>
        </p:spPr>
        <p:txBody>
          <a:bodyPr>
            <a:normAutofit/>
          </a:bodyPr>
          <a:lstStyle/>
          <a:p>
            <a:endParaRPr lang="en-US" b="1" dirty="0">
              <a:solidFill>
                <a:srgbClr val="1A1A1A"/>
              </a:solidFill>
              <a:latin typeface="SourceSans3ExtraLight"/>
              <a:ea typeface="SourceSans3ExtraLight"/>
            </a:endParaRPr>
          </a:p>
          <a:p>
            <a:endParaRPr lang="en-US" b="1" dirty="0">
              <a:solidFill>
                <a:srgbClr val="1A1A1A"/>
              </a:solidFill>
              <a:latin typeface="SourceSans3ExtraLight"/>
              <a:ea typeface="SourceSans3ExtraLight"/>
            </a:endParaRPr>
          </a:p>
          <a:p>
            <a:endParaRPr lang="en-US" b="1" dirty="0">
              <a:solidFill>
                <a:srgbClr val="1A1A1A"/>
              </a:solidFill>
              <a:latin typeface="SourceSans3ExtraLight"/>
            </a:endParaRPr>
          </a:p>
          <a:p>
            <a:endParaRPr lang="en-US" b="1" dirty="0">
              <a:solidFill>
                <a:srgbClr val="1A1A1A"/>
              </a:solidFill>
              <a:latin typeface="SourceSans3ExtraLight"/>
            </a:endParaRPr>
          </a:p>
          <a:p>
            <a:endParaRPr lang="en-US" b="1" dirty="0">
              <a:solidFill>
                <a:srgbClr val="1A1A1A"/>
              </a:solidFill>
              <a:latin typeface="SourceSans3ExtraLight"/>
            </a:endParaRPr>
          </a:p>
          <a:p>
            <a:r>
              <a:rPr lang="en-US" b="1" dirty="0">
                <a:solidFill>
                  <a:srgbClr val="1A1A1A"/>
                </a:solidFill>
                <a:latin typeface="SourceSans3ExtraLight"/>
              </a:rPr>
              <a:t>https://github.com/EmptySquareBubble/once_upon_a_thread</a:t>
            </a:r>
            <a:endParaRPr lang="en-US" dirty="0"/>
          </a:p>
        </p:txBody>
      </p:sp>
      <p:pic>
        <p:nvPicPr>
          <p:cNvPr id="5" name="Picture 4">
            <a:extLst>
              <a:ext uri="{FF2B5EF4-FFF2-40B4-BE49-F238E27FC236}">
                <a16:creationId xmlns:a16="http://schemas.microsoft.com/office/drawing/2014/main" id="{1D1BE928-4D06-956D-7804-6AEEB4C3EC00}"/>
              </a:ext>
            </a:extLst>
          </p:cNvPr>
          <p:cNvPicPr>
            <a:picLocks noChangeAspect="1"/>
          </p:cNvPicPr>
          <p:nvPr/>
        </p:nvPicPr>
        <p:blipFill>
          <a:blip r:embed="rId3"/>
          <a:stretch>
            <a:fillRect/>
          </a:stretch>
        </p:blipFill>
        <p:spPr>
          <a:xfrm>
            <a:off x="4924367" y="2202873"/>
            <a:ext cx="2343265" cy="2452253"/>
          </a:xfrm>
          <a:prstGeom prst="rect">
            <a:avLst/>
          </a:prstGeom>
        </p:spPr>
      </p:pic>
      <p:sp>
        <p:nvSpPr>
          <p:cNvPr id="6" name="Slide Number Placeholder 5">
            <a:extLst>
              <a:ext uri="{FF2B5EF4-FFF2-40B4-BE49-F238E27FC236}">
                <a16:creationId xmlns:a16="http://schemas.microsoft.com/office/drawing/2014/main" id="{B78053FC-9A93-A3F6-708D-80390E352669}"/>
              </a:ext>
            </a:extLst>
          </p:cNvPr>
          <p:cNvSpPr>
            <a:spLocks noGrp="1"/>
          </p:cNvSpPr>
          <p:nvPr>
            <p:ph type="sldNum" sz="quarter" idx="12"/>
          </p:nvPr>
        </p:nvSpPr>
        <p:spPr/>
        <p:txBody>
          <a:bodyPr/>
          <a:lstStyle/>
          <a:p>
            <a:fld id="{A8D619E7-4118-4CE2-9D02-1AAE6DCE22A2}" type="slidenum">
              <a:rPr lang="en-US" smtClean="0"/>
              <a:t>64</a:t>
            </a:fld>
            <a:endParaRPr lang="en-US"/>
          </a:p>
        </p:txBody>
      </p:sp>
    </p:spTree>
    <p:extLst>
      <p:ext uri="{BB962C8B-B14F-4D97-AF65-F5344CB8AC3E}">
        <p14:creationId xmlns:p14="http://schemas.microsoft.com/office/powerpoint/2010/main" val="2684556389"/>
      </p:ext>
    </p:extLst>
  </p:cSld>
  <p:clrMapOvr>
    <a:masterClrMapping/>
  </p:clrMapOvr>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26444</TotalTime>
  <Words>9266</Words>
  <Application>Microsoft Office PowerPoint</Application>
  <PresentationFormat>Widescreen</PresentationFormat>
  <Paragraphs>1253</Paragraphs>
  <Slides>64</Slides>
  <Notes>64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Aptos</vt:lpstr>
      <vt:lpstr>Aptos Display</vt:lpstr>
      <vt:lpstr>Arial</vt:lpstr>
      <vt:lpstr>Fraunces-72pt-SemiBold-NonWonky</vt:lpstr>
      <vt:lpstr>SourceCodePro</vt:lpstr>
      <vt:lpstr>SourceSans3</vt:lpstr>
      <vt:lpstr>SourceSans3ExtraLight</vt:lpstr>
      <vt:lpstr>Times New Roman</vt:lpstr>
      <vt:lpstr>Office Theme</vt:lpstr>
      <vt:lpstr>Once Upon a Thread</vt:lpstr>
      <vt:lpstr>Once upon a time…</vt:lpstr>
      <vt:lpstr>Welcome to the monster ZOO</vt:lpstr>
      <vt:lpstr>Zookeeper rule #1</vt:lpstr>
      <vt:lpstr>How to read a monster card</vt:lpstr>
      <vt:lpstr>Zone 1: The Petting ZOO </vt:lpstr>
      <vt:lpstr>The Greedy Goat</vt:lpstr>
      <vt:lpstr>The Greedy Goat</vt:lpstr>
      <vt:lpstr>The Greedy Goat</vt:lpstr>
      <vt:lpstr>The Greedy Goat</vt:lpstr>
      <vt:lpstr>The Greedy Goat</vt:lpstr>
      <vt:lpstr>PowerPoint Presentation</vt:lpstr>
      <vt:lpstr>Zone 2: The House of Illusions</vt:lpstr>
      <vt:lpstr>The Rabbit Hat</vt:lpstr>
      <vt:lpstr>The Rabbit Hat</vt:lpstr>
      <vt:lpstr>The Rabbit Hat</vt:lpstr>
      <vt:lpstr>The Rabbit Hat</vt:lpstr>
      <vt:lpstr>The Rabbit Hat</vt:lpstr>
      <vt:lpstr>PowerPoint Presentation</vt:lpstr>
      <vt:lpstr>The Phantom Bellringer</vt:lpstr>
      <vt:lpstr>The Phantom Bellringer</vt:lpstr>
      <vt:lpstr>The Phantom Bellringer</vt:lpstr>
      <vt:lpstr>The Phantom Bellringer</vt:lpstr>
      <vt:lpstr>PowerPoint Presentation</vt:lpstr>
      <vt:lpstr>Zookeeper rule #2</vt:lpstr>
      <vt:lpstr>Zone 3: The Ruins</vt:lpstr>
      <vt:lpstr>The Runaway Ferret</vt:lpstr>
      <vt:lpstr>The Runaway Ferret</vt:lpstr>
      <vt:lpstr>The Runaway Ferret</vt:lpstr>
      <vt:lpstr>PowerPoint Presentation</vt:lpstr>
      <vt:lpstr>The Entitled Wolf</vt:lpstr>
      <vt:lpstr>The Entitled Wolf</vt:lpstr>
      <vt:lpstr>The Entitled Wolf</vt:lpstr>
      <vt:lpstr>PowerPoint Presentation</vt:lpstr>
      <vt:lpstr>Zookeeper rule #3</vt:lpstr>
      <vt:lpstr>Zone 4: The Crossing</vt:lpstr>
      <vt:lpstr>The Gallant Reindeer</vt:lpstr>
      <vt:lpstr>The Gallant Reindeer</vt:lpstr>
      <vt:lpstr>The Gallant Reindeer</vt:lpstr>
      <vt:lpstr>The Gallant Reindeer</vt:lpstr>
      <vt:lpstr>PowerPoint Presentation</vt:lpstr>
      <vt:lpstr>Zone 5: Performance Aviary</vt:lpstr>
      <vt:lpstr>The Turnstile Tern</vt:lpstr>
      <vt:lpstr>The Turnstile Tern</vt:lpstr>
      <vt:lpstr>PowerPoint Presentation</vt:lpstr>
      <vt:lpstr>The Next-Door Sparrows</vt:lpstr>
      <vt:lpstr>The Next-Door Sparrows</vt:lpstr>
      <vt:lpstr>The Next-Door Sparrows</vt:lpstr>
      <vt:lpstr>The Next-Door Sparrows</vt:lpstr>
      <vt:lpstr>PowerPoint Presentation</vt:lpstr>
      <vt:lpstr>Zookeeper rule #4</vt:lpstr>
      <vt:lpstr>Zone 6: Dragon’s Cave</vt:lpstr>
      <vt:lpstr>The Final Boss: The ABA Dragon</vt:lpstr>
      <vt:lpstr>The ABA Dragon</vt:lpstr>
      <vt:lpstr>The ABA Dragon</vt:lpstr>
      <vt:lpstr>The ABA Dragon</vt:lpstr>
      <vt:lpstr>The ABA Dragon</vt:lpstr>
      <vt:lpstr>The ABA Dragon</vt:lpstr>
      <vt:lpstr>The ABA Dragon</vt:lpstr>
      <vt:lpstr>PowerPoint Presentation</vt:lpstr>
      <vt:lpstr>Zookeeper rule #5</vt:lpstr>
      <vt:lpstr>What happened?</vt:lpstr>
      <vt:lpstr>Before you spawn the thread</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Jana Machutová</dc:creator>
  <cp:lastModifiedBy>Jana Machutová</cp:lastModifiedBy>
  <cp:revision>105</cp:revision>
  <cp:lastPrinted>2026-09-23T22:14:40Z</cp:lastPrinted>
  <dcterms:created xsi:type="dcterms:W3CDTF">2026-07-24T07:52:37Z</dcterms:created>
  <dcterms:modified xsi:type="dcterms:W3CDTF">2026-09-23T22:41:11Z</dcterms:modified>
</cp:coreProperties>
</file>